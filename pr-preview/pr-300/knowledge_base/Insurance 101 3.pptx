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634dbaac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634dbaac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634dbaac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634dbaac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634dbaac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634dbaac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634dbaac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634dbaac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634dbaac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634dbaac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634dbaac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634dbaac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634dbaac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634dbaac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634dbaac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634dbaac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F5D0D0"/>
            </a:gs>
            <a:gs pos="100000">
              <a:srgbClr val="D9686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Insurance 101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Mike Bacarella</a:t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Central Health Advisors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1"/>
                </a:solidFill>
              </a:rPr>
              <a:t>What is Health Insurance?</a:t>
            </a:r>
            <a:endParaRPr u="sng">
              <a:solidFill>
                <a:schemeClr val="lt1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Risk protection - Risk Transference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Shared costs - Splitting cost with carriers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Access to care - Allows access to Doctors, Hospitals, Medications etc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1"/>
                </a:solidFill>
              </a:rPr>
              <a:t>Key Terms</a:t>
            </a:r>
            <a:endParaRPr u="sng">
              <a:solidFill>
                <a:schemeClr val="lt1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b="1" lang="en" sz="2100">
                <a:solidFill>
                  <a:schemeClr val="lt1"/>
                </a:solidFill>
              </a:rPr>
              <a:t>Premiums</a:t>
            </a:r>
            <a:r>
              <a:rPr lang="en" sz="2100">
                <a:solidFill>
                  <a:schemeClr val="lt1"/>
                </a:solidFill>
              </a:rPr>
              <a:t> = monthly payment</a:t>
            </a:r>
            <a:br>
              <a:rPr lang="en" sz="2100">
                <a:solidFill>
                  <a:schemeClr val="lt1"/>
                </a:solidFill>
              </a:rPr>
            </a:b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b="1" lang="en" sz="2100">
                <a:solidFill>
                  <a:schemeClr val="lt1"/>
                </a:solidFill>
              </a:rPr>
              <a:t>Network</a:t>
            </a:r>
            <a:r>
              <a:rPr lang="en" sz="2100">
                <a:solidFill>
                  <a:schemeClr val="lt1"/>
                </a:solidFill>
              </a:rPr>
              <a:t> = list of providers</a:t>
            </a:r>
            <a:br>
              <a:rPr lang="en" sz="2100">
                <a:solidFill>
                  <a:schemeClr val="lt1"/>
                </a:solidFill>
              </a:rPr>
            </a:b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b="1" lang="en" sz="2100">
                <a:solidFill>
                  <a:schemeClr val="lt1"/>
                </a:solidFill>
              </a:rPr>
              <a:t>Benefits</a:t>
            </a:r>
            <a:r>
              <a:rPr lang="en" sz="2100">
                <a:solidFill>
                  <a:schemeClr val="lt1"/>
                </a:solidFill>
              </a:rPr>
              <a:t> = what’s covered</a:t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2"/>
                </a:solidFill>
              </a:rPr>
              <a:t>ACA / Obamacare Plans</a:t>
            </a:r>
            <a:endParaRPr u="sng">
              <a:solidFill>
                <a:schemeClr val="lt2"/>
              </a:solidFill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Marketplace coverage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Bronze, Silver, Gold, Platinum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No denial for pre-existing conditions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Open Enrollment &amp; SEPs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2"/>
                </a:solidFill>
              </a:rPr>
              <a:t>Core Cost Concepts</a:t>
            </a:r>
            <a:endParaRPr u="sng">
              <a:solidFill>
                <a:schemeClr val="lt2"/>
              </a:solidFill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">
                <a:solidFill>
                  <a:schemeClr val="lt1"/>
                </a:solidFill>
              </a:rPr>
              <a:t>Deductible</a:t>
            </a:r>
            <a:r>
              <a:rPr lang="en">
                <a:solidFill>
                  <a:schemeClr val="lt1"/>
                </a:solidFill>
              </a:rPr>
              <a:t>: pay first $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">
                <a:solidFill>
                  <a:schemeClr val="lt1"/>
                </a:solidFill>
              </a:rPr>
              <a:t>Copay</a:t>
            </a:r>
            <a:r>
              <a:rPr lang="en">
                <a:solidFill>
                  <a:schemeClr val="lt1"/>
                </a:solidFill>
              </a:rPr>
              <a:t>: fixed fee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">
                <a:solidFill>
                  <a:schemeClr val="lt1"/>
                </a:solidFill>
              </a:rPr>
              <a:t>Coinsurance</a:t>
            </a:r>
            <a:r>
              <a:rPr lang="en">
                <a:solidFill>
                  <a:schemeClr val="lt1"/>
                </a:solidFill>
              </a:rPr>
              <a:t>: % split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">
                <a:solidFill>
                  <a:schemeClr val="lt1"/>
                </a:solidFill>
              </a:rPr>
              <a:t>Max Out-of-Pocket</a:t>
            </a:r>
            <a:r>
              <a:rPr lang="en">
                <a:solidFill>
                  <a:schemeClr val="lt1"/>
                </a:solidFill>
              </a:rPr>
              <a:t>: yearly cap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2"/>
                </a:solidFill>
              </a:rPr>
              <a:t>Subsidies</a:t>
            </a:r>
            <a:endParaRPr u="sng">
              <a:solidFill>
                <a:schemeClr val="lt2"/>
              </a:solidFill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Based on income &amp; family size</a:t>
            </a:r>
            <a:br>
              <a:rPr lang="en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" sz="1700">
                <a:solidFill>
                  <a:schemeClr val="lt1"/>
                </a:solidFill>
              </a:rPr>
              <a:t>APTC</a:t>
            </a:r>
            <a:r>
              <a:rPr lang="en" sz="1700">
                <a:solidFill>
                  <a:schemeClr val="lt1"/>
                </a:solidFill>
              </a:rPr>
              <a:t> = lowers premium (Advanced Premium Tax Credit)</a:t>
            </a:r>
            <a:br>
              <a:rPr lang="en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b="1" lang="en" sz="1700">
                <a:solidFill>
                  <a:schemeClr val="lt1"/>
                </a:solidFill>
              </a:rPr>
              <a:t>CSR</a:t>
            </a:r>
            <a:r>
              <a:rPr lang="en" sz="1700">
                <a:solidFill>
                  <a:schemeClr val="lt1"/>
                </a:solidFill>
              </a:rPr>
              <a:t> = lowers copays/deductibles (Cost Sharing Reduction)</a:t>
            </a:r>
            <a:br>
              <a:rPr lang="en" sz="1700">
                <a:solidFill>
                  <a:schemeClr val="lt1"/>
                </a:solidFill>
              </a:rPr>
            </a:b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Many qualify for $0 premiums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2"/>
                </a:solidFill>
              </a:rPr>
              <a:t>Medicaid</a:t>
            </a:r>
            <a:endParaRPr u="sng">
              <a:solidFill>
                <a:schemeClr val="lt2"/>
              </a:solidFill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State-run, income-based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Free or very low cost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Covers adults, kids, pregnant, disabled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Different names in each state (Medi-Cal, TennCare, SoonerCare…)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1"/>
                </a:solidFill>
              </a:rPr>
              <a:t>Medicare (Quick Touch)</a:t>
            </a:r>
            <a:endParaRPr u="sng">
              <a:solidFill>
                <a:schemeClr val="lt1"/>
              </a:solidFill>
            </a:endParaRPr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Federal, 65+ &amp; disabled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Part A = Hospital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Part B = Doctor visits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Part C = Advantage (private bundle)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Part D = Prescriptions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0000"/>
            </a:gs>
            <a:gs pos="100000">
              <a:srgbClr val="540303"/>
            </a:gs>
          </a:gsLst>
          <a:lin ang="5400012" scaled="0"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lt1"/>
                </a:solidFill>
              </a:rPr>
              <a:t>Our </a:t>
            </a:r>
            <a:r>
              <a:rPr lang="en" u="sng">
                <a:solidFill>
                  <a:schemeClr val="lt1"/>
                </a:solidFill>
              </a:rPr>
              <a:t>Plans</a:t>
            </a:r>
            <a:endParaRPr u="sng">
              <a:solidFill>
                <a:schemeClr val="lt1"/>
              </a:solidFill>
            </a:endParaRPr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MEC = Minimum Essential Coverage -no deductible, has copays for doctors, preventative care, </a:t>
            </a:r>
            <a:r>
              <a:rPr lang="en">
                <a:solidFill>
                  <a:schemeClr val="lt1"/>
                </a:solidFill>
              </a:rPr>
              <a:t>indemnity</a:t>
            </a:r>
            <a:r>
              <a:rPr lang="en">
                <a:solidFill>
                  <a:schemeClr val="lt1"/>
                </a:solidFill>
              </a:rPr>
              <a:t> benefits for the hospital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STM = short-term, cheaper than Obamacare but works similar - has deductible, coinsurance, copays, max out of pocket (MooP)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Indemnity = no deductible, 2 sided plan structure. First they get the network repricing, then the plan pays indemnity cash benefits directly towards the remaining balance.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
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918E1E-C71A-BF4F-98ED-EE3D21D392AA}" v="62" dt="2026-04-10T21:32:44.690"/>
    <p1510:client id="{76895867-2973-7624-F0AD-5F613293D37F}" v="2" dt="2026-04-10T19:35:08.700"/>
    <p1510:client id="{8314B527-5DE2-4FC8-9DA0-9223C42442C5}" v="34" dt="2026-04-10T19:15:05.384"/>
    <p1510:client id="{DA3C818A-FEFE-C747-2244-21C78725165F}" v="23" dt="2026-04-10T21:27:13.2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is Ilaldi" userId="S::milaldi@siabenefits.com::f1abc5ca-5fc4-47fd-b988-885f8e7a581d" providerId="AD" clId="Web-{8314B527-5DE2-4FC8-9DA0-9223C42442C5}"/>
    <pc:docChg chg="addSld delSld">
      <pc:chgData name="Melis Ilaldi" userId="S::milaldi@siabenefits.com::f1abc5ca-5fc4-47fd-b988-885f8e7a581d" providerId="AD" clId="Web-{8314B527-5DE2-4FC8-9DA0-9223C42442C5}" dt="2026-04-10T19:15:05.384" v="33"/>
      <pc:docMkLst>
        <pc:docMk/>
      </pc:docMkLst>
      <pc:sldChg chg="del">
        <pc:chgData name="Melis Ilaldi" userId="S::milaldi@siabenefits.com::f1abc5ca-5fc4-47fd-b988-885f8e7a581d" providerId="AD" clId="Web-{8314B527-5DE2-4FC8-9DA0-9223C42442C5}" dt="2026-04-10T19:11:49.820" v="1"/>
        <pc:sldMkLst>
          <pc:docMk/>
          <pc:sldMk cId="109857222" sldId="256"/>
        </pc:sldMkLst>
      </pc:sldChg>
      <pc:sldChg chg="add">
        <pc:chgData name="Melis Ilaldi" userId="S::milaldi@siabenefits.com::f1abc5ca-5fc4-47fd-b988-885f8e7a581d" providerId="AD" clId="Web-{8314B527-5DE2-4FC8-9DA0-9223C42442C5}" dt="2026-04-10T19:11:28.772" v="0"/>
        <pc:sldMkLst>
          <pc:docMk/>
          <pc:sldMk cId="3615863937" sldId="257"/>
        </pc:sldMkLst>
      </pc:sldChg>
      <pc:sldChg chg="add">
        <pc:chgData name="Melis Ilaldi" userId="S::milaldi@siabenefits.com::f1abc5ca-5fc4-47fd-b988-885f8e7a581d" providerId="AD" clId="Web-{8314B527-5DE2-4FC8-9DA0-9223C42442C5}" dt="2026-04-10T19:11:54.477" v="2"/>
        <pc:sldMkLst>
          <pc:docMk/>
          <pc:sldMk cId="2261095558" sldId="258"/>
        </pc:sldMkLst>
      </pc:sldChg>
      <pc:sldChg chg="add">
        <pc:chgData name="Melis Ilaldi" userId="S::milaldi@siabenefits.com::f1abc5ca-5fc4-47fd-b988-885f8e7a581d" providerId="AD" clId="Web-{8314B527-5DE2-4FC8-9DA0-9223C42442C5}" dt="2026-04-10T19:11:59.025" v="3"/>
        <pc:sldMkLst>
          <pc:docMk/>
          <pc:sldMk cId="471221953" sldId="259"/>
        </pc:sldMkLst>
      </pc:sldChg>
      <pc:sldChg chg="add">
        <pc:chgData name="Melis Ilaldi" userId="S::milaldi@siabenefits.com::f1abc5ca-5fc4-47fd-b988-885f8e7a581d" providerId="AD" clId="Web-{8314B527-5DE2-4FC8-9DA0-9223C42442C5}" dt="2026-04-10T19:12:03.869" v="4"/>
        <pc:sldMkLst>
          <pc:docMk/>
          <pc:sldMk cId="3457151817" sldId="260"/>
        </pc:sldMkLst>
      </pc:sldChg>
      <pc:sldChg chg="add">
        <pc:chgData name="Melis Ilaldi" userId="S::milaldi@siabenefits.com::f1abc5ca-5fc4-47fd-b988-885f8e7a581d" providerId="AD" clId="Web-{8314B527-5DE2-4FC8-9DA0-9223C42442C5}" dt="2026-04-10T19:12:08.385" v="5"/>
        <pc:sldMkLst>
          <pc:docMk/>
          <pc:sldMk cId="1566130968" sldId="261"/>
        </pc:sldMkLst>
      </pc:sldChg>
      <pc:sldChg chg="add">
        <pc:chgData name="Melis Ilaldi" userId="S::milaldi@siabenefits.com::f1abc5ca-5fc4-47fd-b988-885f8e7a581d" providerId="AD" clId="Web-{8314B527-5DE2-4FC8-9DA0-9223C42442C5}" dt="2026-04-10T19:12:16.870" v="6"/>
        <pc:sldMkLst>
          <pc:docMk/>
          <pc:sldMk cId="2139333535" sldId="262"/>
        </pc:sldMkLst>
      </pc:sldChg>
      <pc:sldChg chg="add">
        <pc:chgData name="Melis Ilaldi" userId="S::milaldi@siabenefits.com::f1abc5ca-5fc4-47fd-b988-885f8e7a581d" providerId="AD" clId="Web-{8314B527-5DE2-4FC8-9DA0-9223C42442C5}" dt="2026-04-10T19:12:22.058" v="7"/>
        <pc:sldMkLst>
          <pc:docMk/>
          <pc:sldMk cId="3116607304" sldId="263"/>
        </pc:sldMkLst>
      </pc:sldChg>
      <pc:sldChg chg="add">
        <pc:chgData name="Melis Ilaldi" userId="S::milaldi@siabenefits.com::f1abc5ca-5fc4-47fd-b988-885f8e7a581d" providerId="AD" clId="Web-{8314B527-5DE2-4FC8-9DA0-9223C42442C5}" dt="2026-04-10T19:12:27.590" v="8"/>
        <pc:sldMkLst>
          <pc:docMk/>
          <pc:sldMk cId="2606877918" sldId="264"/>
        </pc:sldMkLst>
      </pc:sldChg>
      <pc:sldChg chg="add">
        <pc:chgData name="Melis Ilaldi" userId="S::milaldi@siabenefits.com::f1abc5ca-5fc4-47fd-b988-885f8e7a581d" providerId="AD" clId="Web-{8314B527-5DE2-4FC8-9DA0-9223C42442C5}" dt="2026-04-10T19:12:34.513" v="9"/>
        <pc:sldMkLst>
          <pc:docMk/>
          <pc:sldMk cId="1017654804" sldId="265"/>
        </pc:sldMkLst>
      </pc:sldChg>
      <pc:sldChg chg="add">
        <pc:chgData name="Melis Ilaldi" userId="S::milaldi@siabenefits.com::f1abc5ca-5fc4-47fd-b988-885f8e7a581d" providerId="AD" clId="Web-{8314B527-5DE2-4FC8-9DA0-9223C42442C5}" dt="2026-04-10T19:12:40.763" v="10"/>
        <pc:sldMkLst>
          <pc:docMk/>
          <pc:sldMk cId="1115505170" sldId="266"/>
        </pc:sldMkLst>
      </pc:sldChg>
      <pc:sldChg chg="add">
        <pc:chgData name="Melis Ilaldi" userId="S::milaldi@siabenefits.com::f1abc5ca-5fc4-47fd-b988-885f8e7a581d" providerId="AD" clId="Web-{8314B527-5DE2-4FC8-9DA0-9223C42442C5}" dt="2026-04-10T19:12:53.186" v="11"/>
        <pc:sldMkLst>
          <pc:docMk/>
          <pc:sldMk cId="1667326797" sldId="267"/>
        </pc:sldMkLst>
      </pc:sldChg>
      <pc:sldChg chg="add">
        <pc:chgData name="Melis Ilaldi" userId="S::milaldi@siabenefits.com::f1abc5ca-5fc4-47fd-b988-885f8e7a581d" providerId="AD" clId="Web-{8314B527-5DE2-4FC8-9DA0-9223C42442C5}" dt="2026-04-10T19:12:58.749" v="12"/>
        <pc:sldMkLst>
          <pc:docMk/>
          <pc:sldMk cId="3461011711" sldId="268"/>
        </pc:sldMkLst>
      </pc:sldChg>
      <pc:sldChg chg="add">
        <pc:chgData name="Melis Ilaldi" userId="S::milaldi@siabenefits.com::f1abc5ca-5fc4-47fd-b988-885f8e7a581d" providerId="AD" clId="Web-{8314B527-5DE2-4FC8-9DA0-9223C42442C5}" dt="2026-04-10T19:13:04.937" v="13"/>
        <pc:sldMkLst>
          <pc:docMk/>
          <pc:sldMk cId="1975621877" sldId="269"/>
        </pc:sldMkLst>
      </pc:sldChg>
      <pc:sldChg chg="add">
        <pc:chgData name="Melis Ilaldi" userId="S::milaldi@siabenefits.com::f1abc5ca-5fc4-47fd-b988-885f8e7a581d" providerId="AD" clId="Web-{8314B527-5DE2-4FC8-9DA0-9223C42442C5}" dt="2026-04-10T19:13:09.875" v="14"/>
        <pc:sldMkLst>
          <pc:docMk/>
          <pc:sldMk cId="526233844" sldId="270"/>
        </pc:sldMkLst>
      </pc:sldChg>
      <pc:sldChg chg="add">
        <pc:chgData name="Melis Ilaldi" userId="S::milaldi@siabenefits.com::f1abc5ca-5fc4-47fd-b988-885f8e7a581d" providerId="AD" clId="Web-{8314B527-5DE2-4FC8-9DA0-9223C42442C5}" dt="2026-04-10T19:13:30.533" v="15"/>
        <pc:sldMkLst>
          <pc:docMk/>
          <pc:sldMk cId="1728282425" sldId="271"/>
        </pc:sldMkLst>
      </pc:sldChg>
      <pc:sldChg chg="add">
        <pc:chgData name="Melis Ilaldi" userId="S::milaldi@siabenefits.com::f1abc5ca-5fc4-47fd-b988-885f8e7a581d" providerId="AD" clId="Web-{8314B527-5DE2-4FC8-9DA0-9223C42442C5}" dt="2026-04-10T19:13:37.503" v="16"/>
        <pc:sldMkLst>
          <pc:docMk/>
          <pc:sldMk cId="3809407687" sldId="272"/>
        </pc:sldMkLst>
      </pc:sldChg>
      <pc:sldChg chg="add">
        <pc:chgData name="Melis Ilaldi" userId="S::milaldi@siabenefits.com::f1abc5ca-5fc4-47fd-b988-885f8e7a581d" providerId="AD" clId="Web-{8314B527-5DE2-4FC8-9DA0-9223C42442C5}" dt="2026-04-10T19:13:41.972" v="17"/>
        <pc:sldMkLst>
          <pc:docMk/>
          <pc:sldMk cId="3711849395" sldId="273"/>
        </pc:sldMkLst>
      </pc:sldChg>
      <pc:sldChg chg="add">
        <pc:chgData name="Melis Ilaldi" userId="S::milaldi@siabenefits.com::f1abc5ca-5fc4-47fd-b988-885f8e7a581d" providerId="AD" clId="Web-{8314B527-5DE2-4FC8-9DA0-9223C42442C5}" dt="2026-04-10T19:13:47.472" v="18"/>
        <pc:sldMkLst>
          <pc:docMk/>
          <pc:sldMk cId="775814370" sldId="274"/>
        </pc:sldMkLst>
      </pc:sldChg>
      <pc:sldChg chg="add">
        <pc:chgData name="Melis Ilaldi" userId="S::milaldi@siabenefits.com::f1abc5ca-5fc4-47fd-b988-885f8e7a581d" providerId="AD" clId="Web-{8314B527-5DE2-4FC8-9DA0-9223C42442C5}" dt="2026-04-10T19:13:52.410" v="19"/>
        <pc:sldMkLst>
          <pc:docMk/>
          <pc:sldMk cId="3854456307" sldId="275"/>
        </pc:sldMkLst>
      </pc:sldChg>
      <pc:sldChg chg="add">
        <pc:chgData name="Melis Ilaldi" userId="S::milaldi@siabenefits.com::f1abc5ca-5fc4-47fd-b988-885f8e7a581d" providerId="AD" clId="Web-{8314B527-5DE2-4FC8-9DA0-9223C42442C5}" dt="2026-04-10T19:13:57.817" v="20"/>
        <pc:sldMkLst>
          <pc:docMk/>
          <pc:sldMk cId="1637263532" sldId="276"/>
        </pc:sldMkLst>
      </pc:sldChg>
      <pc:sldChg chg="add">
        <pc:chgData name="Melis Ilaldi" userId="S::milaldi@siabenefits.com::f1abc5ca-5fc4-47fd-b988-885f8e7a581d" providerId="AD" clId="Web-{8314B527-5DE2-4FC8-9DA0-9223C42442C5}" dt="2026-04-10T19:14:03.099" v="21"/>
        <pc:sldMkLst>
          <pc:docMk/>
          <pc:sldMk cId="466739232" sldId="277"/>
        </pc:sldMkLst>
      </pc:sldChg>
      <pc:sldChg chg="add">
        <pc:chgData name="Melis Ilaldi" userId="S::milaldi@siabenefits.com::f1abc5ca-5fc4-47fd-b988-885f8e7a581d" providerId="AD" clId="Web-{8314B527-5DE2-4FC8-9DA0-9223C42442C5}" dt="2026-04-10T19:14:07.786" v="22"/>
        <pc:sldMkLst>
          <pc:docMk/>
          <pc:sldMk cId="1082946762" sldId="278"/>
        </pc:sldMkLst>
      </pc:sldChg>
      <pc:sldChg chg="add">
        <pc:chgData name="Melis Ilaldi" userId="S::milaldi@siabenefits.com::f1abc5ca-5fc4-47fd-b988-885f8e7a581d" providerId="AD" clId="Web-{8314B527-5DE2-4FC8-9DA0-9223C42442C5}" dt="2026-04-10T19:14:12.802" v="23"/>
        <pc:sldMkLst>
          <pc:docMk/>
          <pc:sldMk cId="3017888706" sldId="279"/>
        </pc:sldMkLst>
      </pc:sldChg>
      <pc:sldChg chg="add">
        <pc:chgData name="Melis Ilaldi" userId="S::milaldi@siabenefits.com::f1abc5ca-5fc4-47fd-b988-885f8e7a581d" providerId="AD" clId="Web-{8314B527-5DE2-4FC8-9DA0-9223C42442C5}" dt="2026-04-10T19:14:17.709" v="24"/>
        <pc:sldMkLst>
          <pc:docMk/>
          <pc:sldMk cId="583605400" sldId="280"/>
        </pc:sldMkLst>
      </pc:sldChg>
      <pc:sldChg chg="add">
        <pc:chgData name="Melis Ilaldi" userId="S::milaldi@siabenefits.com::f1abc5ca-5fc4-47fd-b988-885f8e7a581d" providerId="AD" clId="Web-{8314B527-5DE2-4FC8-9DA0-9223C42442C5}" dt="2026-04-10T19:14:22.412" v="25"/>
        <pc:sldMkLst>
          <pc:docMk/>
          <pc:sldMk cId="69372906" sldId="281"/>
        </pc:sldMkLst>
      </pc:sldChg>
      <pc:sldChg chg="add">
        <pc:chgData name="Melis Ilaldi" userId="S::milaldi@siabenefits.com::f1abc5ca-5fc4-47fd-b988-885f8e7a581d" providerId="AD" clId="Web-{8314B527-5DE2-4FC8-9DA0-9223C42442C5}" dt="2026-04-10T19:14:28.757" v="26"/>
        <pc:sldMkLst>
          <pc:docMk/>
          <pc:sldMk cId="21606792" sldId="282"/>
        </pc:sldMkLst>
      </pc:sldChg>
      <pc:sldChg chg="add">
        <pc:chgData name="Melis Ilaldi" userId="S::milaldi@siabenefits.com::f1abc5ca-5fc4-47fd-b988-885f8e7a581d" providerId="AD" clId="Web-{8314B527-5DE2-4FC8-9DA0-9223C42442C5}" dt="2026-04-10T19:14:33.632" v="27"/>
        <pc:sldMkLst>
          <pc:docMk/>
          <pc:sldMk cId="4088030750" sldId="283"/>
        </pc:sldMkLst>
      </pc:sldChg>
      <pc:sldChg chg="add">
        <pc:chgData name="Melis Ilaldi" userId="S::milaldi@siabenefits.com::f1abc5ca-5fc4-47fd-b988-885f8e7a581d" providerId="AD" clId="Web-{8314B527-5DE2-4FC8-9DA0-9223C42442C5}" dt="2026-04-10T19:14:38.554" v="28"/>
        <pc:sldMkLst>
          <pc:docMk/>
          <pc:sldMk cId="4231010753" sldId="284"/>
        </pc:sldMkLst>
      </pc:sldChg>
      <pc:sldChg chg="add">
        <pc:chgData name="Melis Ilaldi" userId="S::milaldi@siabenefits.com::f1abc5ca-5fc4-47fd-b988-885f8e7a581d" providerId="AD" clId="Web-{8314B527-5DE2-4FC8-9DA0-9223C42442C5}" dt="2026-04-10T19:14:44.945" v="29"/>
        <pc:sldMkLst>
          <pc:docMk/>
          <pc:sldMk cId="1860639874" sldId="285"/>
        </pc:sldMkLst>
      </pc:sldChg>
      <pc:sldChg chg="add">
        <pc:chgData name="Melis Ilaldi" userId="S::milaldi@siabenefits.com::f1abc5ca-5fc4-47fd-b988-885f8e7a581d" providerId="AD" clId="Web-{8314B527-5DE2-4FC8-9DA0-9223C42442C5}" dt="2026-04-10T19:14:50.039" v="30"/>
        <pc:sldMkLst>
          <pc:docMk/>
          <pc:sldMk cId="1931934080" sldId="286"/>
        </pc:sldMkLst>
      </pc:sldChg>
      <pc:sldChg chg="add">
        <pc:chgData name="Melis Ilaldi" userId="S::milaldi@siabenefits.com::f1abc5ca-5fc4-47fd-b988-885f8e7a581d" providerId="AD" clId="Web-{8314B527-5DE2-4FC8-9DA0-9223C42442C5}" dt="2026-04-10T19:14:54.852" v="31"/>
        <pc:sldMkLst>
          <pc:docMk/>
          <pc:sldMk cId="1955654492" sldId="287"/>
        </pc:sldMkLst>
      </pc:sldChg>
      <pc:sldChg chg="add">
        <pc:chgData name="Melis Ilaldi" userId="S::milaldi@siabenefits.com::f1abc5ca-5fc4-47fd-b988-885f8e7a581d" providerId="AD" clId="Web-{8314B527-5DE2-4FC8-9DA0-9223C42442C5}" dt="2026-04-10T19:15:00.509" v="32"/>
        <pc:sldMkLst>
          <pc:docMk/>
          <pc:sldMk cId="2975118609" sldId="288"/>
        </pc:sldMkLst>
      </pc:sldChg>
      <pc:sldChg chg="add">
        <pc:chgData name="Melis Ilaldi" userId="S::milaldi@siabenefits.com::f1abc5ca-5fc4-47fd-b988-885f8e7a581d" providerId="AD" clId="Web-{8314B527-5DE2-4FC8-9DA0-9223C42442C5}" dt="2026-04-10T19:15:05.384" v="33"/>
        <pc:sldMkLst>
          <pc:docMk/>
          <pc:sldMk cId="2417817590" sldId="289"/>
        </pc:sldMkLst>
      </pc:sldChg>
    </pc:docChg>
  </pc:docChgLst>
  <pc:docChgLst>
    <pc:chgData name="Melis Ilaldi" userId="S::milaldi@siabenefits.com::f1abc5ca-5fc4-47fd-b988-885f8e7a581d" providerId="AD" clId="Web-{DA3C818A-FEFE-C747-2244-21C78725165F}"/>
    <pc:docChg chg="modSld">
      <pc:chgData name="Melis Ilaldi" userId="S::milaldi@siabenefits.com::f1abc5ca-5fc4-47fd-b988-885f8e7a581d" providerId="AD" clId="Web-{DA3C818A-FEFE-C747-2244-21C78725165F}" dt="2026-04-10T21:27:13.243" v="22"/>
      <pc:docMkLst>
        <pc:docMk/>
      </pc:docMkLst>
      <pc:sldChg chg="addSp delSp modSp">
        <pc:chgData name="Melis Ilaldi" userId="S::milaldi@siabenefits.com::f1abc5ca-5fc4-47fd-b988-885f8e7a581d" providerId="AD" clId="Web-{DA3C818A-FEFE-C747-2244-21C78725165F}" dt="2026-04-10T21:24:47.175" v="5" actId="20577"/>
        <pc:sldMkLst>
          <pc:docMk/>
          <pc:sldMk cId="1566130968" sldId="261"/>
        </pc:sldMkLst>
        <pc:spChg chg="add del">
          <ac:chgData name="Melis Ilaldi" userId="S::milaldi@siabenefits.com::f1abc5ca-5fc4-47fd-b988-885f8e7a581d" providerId="AD" clId="Web-{DA3C818A-FEFE-C747-2244-21C78725165F}" dt="2026-04-10T21:24:13.907" v="3"/>
          <ac:spMkLst>
            <pc:docMk/>
            <pc:sldMk cId="1566130968" sldId="261"/>
            <ac:spMk id="2" creationId="{717297F6-30C3-D0C0-16B4-F9CD4A8C1D4B}"/>
          </ac:spMkLst>
        </pc:spChg>
        <pc:spChg chg="mod">
          <ac:chgData name="Melis Ilaldi" userId="S::milaldi@siabenefits.com::f1abc5ca-5fc4-47fd-b988-885f8e7a581d" providerId="AD" clId="Web-{DA3C818A-FEFE-C747-2244-21C78725165F}" dt="2026-04-10T21:24:47.175" v="5" actId="20577"/>
          <ac:spMkLst>
            <pc:docMk/>
            <pc:sldMk cId="1566130968" sldId="261"/>
            <ac:spMk id="178" creationId="{00000000-0000-0000-0000-000000000000}"/>
          </ac:spMkLst>
        </pc:spChg>
        <pc:picChg chg="del">
          <ac:chgData name="Melis Ilaldi" userId="S::milaldi@siabenefits.com::f1abc5ca-5fc4-47fd-b988-885f8e7a581d" providerId="AD" clId="Web-{DA3C818A-FEFE-C747-2244-21C78725165F}" dt="2026-04-10T21:24:08.344" v="1"/>
          <ac:picMkLst>
            <pc:docMk/>
            <pc:sldMk cId="1566130968" sldId="261"/>
            <ac:picMk id="179" creationId="{00000000-0000-0000-0000-000000000000}"/>
          </ac:picMkLst>
        </pc:picChg>
        <pc:picChg chg="del">
          <ac:chgData name="Melis Ilaldi" userId="S::milaldi@siabenefits.com::f1abc5ca-5fc4-47fd-b988-885f8e7a581d" providerId="AD" clId="Web-{DA3C818A-FEFE-C747-2244-21C78725165F}" dt="2026-04-10T21:24:07.703" v="0"/>
          <ac:picMkLst>
            <pc:docMk/>
            <pc:sldMk cId="1566130968" sldId="261"/>
            <ac:picMk id="180" creationId="{00000000-0000-0000-0000-000000000000}"/>
          </ac:picMkLst>
        </pc:picChg>
      </pc:sldChg>
      <pc:sldChg chg="addSp delSp modSp">
        <pc:chgData name="Melis Ilaldi" userId="S::milaldi@siabenefits.com::f1abc5ca-5fc4-47fd-b988-885f8e7a581d" providerId="AD" clId="Web-{DA3C818A-FEFE-C747-2244-21C78725165F}" dt="2026-04-10T21:25:00.378" v="9" actId="20577"/>
        <pc:sldMkLst>
          <pc:docMk/>
          <pc:sldMk cId="2139333535" sldId="262"/>
        </pc:sldMkLst>
        <pc:spChg chg="add mod">
          <ac:chgData name="Melis Ilaldi" userId="S::milaldi@siabenefits.com::f1abc5ca-5fc4-47fd-b988-885f8e7a581d" providerId="AD" clId="Web-{DA3C818A-FEFE-C747-2244-21C78725165F}" dt="2026-04-10T21:25:00.378" v="9" actId="20577"/>
          <ac:spMkLst>
            <pc:docMk/>
            <pc:sldMk cId="2139333535" sldId="262"/>
            <ac:spMk id="2" creationId="{AC1E9F9A-EDFC-764E-E03E-768B2299CB3C}"/>
          </ac:spMkLst>
        </pc:spChg>
        <pc:picChg chg="del">
          <ac:chgData name="Melis Ilaldi" userId="S::milaldi@siabenefits.com::f1abc5ca-5fc4-47fd-b988-885f8e7a581d" providerId="AD" clId="Web-{DA3C818A-FEFE-C747-2244-21C78725165F}" dt="2026-04-10T21:24:49.425" v="6"/>
          <ac:picMkLst>
            <pc:docMk/>
            <pc:sldMk cId="2139333535" sldId="262"/>
            <ac:picMk id="187" creationId="{00000000-0000-0000-0000-000000000000}"/>
          </ac:picMkLst>
        </pc:picChg>
      </pc:sldChg>
      <pc:sldChg chg="addSp delSp modSp">
        <pc:chgData name="Melis Ilaldi" userId="S::milaldi@siabenefits.com::f1abc5ca-5fc4-47fd-b988-885f8e7a581d" providerId="AD" clId="Web-{DA3C818A-FEFE-C747-2244-21C78725165F}" dt="2026-04-10T21:26:40.195" v="17" actId="14100"/>
        <pc:sldMkLst>
          <pc:docMk/>
          <pc:sldMk cId="526233844" sldId="270"/>
        </pc:sldMkLst>
        <pc:spChg chg="add mod">
          <ac:chgData name="Melis Ilaldi" userId="S::milaldi@siabenefits.com::f1abc5ca-5fc4-47fd-b988-885f8e7a581d" providerId="AD" clId="Web-{DA3C818A-FEFE-C747-2244-21C78725165F}" dt="2026-04-10T21:26:40.195" v="17" actId="14100"/>
          <ac:spMkLst>
            <pc:docMk/>
            <pc:sldMk cId="526233844" sldId="270"/>
            <ac:spMk id="2" creationId="{A72C99F0-763C-349B-B2A2-D9C4B092A38D}"/>
          </ac:spMkLst>
        </pc:spChg>
        <pc:picChg chg="del">
          <ac:chgData name="Melis Ilaldi" userId="S::milaldi@siabenefits.com::f1abc5ca-5fc4-47fd-b988-885f8e7a581d" providerId="AD" clId="Web-{DA3C818A-FEFE-C747-2244-21C78725165F}" dt="2026-04-10T21:26:17.944" v="10"/>
          <ac:picMkLst>
            <pc:docMk/>
            <pc:sldMk cId="526233844" sldId="270"/>
            <ac:picMk id="344" creationId="{00000000-0000-0000-0000-000000000000}"/>
          </ac:picMkLst>
        </pc:picChg>
      </pc:sldChg>
      <pc:sldChg chg="addSp delSp">
        <pc:chgData name="Melis Ilaldi" userId="S::milaldi@siabenefits.com::f1abc5ca-5fc4-47fd-b988-885f8e7a581d" providerId="AD" clId="Web-{DA3C818A-FEFE-C747-2244-21C78725165F}" dt="2026-04-10T21:27:13.243" v="22"/>
        <pc:sldMkLst>
          <pc:docMk/>
          <pc:sldMk cId="3809407687" sldId="272"/>
        </pc:sldMkLst>
        <pc:picChg chg="add del">
          <ac:chgData name="Melis Ilaldi" userId="S::milaldi@siabenefits.com::f1abc5ca-5fc4-47fd-b988-885f8e7a581d" providerId="AD" clId="Web-{DA3C818A-FEFE-C747-2244-21C78725165F}" dt="2026-04-10T21:27:13.243" v="22"/>
          <ac:picMkLst>
            <pc:docMk/>
            <pc:sldMk cId="3809407687" sldId="272"/>
            <ac:picMk id="361" creationId="{00000000-0000-0000-0000-000000000000}"/>
          </ac:picMkLst>
        </pc:picChg>
        <pc:picChg chg="add del">
          <ac:chgData name="Melis Ilaldi" userId="S::milaldi@siabenefits.com::f1abc5ca-5fc4-47fd-b988-885f8e7a581d" providerId="AD" clId="Web-{DA3C818A-FEFE-C747-2244-21C78725165F}" dt="2026-04-10T21:27:06.852" v="20"/>
          <ac:picMkLst>
            <pc:docMk/>
            <pc:sldMk cId="3809407687" sldId="272"/>
            <ac:picMk id="362" creationId="{00000000-0000-0000-0000-000000000000}"/>
          </ac:picMkLst>
        </pc:picChg>
      </pc:sldChg>
    </pc:docChg>
  </pc:docChgLst>
  <pc:docChgLst>
    <pc:chgData name="Melis Ilaldi" userId="S::milaldi@siabenefits.com::f1abc5ca-5fc4-47fd-b988-885f8e7a581d" providerId="AD" clId="Web-{63918E1E-C71A-BF4F-98ED-EE3D21D392AA}"/>
    <pc:docChg chg="modSld">
      <pc:chgData name="Melis Ilaldi" userId="S::milaldi@siabenefits.com::f1abc5ca-5fc4-47fd-b988-885f8e7a581d" providerId="AD" clId="Web-{63918E1E-C71A-BF4F-98ED-EE3D21D392AA}" dt="2026-04-10T21:32:44.690" v="58" actId="20577"/>
      <pc:docMkLst>
        <pc:docMk/>
      </pc:docMkLst>
      <pc:sldChg chg="addSp delSp modSp">
        <pc:chgData name="Melis Ilaldi" userId="S::milaldi@siabenefits.com::f1abc5ca-5fc4-47fd-b988-885f8e7a581d" providerId="AD" clId="Web-{63918E1E-C71A-BF4F-98ED-EE3D21D392AA}" dt="2026-04-10T21:28:11.090" v="4" actId="20577"/>
        <pc:sldMkLst>
          <pc:docMk/>
          <pc:sldMk cId="3809407687" sldId="272"/>
        </pc:sldMkLst>
        <pc:spChg chg="add mod">
          <ac:chgData name="Melis Ilaldi" userId="S::milaldi@siabenefits.com::f1abc5ca-5fc4-47fd-b988-885f8e7a581d" providerId="AD" clId="Web-{63918E1E-C71A-BF4F-98ED-EE3D21D392AA}" dt="2026-04-10T21:28:11.090" v="4" actId="20577"/>
          <ac:spMkLst>
            <pc:docMk/>
            <pc:sldMk cId="3809407687" sldId="272"/>
            <ac:spMk id="2" creationId="{55B544B6-D371-44AD-210C-D1973AAF7A4E}"/>
          </ac:spMkLst>
        </pc:spChg>
        <pc:picChg chg="del">
          <ac:chgData name="Melis Ilaldi" userId="S::milaldi@siabenefits.com::f1abc5ca-5fc4-47fd-b988-885f8e7a581d" providerId="AD" clId="Web-{63918E1E-C71A-BF4F-98ED-EE3D21D392AA}" dt="2026-04-10T21:27:46.167" v="0"/>
          <ac:picMkLst>
            <pc:docMk/>
            <pc:sldMk cId="3809407687" sldId="272"/>
            <ac:picMk id="362" creationId="{00000000-0000-0000-0000-000000000000}"/>
          </ac:picMkLst>
        </pc:picChg>
      </pc:sldChg>
      <pc:sldChg chg="addSp delSp modSp">
        <pc:chgData name="Melis Ilaldi" userId="S::milaldi@siabenefits.com::f1abc5ca-5fc4-47fd-b988-885f8e7a581d" providerId="AD" clId="Web-{63918E1E-C71A-BF4F-98ED-EE3D21D392AA}" dt="2026-04-10T21:29:57.655" v="18" actId="20577"/>
        <pc:sldMkLst>
          <pc:docMk/>
          <pc:sldMk cId="3711849395" sldId="273"/>
        </pc:sldMkLst>
        <pc:spChg chg="add del mod">
          <ac:chgData name="Melis Ilaldi" userId="S::milaldi@siabenefits.com::f1abc5ca-5fc4-47fd-b988-885f8e7a581d" providerId="AD" clId="Web-{63918E1E-C71A-BF4F-98ED-EE3D21D392AA}" dt="2026-04-10T21:29:12.763" v="8"/>
          <ac:spMkLst>
            <pc:docMk/>
            <pc:sldMk cId="3711849395" sldId="273"/>
            <ac:spMk id="2" creationId="{A8F40C2F-286E-EBBC-ED53-45D3B43CC3E2}"/>
          </ac:spMkLst>
        </pc:spChg>
        <pc:spChg chg="add del mod">
          <ac:chgData name="Melis Ilaldi" userId="S::milaldi@siabenefits.com::f1abc5ca-5fc4-47fd-b988-885f8e7a581d" providerId="AD" clId="Web-{63918E1E-C71A-BF4F-98ED-EE3D21D392AA}" dt="2026-04-10T21:29:27.576" v="15"/>
          <ac:spMkLst>
            <pc:docMk/>
            <pc:sldMk cId="3711849395" sldId="273"/>
            <ac:spMk id="3" creationId="{BF1DC00D-8E48-88D6-4701-C5D7C8C38864}"/>
          </ac:spMkLst>
        </pc:spChg>
        <pc:spChg chg="add mod">
          <ac:chgData name="Melis Ilaldi" userId="S::milaldi@siabenefits.com::f1abc5ca-5fc4-47fd-b988-885f8e7a581d" providerId="AD" clId="Web-{63918E1E-C71A-BF4F-98ED-EE3D21D392AA}" dt="2026-04-10T21:29:57.655" v="18" actId="20577"/>
          <ac:spMkLst>
            <pc:docMk/>
            <pc:sldMk cId="3711849395" sldId="273"/>
            <ac:spMk id="4" creationId="{1992C032-0D90-4434-D836-38257DD63ED9}"/>
          </ac:spMkLst>
        </pc:spChg>
        <pc:picChg chg="del">
          <ac:chgData name="Melis Ilaldi" userId="S::milaldi@siabenefits.com::f1abc5ca-5fc4-47fd-b988-885f8e7a581d" providerId="AD" clId="Web-{63918E1E-C71A-BF4F-98ED-EE3D21D392AA}" dt="2026-04-10T21:29:05.982" v="5"/>
          <ac:picMkLst>
            <pc:docMk/>
            <pc:sldMk cId="3711849395" sldId="273"/>
            <ac:picMk id="369" creationId="{00000000-0000-0000-0000-000000000000}"/>
          </ac:picMkLst>
        </pc:picChg>
      </pc:sldChg>
      <pc:sldChg chg="addSp delSp modSp">
        <pc:chgData name="Melis Ilaldi" userId="S::milaldi@siabenefits.com::f1abc5ca-5fc4-47fd-b988-885f8e7a581d" providerId="AD" clId="Web-{63918E1E-C71A-BF4F-98ED-EE3D21D392AA}" dt="2026-04-10T21:30:14.593" v="23" actId="14100"/>
        <pc:sldMkLst>
          <pc:docMk/>
          <pc:sldMk cId="775814370" sldId="274"/>
        </pc:sldMkLst>
        <pc:spChg chg="add mod">
          <ac:chgData name="Melis Ilaldi" userId="S::milaldi@siabenefits.com::f1abc5ca-5fc4-47fd-b988-885f8e7a581d" providerId="AD" clId="Web-{63918E1E-C71A-BF4F-98ED-EE3D21D392AA}" dt="2026-04-10T21:30:14.593" v="23" actId="14100"/>
          <ac:spMkLst>
            <pc:docMk/>
            <pc:sldMk cId="775814370" sldId="274"/>
            <ac:spMk id="2" creationId="{2F9CD520-DDE9-0E71-E9E7-818DFE091D14}"/>
          </ac:spMkLst>
        </pc:spChg>
        <pc:picChg chg="del">
          <ac:chgData name="Melis Ilaldi" userId="S::milaldi@siabenefits.com::f1abc5ca-5fc4-47fd-b988-885f8e7a581d" providerId="AD" clId="Web-{63918E1E-C71A-BF4F-98ED-EE3D21D392AA}" dt="2026-04-10T21:30:03.390" v="19"/>
          <ac:picMkLst>
            <pc:docMk/>
            <pc:sldMk cId="775814370" sldId="274"/>
            <ac:picMk id="376" creationId="{00000000-0000-0000-0000-000000000000}"/>
          </ac:picMkLst>
        </pc:picChg>
      </pc:sldChg>
      <pc:sldChg chg="addSp delSp modSp">
        <pc:chgData name="Melis Ilaldi" userId="S::milaldi@siabenefits.com::f1abc5ca-5fc4-47fd-b988-885f8e7a581d" providerId="AD" clId="Web-{63918E1E-C71A-BF4F-98ED-EE3D21D392AA}" dt="2026-04-10T21:30:34.812" v="28"/>
        <pc:sldMkLst>
          <pc:docMk/>
          <pc:sldMk cId="3854456307" sldId="275"/>
        </pc:sldMkLst>
        <pc:spChg chg="add mod">
          <ac:chgData name="Melis Ilaldi" userId="S::milaldi@siabenefits.com::f1abc5ca-5fc4-47fd-b988-885f8e7a581d" providerId="AD" clId="Web-{63918E1E-C71A-BF4F-98ED-EE3D21D392AA}" dt="2026-04-10T21:30:34.812" v="28"/>
          <ac:spMkLst>
            <pc:docMk/>
            <pc:sldMk cId="3854456307" sldId="275"/>
            <ac:spMk id="2" creationId="{583F8C82-0F48-9956-D11C-9DA2D47FB13E}"/>
          </ac:spMkLst>
        </pc:spChg>
        <pc:picChg chg="del">
          <ac:chgData name="Melis Ilaldi" userId="S::milaldi@siabenefits.com::f1abc5ca-5fc4-47fd-b988-885f8e7a581d" providerId="AD" clId="Web-{63918E1E-C71A-BF4F-98ED-EE3D21D392AA}" dt="2026-04-10T21:30:25.593" v="24"/>
          <ac:picMkLst>
            <pc:docMk/>
            <pc:sldMk cId="3854456307" sldId="275"/>
            <ac:picMk id="383" creationId="{00000000-0000-0000-0000-000000000000}"/>
          </ac:picMkLst>
        </pc:picChg>
      </pc:sldChg>
      <pc:sldChg chg="addSp delSp modSp">
        <pc:chgData name="Melis Ilaldi" userId="S::milaldi@siabenefits.com::f1abc5ca-5fc4-47fd-b988-885f8e7a581d" providerId="AD" clId="Web-{63918E1E-C71A-BF4F-98ED-EE3D21D392AA}" dt="2026-04-10T21:30:58.922" v="32"/>
        <pc:sldMkLst>
          <pc:docMk/>
          <pc:sldMk cId="1637263532" sldId="276"/>
        </pc:sldMkLst>
        <pc:spChg chg="add mod">
          <ac:chgData name="Melis Ilaldi" userId="S::milaldi@siabenefits.com::f1abc5ca-5fc4-47fd-b988-885f8e7a581d" providerId="AD" clId="Web-{63918E1E-C71A-BF4F-98ED-EE3D21D392AA}" dt="2026-04-10T21:30:58.922" v="32"/>
          <ac:spMkLst>
            <pc:docMk/>
            <pc:sldMk cId="1637263532" sldId="276"/>
            <ac:spMk id="2" creationId="{AA5A2534-E305-A721-BB1C-269CC2810D5E}"/>
          </ac:spMkLst>
        </pc:spChg>
        <pc:picChg chg="del">
          <ac:chgData name="Melis Ilaldi" userId="S::milaldi@siabenefits.com::f1abc5ca-5fc4-47fd-b988-885f8e7a581d" providerId="AD" clId="Web-{63918E1E-C71A-BF4F-98ED-EE3D21D392AA}" dt="2026-04-10T21:30:38.234" v="29"/>
          <ac:picMkLst>
            <pc:docMk/>
            <pc:sldMk cId="1637263532" sldId="276"/>
            <ac:picMk id="389" creationId="{00000000-0000-0000-0000-000000000000}"/>
          </ac:picMkLst>
        </pc:picChg>
      </pc:sldChg>
      <pc:sldChg chg="addSp delSp modSp">
        <pc:chgData name="Melis Ilaldi" userId="S::milaldi@siabenefits.com::f1abc5ca-5fc4-47fd-b988-885f8e7a581d" providerId="AD" clId="Web-{63918E1E-C71A-BF4F-98ED-EE3D21D392AA}" dt="2026-04-10T21:32:12.830" v="53" actId="1076"/>
        <pc:sldMkLst>
          <pc:docMk/>
          <pc:sldMk cId="466739232" sldId="277"/>
        </pc:sldMkLst>
        <pc:spChg chg="add mod">
          <ac:chgData name="Melis Ilaldi" userId="S::milaldi@siabenefits.com::f1abc5ca-5fc4-47fd-b988-885f8e7a581d" providerId="AD" clId="Web-{63918E1E-C71A-BF4F-98ED-EE3D21D392AA}" dt="2026-04-10T21:32:09.596" v="52" actId="1076"/>
          <ac:spMkLst>
            <pc:docMk/>
            <pc:sldMk cId="466739232" sldId="277"/>
            <ac:spMk id="2" creationId="{54FADD41-0656-2DBC-1E36-4AC90FE07E61}"/>
          </ac:spMkLst>
        </pc:spChg>
        <pc:spChg chg="mod">
          <ac:chgData name="Melis Ilaldi" userId="S::milaldi@siabenefits.com::f1abc5ca-5fc4-47fd-b988-885f8e7a581d" providerId="AD" clId="Web-{63918E1E-C71A-BF4F-98ED-EE3D21D392AA}" dt="2026-04-10T21:32:12.830" v="53" actId="1076"/>
          <ac:spMkLst>
            <pc:docMk/>
            <pc:sldMk cId="466739232" sldId="277"/>
            <ac:spMk id="394" creationId="{00000000-0000-0000-0000-000000000000}"/>
          </ac:spMkLst>
        </pc:spChg>
        <pc:picChg chg="del">
          <ac:chgData name="Melis Ilaldi" userId="S::milaldi@siabenefits.com::f1abc5ca-5fc4-47fd-b988-885f8e7a581d" providerId="AD" clId="Web-{63918E1E-C71A-BF4F-98ED-EE3D21D392AA}" dt="2026-04-10T21:31:13.688" v="33"/>
          <ac:picMkLst>
            <pc:docMk/>
            <pc:sldMk cId="466739232" sldId="277"/>
            <ac:picMk id="395" creationId="{00000000-0000-0000-0000-000000000000}"/>
          </ac:picMkLst>
        </pc:picChg>
      </pc:sldChg>
      <pc:sldChg chg="addSp delSp modSp">
        <pc:chgData name="Melis Ilaldi" userId="S::milaldi@siabenefits.com::f1abc5ca-5fc4-47fd-b988-885f8e7a581d" providerId="AD" clId="Web-{63918E1E-C71A-BF4F-98ED-EE3D21D392AA}" dt="2026-04-10T21:32:44.690" v="58" actId="20577"/>
        <pc:sldMkLst>
          <pc:docMk/>
          <pc:sldMk cId="1082946762" sldId="278"/>
        </pc:sldMkLst>
        <pc:spChg chg="add mod">
          <ac:chgData name="Melis Ilaldi" userId="S::milaldi@siabenefits.com::f1abc5ca-5fc4-47fd-b988-885f8e7a581d" providerId="AD" clId="Web-{63918E1E-C71A-BF4F-98ED-EE3D21D392AA}" dt="2026-04-10T21:32:39.550" v="57" actId="20577"/>
          <ac:spMkLst>
            <pc:docMk/>
            <pc:sldMk cId="1082946762" sldId="278"/>
            <ac:spMk id="2" creationId="{952EA82C-3D8E-F402-9300-86DCF793DC7E}"/>
          </ac:spMkLst>
        </pc:spChg>
        <pc:spChg chg="mod">
          <ac:chgData name="Melis Ilaldi" userId="S::milaldi@siabenefits.com::f1abc5ca-5fc4-47fd-b988-885f8e7a581d" providerId="AD" clId="Web-{63918E1E-C71A-BF4F-98ED-EE3D21D392AA}" dt="2026-04-10T21:32:44.690" v="58" actId="20577"/>
          <ac:spMkLst>
            <pc:docMk/>
            <pc:sldMk cId="1082946762" sldId="278"/>
            <ac:spMk id="400" creationId="{00000000-0000-0000-0000-000000000000}"/>
          </ac:spMkLst>
        </pc:spChg>
        <pc:picChg chg="del">
          <ac:chgData name="Melis Ilaldi" userId="S::milaldi@siabenefits.com::f1abc5ca-5fc4-47fd-b988-885f8e7a581d" providerId="AD" clId="Web-{63918E1E-C71A-BF4F-98ED-EE3D21D392AA}" dt="2026-04-10T21:32:32.503" v="54"/>
          <ac:picMkLst>
            <pc:docMk/>
            <pc:sldMk cId="1082946762" sldId="278"/>
            <ac:picMk id="401" creationId="{00000000-0000-0000-0000-000000000000}"/>
          </ac:picMkLst>
        </pc:picChg>
      </pc:sldChg>
    </pc:docChg>
  </pc:docChgLst>
  <pc:docChgLst>
    <pc:chgData name="Melis Ilaldi" userId="S::milaldi@siabenefits.com::f1abc5ca-5fc4-47fd-b988-885f8e7a581d" providerId="AD" clId="Web-{76895867-2973-7624-F0AD-5F613293D37F}"/>
    <pc:docChg chg="modSld">
      <pc:chgData name="Melis Ilaldi" userId="S::milaldi@siabenefits.com::f1abc5ca-5fc4-47fd-b988-885f8e7a581d" providerId="AD" clId="Web-{76895867-2973-7624-F0AD-5F613293D37F}" dt="2026-04-10T19:35:08.700" v="1"/>
      <pc:docMkLst>
        <pc:docMk/>
      </pc:docMkLst>
      <pc:sldChg chg="addSp delSp">
        <pc:chgData name="Melis Ilaldi" userId="S::milaldi@siabenefits.com::f1abc5ca-5fc4-47fd-b988-885f8e7a581d" providerId="AD" clId="Web-{76895867-2973-7624-F0AD-5F613293D37F}" dt="2026-04-10T19:35:08.700" v="1"/>
        <pc:sldMkLst>
          <pc:docMk/>
          <pc:sldMk cId="1566130968" sldId="261"/>
        </pc:sldMkLst>
        <pc:picChg chg="add del">
          <ac:chgData name="Melis Ilaldi" userId="S::milaldi@siabenefits.com::f1abc5ca-5fc4-47fd-b988-885f8e7a581d" providerId="AD" clId="Web-{76895867-2973-7624-F0AD-5F613293D37F}" dt="2026-04-10T19:35:08.700" v="1"/>
          <ac:picMkLst>
            <pc:docMk/>
            <pc:sldMk cId="1566130968" sldId="261"/>
            <ac:picMk id="179"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32B0B1-66B2-4E4C-9F70-211316B865C6}" type="datetimeFigureOut">
              <a:t>4/10/2026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78BF02-F88B-400B-ABAA-A87A2D493BCC}" type="slidenum">
              <a:t>‹#›</a:t>
            </a:fld>
            <a:endParaRPr lang="en-US"/>
          </a:p>
        </p:txBody>
      </p:sp>
    </p:spTree>
    <p:extLst>
      <p:ext uri="{BB962C8B-B14F-4D97-AF65-F5344CB8AC3E}">
        <p14:creationId xmlns:p14="http://schemas.microsoft.com/office/powerpoint/2010/main" val="1747580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2" name="Google Shape;39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4" name="Google Shape;404;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0" name="Google Shape;410;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6" name="Google Shape;416;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3" name="Google Shape;42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6" name="Google Shape;446;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5" name="Google Shape;475;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providersearch.multiplan.com/"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providersearch.multiplan.com/"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1524000" y="0"/>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Sales Training</a:t>
            </a:r>
            <a:endParaRPr/>
          </a:p>
        </p:txBody>
      </p:sp>
      <p:sp>
        <p:nvSpPr>
          <p:cNvPr id="101" name="Google Shape;101;p1"/>
          <p:cNvSpPr txBox="1">
            <a:spLocks noGrp="1"/>
          </p:cNvSpPr>
          <p:nvPr>
            <p:ph type="subTitle" idx="1"/>
          </p:nvPr>
        </p:nvSpPr>
        <p:spPr>
          <a:xfrm>
            <a:off x="1524000" y="2514017"/>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t>Straight Line Selling</a:t>
            </a:r>
            <a:endParaRPr/>
          </a:p>
        </p:txBody>
      </p:sp>
      <p:cxnSp>
        <p:nvCxnSpPr>
          <p:cNvPr id="102" name="Google Shape;102;p1"/>
          <p:cNvCxnSpPr/>
          <p:nvPr/>
        </p:nvCxnSpPr>
        <p:spPr>
          <a:xfrm>
            <a:off x="1147823" y="4481814"/>
            <a:ext cx="9896354" cy="0"/>
          </a:xfrm>
          <a:prstGeom prst="straightConnector1">
            <a:avLst/>
          </a:prstGeom>
          <a:noFill/>
          <a:ln w="76200" cap="flat" cmpd="sng">
            <a:solidFill>
              <a:schemeClr val="accent4"/>
            </a:solidFill>
            <a:prstDash val="solid"/>
            <a:miter lim="800000"/>
            <a:headEnd type="none" w="sm" len="sm"/>
            <a:tailEnd type="triangle" w="med" len="med"/>
          </a:ln>
        </p:spPr>
      </p:cxnSp>
      <p:cxnSp>
        <p:nvCxnSpPr>
          <p:cNvPr id="103" name="Google Shape;103;p1"/>
          <p:cNvCxnSpPr/>
          <p:nvPr/>
        </p:nvCxnSpPr>
        <p:spPr>
          <a:xfrm>
            <a:off x="1147823" y="3971109"/>
            <a:ext cx="0" cy="1158240"/>
          </a:xfrm>
          <a:prstGeom prst="straightConnector1">
            <a:avLst/>
          </a:prstGeom>
          <a:noFill/>
          <a:ln w="76200" cap="flat" cmpd="sng">
            <a:solidFill>
              <a:schemeClr val="accent4"/>
            </a:solidFill>
            <a:prstDash val="solid"/>
            <a:miter lim="800000"/>
            <a:headEnd type="none" w="sm" len="sm"/>
            <a:tailEnd type="none" w="sm" len="sm"/>
          </a:ln>
        </p:spPr>
      </p:cxnSp>
      <p:cxnSp>
        <p:nvCxnSpPr>
          <p:cNvPr id="104" name="Google Shape;104;p1"/>
          <p:cNvCxnSpPr/>
          <p:nvPr/>
        </p:nvCxnSpPr>
        <p:spPr>
          <a:xfrm>
            <a:off x="2153662" y="3971109"/>
            <a:ext cx="0" cy="1158240"/>
          </a:xfrm>
          <a:prstGeom prst="straightConnector1">
            <a:avLst/>
          </a:prstGeom>
          <a:noFill/>
          <a:ln w="76200" cap="flat" cmpd="sng">
            <a:solidFill>
              <a:schemeClr val="accent4"/>
            </a:solidFill>
            <a:prstDash val="solid"/>
            <a:miter lim="800000"/>
            <a:headEnd type="none" w="sm" len="sm"/>
            <a:tailEnd type="none" w="sm" len="sm"/>
          </a:ln>
        </p:spPr>
      </p:cxnSp>
      <p:cxnSp>
        <p:nvCxnSpPr>
          <p:cNvPr id="105" name="Google Shape;105;p1"/>
          <p:cNvCxnSpPr/>
          <p:nvPr/>
        </p:nvCxnSpPr>
        <p:spPr>
          <a:xfrm>
            <a:off x="3129024" y="3971109"/>
            <a:ext cx="0" cy="1158240"/>
          </a:xfrm>
          <a:prstGeom prst="straightConnector1">
            <a:avLst/>
          </a:prstGeom>
          <a:noFill/>
          <a:ln w="76200" cap="flat" cmpd="sng">
            <a:solidFill>
              <a:schemeClr val="accent4"/>
            </a:solidFill>
            <a:prstDash val="solid"/>
            <a:miter lim="800000"/>
            <a:headEnd type="none" w="sm" len="sm"/>
            <a:tailEnd type="none" w="sm" len="sm"/>
          </a:ln>
        </p:spPr>
      </p:cxnSp>
      <p:cxnSp>
        <p:nvCxnSpPr>
          <p:cNvPr id="106" name="Google Shape;106;p1"/>
          <p:cNvCxnSpPr/>
          <p:nvPr/>
        </p:nvCxnSpPr>
        <p:spPr>
          <a:xfrm>
            <a:off x="4078258" y="3971109"/>
            <a:ext cx="0" cy="1158240"/>
          </a:xfrm>
          <a:prstGeom prst="straightConnector1">
            <a:avLst/>
          </a:prstGeom>
          <a:noFill/>
          <a:ln w="76200" cap="flat" cmpd="sng">
            <a:solidFill>
              <a:schemeClr val="accent4"/>
            </a:solidFill>
            <a:prstDash val="solid"/>
            <a:miter lim="800000"/>
            <a:headEnd type="none" w="sm" len="sm"/>
            <a:tailEnd type="none" w="sm" len="sm"/>
          </a:ln>
        </p:spPr>
      </p:cxnSp>
      <p:cxnSp>
        <p:nvCxnSpPr>
          <p:cNvPr id="107" name="Google Shape;107;p1"/>
          <p:cNvCxnSpPr/>
          <p:nvPr/>
        </p:nvCxnSpPr>
        <p:spPr>
          <a:xfrm>
            <a:off x="5018783" y="3971109"/>
            <a:ext cx="0" cy="1158240"/>
          </a:xfrm>
          <a:prstGeom prst="straightConnector1">
            <a:avLst/>
          </a:prstGeom>
          <a:noFill/>
          <a:ln w="76200" cap="flat" cmpd="sng">
            <a:solidFill>
              <a:schemeClr val="accent4"/>
            </a:solidFill>
            <a:prstDash val="solid"/>
            <a:miter lim="800000"/>
            <a:headEnd type="none" w="sm" len="sm"/>
            <a:tailEnd type="none" w="sm" len="sm"/>
          </a:ln>
        </p:spPr>
      </p:cxnSp>
      <p:cxnSp>
        <p:nvCxnSpPr>
          <p:cNvPr id="108" name="Google Shape;108;p1"/>
          <p:cNvCxnSpPr/>
          <p:nvPr/>
        </p:nvCxnSpPr>
        <p:spPr>
          <a:xfrm>
            <a:off x="6063812" y="3971109"/>
            <a:ext cx="0" cy="1158240"/>
          </a:xfrm>
          <a:prstGeom prst="straightConnector1">
            <a:avLst/>
          </a:prstGeom>
          <a:noFill/>
          <a:ln w="76200" cap="flat" cmpd="sng">
            <a:solidFill>
              <a:schemeClr val="accent4"/>
            </a:solidFill>
            <a:prstDash val="solid"/>
            <a:miter lim="800000"/>
            <a:headEnd type="none" w="sm" len="sm"/>
            <a:tailEnd type="none" w="sm" len="sm"/>
          </a:ln>
        </p:spPr>
      </p:cxnSp>
      <p:cxnSp>
        <p:nvCxnSpPr>
          <p:cNvPr id="109" name="Google Shape;109;p1"/>
          <p:cNvCxnSpPr/>
          <p:nvPr/>
        </p:nvCxnSpPr>
        <p:spPr>
          <a:xfrm>
            <a:off x="7126258" y="3971109"/>
            <a:ext cx="0" cy="1158240"/>
          </a:xfrm>
          <a:prstGeom prst="straightConnector1">
            <a:avLst/>
          </a:prstGeom>
          <a:noFill/>
          <a:ln w="76200" cap="flat" cmpd="sng">
            <a:solidFill>
              <a:schemeClr val="accent4"/>
            </a:solidFill>
            <a:prstDash val="solid"/>
            <a:miter lim="800000"/>
            <a:headEnd type="none" w="sm" len="sm"/>
            <a:tailEnd type="none" w="sm" len="sm"/>
          </a:ln>
        </p:spPr>
      </p:cxnSp>
      <p:cxnSp>
        <p:nvCxnSpPr>
          <p:cNvPr id="110" name="Google Shape;110;p1"/>
          <p:cNvCxnSpPr/>
          <p:nvPr/>
        </p:nvCxnSpPr>
        <p:spPr>
          <a:xfrm>
            <a:off x="8223537" y="3971109"/>
            <a:ext cx="0" cy="1158240"/>
          </a:xfrm>
          <a:prstGeom prst="straightConnector1">
            <a:avLst/>
          </a:prstGeom>
          <a:noFill/>
          <a:ln w="76200" cap="flat" cmpd="sng">
            <a:solidFill>
              <a:schemeClr val="accent4"/>
            </a:solidFill>
            <a:prstDash val="solid"/>
            <a:miter lim="800000"/>
            <a:headEnd type="none" w="sm" len="sm"/>
            <a:tailEnd type="none" w="sm" len="sm"/>
          </a:ln>
        </p:spPr>
      </p:cxnSp>
      <p:cxnSp>
        <p:nvCxnSpPr>
          <p:cNvPr id="111" name="Google Shape;111;p1"/>
          <p:cNvCxnSpPr/>
          <p:nvPr/>
        </p:nvCxnSpPr>
        <p:spPr>
          <a:xfrm>
            <a:off x="9259857" y="3971109"/>
            <a:ext cx="0" cy="1158240"/>
          </a:xfrm>
          <a:prstGeom prst="straightConnector1">
            <a:avLst/>
          </a:prstGeom>
          <a:noFill/>
          <a:ln w="76200" cap="flat" cmpd="sng">
            <a:solidFill>
              <a:schemeClr val="accent4"/>
            </a:solidFill>
            <a:prstDash val="solid"/>
            <a:miter lim="800000"/>
            <a:headEnd type="none" w="sm" len="sm"/>
            <a:tailEnd type="none" w="sm" len="sm"/>
          </a:ln>
        </p:spPr>
      </p:cxnSp>
      <p:cxnSp>
        <p:nvCxnSpPr>
          <p:cNvPr id="112" name="Google Shape;112;p1"/>
          <p:cNvCxnSpPr/>
          <p:nvPr/>
        </p:nvCxnSpPr>
        <p:spPr>
          <a:xfrm>
            <a:off x="10339720" y="3989780"/>
            <a:ext cx="0" cy="1158240"/>
          </a:xfrm>
          <a:prstGeom prst="straightConnector1">
            <a:avLst/>
          </a:prstGeom>
          <a:noFill/>
          <a:ln w="76200" cap="flat" cmpd="sng">
            <a:solidFill>
              <a:schemeClr val="accent4"/>
            </a:solidFill>
            <a:prstDash val="solid"/>
            <a:miter lim="800000"/>
            <a:headEnd type="none" w="sm" len="sm"/>
            <a:tailEnd type="none" w="sm" len="sm"/>
          </a:ln>
        </p:spPr>
      </p:cxnSp>
      <p:sp>
        <p:nvSpPr>
          <p:cNvPr id="113" name="Google Shape;113;p1"/>
          <p:cNvSpPr/>
          <p:nvPr/>
        </p:nvSpPr>
        <p:spPr>
          <a:xfrm flipH="1">
            <a:off x="-284735" y="3444240"/>
            <a:ext cx="2926079"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rgbClr val="262626"/>
                </a:solidFill>
                <a:latin typeface="Calibri"/>
                <a:ea typeface="Calibri"/>
                <a:cs typeface="Calibri"/>
                <a:sym typeface="Calibri"/>
              </a:rPr>
              <a:t>Opening</a:t>
            </a:r>
            <a:endParaRPr/>
          </a:p>
        </p:txBody>
      </p:sp>
      <p:sp>
        <p:nvSpPr>
          <p:cNvPr id="114" name="Google Shape;114;p1"/>
          <p:cNvSpPr/>
          <p:nvPr/>
        </p:nvSpPr>
        <p:spPr>
          <a:xfrm>
            <a:off x="1119958" y="4933516"/>
            <a:ext cx="2067407"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rgbClr val="262626"/>
                </a:solidFill>
                <a:latin typeface="Calibri"/>
                <a:ea typeface="Calibri"/>
                <a:cs typeface="Calibri"/>
                <a:sym typeface="Calibri"/>
              </a:rPr>
              <a:t>Prequalify</a:t>
            </a:r>
            <a:endParaRPr/>
          </a:p>
        </p:txBody>
      </p:sp>
      <p:sp>
        <p:nvSpPr>
          <p:cNvPr id="115" name="Google Shape;115;p1"/>
          <p:cNvSpPr/>
          <p:nvPr/>
        </p:nvSpPr>
        <p:spPr>
          <a:xfrm>
            <a:off x="2245102" y="3015654"/>
            <a:ext cx="1925439" cy="107721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rgbClr val="262626"/>
                </a:solidFill>
                <a:latin typeface="Calibri"/>
                <a:ea typeface="Calibri"/>
                <a:cs typeface="Calibri"/>
                <a:sym typeface="Calibri"/>
              </a:rPr>
              <a:t>Tie-Down Price</a:t>
            </a:r>
            <a:endParaRPr/>
          </a:p>
        </p:txBody>
      </p:sp>
      <p:sp>
        <p:nvSpPr>
          <p:cNvPr id="116" name="Google Shape;116;p1"/>
          <p:cNvSpPr/>
          <p:nvPr/>
        </p:nvSpPr>
        <p:spPr>
          <a:xfrm>
            <a:off x="3104285" y="5031433"/>
            <a:ext cx="194794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rgbClr val="262626"/>
                </a:solidFill>
                <a:latin typeface="Calibri"/>
                <a:ea typeface="Calibri"/>
                <a:cs typeface="Calibri"/>
                <a:sym typeface="Calibri"/>
              </a:rPr>
              <a:t>Credibility</a:t>
            </a:r>
            <a:endParaRPr/>
          </a:p>
        </p:txBody>
      </p:sp>
      <p:sp>
        <p:nvSpPr>
          <p:cNvPr id="117" name="Google Shape;117;p1"/>
          <p:cNvSpPr/>
          <p:nvPr/>
        </p:nvSpPr>
        <p:spPr>
          <a:xfrm>
            <a:off x="4484994" y="3424713"/>
            <a:ext cx="115288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rgbClr val="262626"/>
                </a:solidFill>
                <a:latin typeface="Calibri"/>
                <a:ea typeface="Calibri"/>
                <a:cs typeface="Calibri"/>
                <a:sym typeface="Calibri"/>
              </a:rPr>
              <a:t>HOLD</a:t>
            </a:r>
            <a:endParaRPr/>
          </a:p>
        </p:txBody>
      </p:sp>
      <p:sp>
        <p:nvSpPr>
          <p:cNvPr id="118" name="Google Shape;118;p1"/>
          <p:cNvSpPr/>
          <p:nvPr/>
        </p:nvSpPr>
        <p:spPr>
          <a:xfrm>
            <a:off x="5449688" y="5003013"/>
            <a:ext cx="1277721"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rgbClr val="262626"/>
                </a:solidFill>
                <a:latin typeface="Calibri"/>
                <a:ea typeface="Calibri"/>
                <a:cs typeface="Calibri"/>
                <a:sym typeface="Calibri"/>
              </a:rPr>
              <a:t>Teaser</a:t>
            </a:r>
            <a:endParaRPr/>
          </a:p>
        </p:txBody>
      </p:sp>
      <p:sp>
        <p:nvSpPr>
          <p:cNvPr id="119" name="Google Shape;119;p1"/>
          <p:cNvSpPr/>
          <p:nvPr/>
        </p:nvSpPr>
        <p:spPr>
          <a:xfrm>
            <a:off x="5914057" y="3456505"/>
            <a:ext cx="2392305" cy="59352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rgbClr val="262626"/>
                </a:solidFill>
                <a:latin typeface="Calibri"/>
                <a:ea typeface="Calibri"/>
                <a:cs typeface="Calibri"/>
                <a:sym typeface="Calibri"/>
              </a:rPr>
              <a:t>Tie-Down 3x</a:t>
            </a:r>
            <a:endParaRPr/>
          </a:p>
        </p:txBody>
      </p:sp>
      <p:sp>
        <p:nvSpPr>
          <p:cNvPr id="120" name="Google Shape;120;p1"/>
          <p:cNvSpPr/>
          <p:nvPr/>
        </p:nvSpPr>
        <p:spPr>
          <a:xfrm>
            <a:off x="7440907" y="4983290"/>
            <a:ext cx="1582676"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rgbClr val="262626"/>
                </a:solidFill>
                <a:latin typeface="Calibri"/>
                <a:ea typeface="Calibri"/>
                <a:cs typeface="Calibri"/>
                <a:sym typeface="Calibri"/>
              </a:rPr>
              <a:t>Benefits</a:t>
            </a:r>
            <a:endParaRPr/>
          </a:p>
        </p:txBody>
      </p:sp>
      <p:sp>
        <p:nvSpPr>
          <p:cNvPr id="121" name="Google Shape;121;p1"/>
          <p:cNvSpPr/>
          <p:nvPr/>
        </p:nvSpPr>
        <p:spPr>
          <a:xfrm>
            <a:off x="8678680" y="3408314"/>
            <a:ext cx="1095172"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rgbClr val="262626"/>
                </a:solidFill>
                <a:latin typeface="Calibri"/>
                <a:ea typeface="Calibri"/>
                <a:cs typeface="Calibri"/>
                <a:sym typeface="Calibri"/>
              </a:rPr>
              <a:t>Close</a:t>
            </a:r>
            <a:endParaRPr/>
          </a:p>
        </p:txBody>
      </p:sp>
      <p:sp>
        <p:nvSpPr>
          <p:cNvPr id="122" name="Google Shape;122;p1"/>
          <p:cNvSpPr/>
          <p:nvPr/>
        </p:nvSpPr>
        <p:spPr>
          <a:xfrm>
            <a:off x="9446667" y="5003013"/>
            <a:ext cx="1798441"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rgbClr val="262626"/>
                </a:solidFill>
                <a:latin typeface="Calibri"/>
                <a:ea typeface="Calibri"/>
                <a:cs typeface="Calibri"/>
                <a:sym typeface="Calibri"/>
              </a:rPr>
              <a:t>Rebuttals</a:t>
            </a:r>
            <a:endParaRPr/>
          </a:p>
        </p:txBody>
      </p:sp>
      <p:cxnSp>
        <p:nvCxnSpPr>
          <p:cNvPr id="123" name="Google Shape;123;p1"/>
          <p:cNvCxnSpPr>
            <a:stCxn id="113" idx="2"/>
          </p:cNvCxnSpPr>
          <p:nvPr/>
        </p:nvCxnSpPr>
        <p:spPr>
          <a:xfrm>
            <a:off x="1178304" y="4029015"/>
            <a:ext cx="975300" cy="1100400"/>
          </a:xfrm>
          <a:prstGeom prst="straightConnector1">
            <a:avLst/>
          </a:prstGeom>
          <a:noFill/>
          <a:ln w="57150" cap="flat" cmpd="sng">
            <a:solidFill>
              <a:schemeClr val="accent2"/>
            </a:solidFill>
            <a:prstDash val="solid"/>
            <a:miter lim="800000"/>
            <a:headEnd type="none" w="sm" len="sm"/>
            <a:tailEnd type="triangle" w="med" len="med"/>
          </a:ln>
        </p:spPr>
      </p:cxnSp>
      <p:cxnSp>
        <p:nvCxnSpPr>
          <p:cNvPr id="124" name="Google Shape;124;p1"/>
          <p:cNvCxnSpPr/>
          <p:nvPr/>
        </p:nvCxnSpPr>
        <p:spPr>
          <a:xfrm rot="10800000" flipH="1">
            <a:off x="2178400" y="4029016"/>
            <a:ext cx="915785" cy="1045264"/>
          </a:xfrm>
          <a:prstGeom prst="straightConnector1">
            <a:avLst/>
          </a:prstGeom>
          <a:noFill/>
          <a:ln w="57150" cap="flat" cmpd="sng">
            <a:solidFill>
              <a:schemeClr val="accent2"/>
            </a:solidFill>
            <a:prstDash val="solid"/>
            <a:miter lim="800000"/>
            <a:headEnd type="none" w="sm" len="sm"/>
            <a:tailEnd type="triangle" w="med" len="med"/>
          </a:ln>
        </p:spPr>
      </p:cxnSp>
      <p:cxnSp>
        <p:nvCxnSpPr>
          <p:cNvPr id="125" name="Google Shape;125;p1"/>
          <p:cNvCxnSpPr/>
          <p:nvPr/>
        </p:nvCxnSpPr>
        <p:spPr>
          <a:xfrm>
            <a:off x="3105615" y="4044342"/>
            <a:ext cx="975357" cy="1100334"/>
          </a:xfrm>
          <a:prstGeom prst="straightConnector1">
            <a:avLst/>
          </a:prstGeom>
          <a:noFill/>
          <a:ln w="57150" cap="flat" cmpd="sng">
            <a:solidFill>
              <a:schemeClr val="accent2"/>
            </a:solidFill>
            <a:prstDash val="solid"/>
            <a:miter lim="800000"/>
            <a:headEnd type="none" w="sm" len="sm"/>
            <a:tailEnd type="triangle" w="med" len="med"/>
          </a:ln>
        </p:spPr>
      </p:cxnSp>
      <p:cxnSp>
        <p:nvCxnSpPr>
          <p:cNvPr id="126" name="Google Shape;126;p1"/>
          <p:cNvCxnSpPr/>
          <p:nvPr/>
        </p:nvCxnSpPr>
        <p:spPr>
          <a:xfrm>
            <a:off x="5038693" y="4011933"/>
            <a:ext cx="975357" cy="1100334"/>
          </a:xfrm>
          <a:prstGeom prst="straightConnector1">
            <a:avLst/>
          </a:prstGeom>
          <a:noFill/>
          <a:ln w="57150" cap="flat" cmpd="sng">
            <a:solidFill>
              <a:schemeClr val="accent2"/>
            </a:solidFill>
            <a:prstDash val="solid"/>
            <a:miter lim="800000"/>
            <a:headEnd type="none" w="sm" len="sm"/>
            <a:tailEnd type="triangle" w="med" len="med"/>
          </a:ln>
        </p:spPr>
      </p:cxnSp>
      <p:cxnSp>
        <p:nvCxnSpPr>
          <p:cNvPr id="127" name="Google Shape;127;p1"/>
          <p:cNvCxnSpPr/>
          <p:nvPr/>
        </p:nvCxnSpPr>
        <p:spPr>
          <a:xfrm>
            <a:off x="7160768" y="3989780"/>
            <a:ext cx="975357" cy="1100334"/>
          </a:xfrm>
          <a:prstGeom prst="straightConnector1">
            <a:avLst/>
          </a:prstGeom>
          <a:noFill/>
          <a:ln w="57150" cap="flat" cmpd="sng">
            <a:solidFill>
              <a:schemeClr val="accent2"/>
            </a:solidFill>
            <a:prstDash val="solid"/>
            <a:miter lim="800000"/>
            <a:headEnd type="none" w="sm" len="sm"/>
            <a:tailEnd type="triangle" w="med" len="med"/>
          </a:ln>
        </p:spPr>
      </p:cxnSp>
      <p:cxnSp>
        <p:nvCxnSpPr>
          <p:cNvPr id="128" name="Google Shape;128;p1"/>
          <p:cNvCxnSpPr/>
          <p:nvPr/>
        </p:nvCxnSpPr>
        <p:spPr>
          <a:xfrm>
            <a:off x="9298369" y="3973946"/>
            <a:ext cx="975357" cy="1100334"/>
          </a:xfrm>
          <a:prstGeom prst="straightConnector1">
            <a:avLst/>
          </a:prstGeom>
          <a:noFill/>
          <a:ln w="57150" cap="flat" cmpd="sng">
            <a:solidFill>
              <a:schemeClr val="accent2"/>
            </a:solidFill>
            <a:prstDash val="solid"/>
            <a:miter lim="800000"/>
            <a:headEnd type="none" w="sm" len="sm"/>
            <a:tailEnd type="triangle" w="med" len="med"/>
          </a:ln>
        </p:spPr>
      </p:cxnSp>
      <p:cxnSp>
        <p:nvCxnSpPr>
          <p:cNvPr id="129" name="Google Shape;129;p1"/>
          <p:cNvCxnSpPr/>
          <p:nvPr/>
        </p:nvCxnSpPr>
        <p:spPr>
          <a:xfrm rot="10800000" flipH="1">
            <a:off x="4109136" y="4046268"/>
            <a:ext cx="915785" cy="1045264"/>
          </a:xfrm>
          <a:prstGeom prst="straightConnector1">
            <a:avLst/>
          </a:prstGeom>
          <a:noFill/>
          <a:ln w="57150" cap="flat" cmpd="sng">
            <a:solidFill>
              <a:schemeClr val="accent2"/>
            </a:solidFill>
            <a:prstDash val="solid"/>
            <a:miter lim="800000"/>
            <a:headEnd type="none" w="sm" len="sm"/>
            <a:tailEnd type="triangle" w="med" len="med"/>
          </a:ln>
        </p:spPr>
      </p:cxnSp>
      <p:cxnSp>
        <p:nvCxnSpPr>
          <p:cNvPr id="130" name="Google Shape;130;p1"/>
          <p:cNvCxnSpPr/>
          <p:nvPr/>
        </p:nvCxnSpPr>
        <p:spPr>
          <a:xfrm rot="10800000" flipH="1">
            <a:off x="6137143" y="4056550"/>
            <a:ext cx="915785" cy="1045264"/>
          </a:xfrm>
          <a:prstGeom prst="straightConnector1">
            <a:avLst/>
          </a:prstGeom>
          <a:noFill/>
          <a:ln w="57150" cap="flat" cmpd="sng">
            <a:solidFill>
              <a:schemeClr val="accent2"/>
            </a:solidFill>
            <a:prstDash val="solid"/>
            <a:miter lim="800000"/>
            <a:headEnd type="none" w="sm" len="sm"/>
            <a:tailEnd type="triangle" w="med" len="med"/>
          </a:ln>
        </p:spPr>
      </p:cxnSp>
      <p:cxnSp>
        <p:nvCxnSpPr>
          <p:cNvPr id="131" name="Google Shape;131;p1"/>
          <p:cNvCxnSpPr/>
          <p:nvPr/>
        </p:nvCxnSpPr>
        <p:spPr>
          <a:xfrm rot="10800000" flipH="1">
            <a:off x="8269923" y="4046268"/>
            <a:ext cx="915785" cy="1045264"/>
          </a:xfrm>
          <a:prstGeom prst="straightConnector1">
            <a:avLst/>
          </a:prstGeom>
          <a:noFill/>
          <a:ln w="57150" cap="flat" cmpd="sng">
            <a:solidFill>
              <a:schemeClr val="accent2"/>
            </a:solidFill>
            <a:prstDash val="solid"/>
            <a:miter lim="800000"/>
            <a:headEnd type="none" w="sm" len="sm"/>
            <a:tailEnd type="triangle" w="med" len="med"/>
          </a:ln>
        </p:spPr>
      </p:cxnSp>
    </p:spTree>
    <p:extLst>
      <p:ext uri="{BB962C8B-B14F-4D97-AF65-F5344CB8AC3E}">
        <p14:creationId xmlns:p14="http://schemas.microsoft.com/office/powerpoint/2010/main" val="36158639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1000"/>
                                        <p:tgtEl>
                                          <p:spTgt spid="1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4"/>
                                        </p:tgtEl>
                                        <p:attrNameLst>
                                          <p:attrName>style.visibility</p:attrName>
                                        </p:attrNameLst>
                                      </p:cBhvr>
                                      <p:to>
                                        <p:strVal val="visible"/>
                                      </p:to>
                                    </p:set>
                                    <p:animEffect transition="in" filter="fade">
                                      <p:cBhvr>
                                        <p:cTn id="12" dur="1000"/>
                                        <p:tgtEl>
                                          <p:spTgt spid="1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5"/>
                                        </p:tgtEl>
                                        <p:attrNameLst>
                                          <p:attrName>style.visibility</p:attrName>
                                        </p:attrNameLst>
                                      </p:cBhvr>
                                      <p:to>
                                        <p:strVal val="visible"/>
                                      </p:to>
                                    </p:set>
                                    <p:animEffect transition="in" filter="fade">
                                      <p:cBhvr>
                                        <p:cTn id="17" dur="1000"/>
                                        <p:tgtEl>
                                          <p:spTgt spid="1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9"/>
                                        </p:tgtEl>
                                        <p:attrNameLst>
                                          <p:attrName>style.visibility</p:attrName>
                                        </p:attrNameLst>
                                      </p:cBhvr>
                                      <p:to>
                                        <p:strVal val="visible"/>
                                      </p:to>
                                    </p:set>
                                    <p:animEffect transition="in" filter="fade">
                                      <p:cBhvr>
                                        <p:cTn id="22" dur="1000"/>
                                        <p:tgtEl>
                                          <p:spTgt spid="1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6"/>
                                        </p:tgtEl>
                                        <p:attrNameLst>
                                          <p:attrName>style.visibility</p:attrName>
                                        </p:attrNameLst>
                                      </p:cBhvr>
                                      <p:to>
                                        <p:strVal val="visible"/>
                                      </p:to>
                                    </p:set>
                                    <p:animEffect transition="in" filter="fade">
                                      <p:cBhvr>
                                        <p:cTn id="27" dur="1000"/>
                                        <p:tgtEl>
                                          <p:spTgt spid="1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0"/>
                                        </p:tgtEl>
                                        <p:attrNameLst>
                                          <p:attrName>style.visibility</p:attrName>
                                        </p:attrNameLst>
                                      </p:cBhvr>
                                      <p:to>
                                        <p:strVal val="visible"/>
                                      </p:to>
                                    </p:set>
                                    <p:animEffect transition="in" filter="fade">
                                      <p:cBhvr>
                                        <p:cTn id="32" dur="1000"/>
                                        <p:tgtEl>
                                          <p:spTgt spid="13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7"/>
                                        </p:tgtEl>
                                        <p:attrNameLst>
                                          <p:attrName>style.visibility</p:attrName>
                                        </p:attrNameLst>
                                      </p:cBhvr>
                                      <p:to>
                                        <p:strVal val="visible"/>
                                      </p:to>
                                    </p:set>
                                    <p:animEffect transition="in" filter="fade">
                                      <p:cBhvr>
                                        <p:cTn id="37" dur="1000"/>
                                        <p:tgtEl>
                                          <p:spTgt spid="1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1"/>
                                        </p:tgtEl>
                                        <p:attrNameLst>
                                          <p:attrName>style.visibility</p:attrName>
                                        </p:attrNameLst>
                                      </p:cBhvr>
                                      <p:to>
                                        <p:strVal val="visible"/>
                                      </p:to>
                                    </p:set>
                                    <p:animEffect transition="in" filter="fade">
                                      <p:cBhvr>
                                        <p:cTn id="42" dur="1000"/>
                                        <p:tgtEl>
                                          <p:spTgt spid="1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8"/>
                                        </p:tgtEl>
                                        <p:attrNameLst>
                                          <p:attrName>style.visibility</p:attrName>
                                        </p:attrNameLst>
                                      </p:cBhvr>
                                      <p:to>
                                        <p:strVal val="visible"/>
                                      </p:to>
                                    </p:set>
                                    <p:animEffect transition="in" filter="fade">
                                      <p:cBhvr>
                                        <p:cTn id="47" dur="10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p:cNvGrpSpPr/>
        <p:nvPr/>
      </p:nvGrpSpPr>
      <p:grpSpPr>
        <a:xfrm>
          <a:off x="0" y="0"/>
          <a:ext cx="0" cy="0"/>
          <a:chOff x="0" y="0"/>
          <a:chExt cx="0" cy="0"/>
        </a:xfrm>
      </p:grpSpPr>
      <p:sp>
        <p:nvSpPr>
          <p:cNvPr id="136" name="Google Shape;136;p2"/>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137" name="Google Shape;137;p2"/>
          <p:cNvGrpSpPr/>
          <p:nvPr/>
        </p:nvGrpSpPr>
        <p:grpSpPr>
          <a:xfrm>
            <a:off x="4" y="1216597"/>
            <a:ext cx="731521" cy="673460"/>
            <a:chOff x="3940602" y="308034"/>
            <a:chExt cx="2116791" cy="3428999"/>
          </a:xfrm>
        </p:grpSpPr>
        <p:sp>
          <p:nvSpPr>
            <p:cNvPr id="138" name="Google Shape;138;p2"/>
            <p:cNvSpPr/>
            <p:nvPr/>
          </p:nvSpPr>
          <p:spPr>
            <a:xfrm>
              <a:off x="3940602"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9" name="Google Shape;139;p2"/>
            <p:cNvSpPr/>
            <p:nvPr/>
          </p:nvSpPr>
          <p:spPr>
            <a:xfrm>
              <a:off x="4715626"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0" name="Google Shape;140;p2"/>
            <p:cNvSpPr/>
            <p:nvPr/>
          </p:nvSpPr>
          <p:spPr>
            <a:xfrm>
              <a:off x="5490650"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141" name="Google Shape;141;p2"/>
          <p:cNvSpPr/>
          <p:nvPr/>
        </p:nvSpPr>
        <p:spPr>
          <a:xfrm>
            <a:off x="640079" y="613954"/>
            <a:ext cx="10907487" cy="1894116"/>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2" name="Google Shape;142;p2"/>
          <p:cNvSpPr txBox="1">
            <a:spLocks noGrp="1"/>
          </p:cNvSpPr>
          <p:nvPr>
            <p:ph type="title"/>
          </p:nvPr>
        </p:nvSpPr>
        <p:spPr>
          <a:xfrm>
            <a:off x="1043631" y="809898"/>
            <a:ext cx="9942716" cy="15544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Calibri"/>
              <a:buNone/>
            </a:pPr>
            <a:r>
              <a:rPr lang="en-US" sz="4800"/>
              <a:t>Tonality</a:t>
            </a:r>
            <a:endParaRPr/>
          </a:p>
        </p:txBody>
      </p:sp>
      <p:sp>
        <p:nvSpPr>
          <p:cNvPr id="143" name="Google Shape;143;p2"/>
          <p:cNvSpPr txBox="1">
            <a:spLocks noGrp="1"/>
          </p:cNvSpPr>
          <p:nvPr>
            <p:ph type="body" idx="1"/>
          </p:nvPr>
        </p:nvSpPr>
        <p:spPr>
          <a:xfrm>
            <a:off x="1045028" y="3017522"/>
            <a:ext cx="9941319" cy="3124658"/>
          </a:xfrm>
          <a:prstGeom prst="rect">
            <a:avLst/>
          </a:prstGeom>
          <a:noFill/>
          <a:ln>
            <a:noFill/>
          </a:ln>
        </p:spPr>
        <p:txBody>
          <a:bodyPr spcFirstLastPara="1" wrap="square" lIns="91425" tIns="45700" rIns="91425" bIns="45700" anchor="ctr" anchorCtr="0">
            <a:normAutofit lnSpcReduction="10000"/>
          </a:bodyPr>
          <a:lstStyle/>
          <a:p>
            <a:pPr marL="228600" lvl="0" indent="-228600" algn="l" rtl="0">
              <a:lnSpc>
                <a:spcPct val="90000"/>
              </a:lnSpc>
              <a:spcBef>
                <a:spcPts val="0"/>
              </a:spcBef>
              <a:spcAft>
                <a:spcPts val="0"/>
              </a:spcAft>
              <a:buClr>
                <a:schemeClr val="dk1"/>
              </a:buClr>
              <a:buSzPts val="1300"/>
              <a:buChar char="•"/>
            </a:pPr>
            <a:r>
              <a:rPr lang="en-US" sz="1300"/>
              <a:t>There are 3 types of tonality:</a:t>
            </a:r>
            <a:endParaRPr/>
          </a:p>
          <a:p>
            <a:pPr marL="685800" lvl="1" indent="-228600" algn="l" rtl="0">
              <a:lnSpc>
                <a:spcPct val="90000"/>
              </a:lnSpc>
              <a:spcBef>
                <a:spcPts val="500"/>
              </a:spcBef>
              <a:spcAft>
                <a:spcPts val="0"/>
              </a:spcAft>
              <a:buClr>
                <a:schemeClr val="dk1"/>
              </a:buClr>
              <a:buSzPts val="1300"/>
              <a:buChar char="•"/>
            </a:pPr>
            <a:r>
              <a:rPr lang="en-US" sz="1300"/>
              <a:t>Breaking Rapport – Down tone or falling tone</a:t>
            </a:r>
            <a:endParaRPr/>
          </a:p>
          <a:p>
            <a:pPr marL="685800" lvl="1" indent="-228600" algn="l" rtl="0">
              <a:lnSpc>
                <a:spcPct val="90000"/>
              </a:lnSpc>
              <a:spcBef>
                <a:spcPts val="500"/>
              </a:spcBef>
              <a:spcAft>
                <a:spcPts val="0"/>
              </a:spcAft>
              <a:buClr>
                <a:schemeClr val="dk1"/>
              </a:buClr>
              <a:buSzPts val="1300"/>
              <a:buChar char="•"/>
            </a:pPr>
            <a:r>
              <a:rPr lang="en-US" sz="1300"/>
              <a:t>Seeking Rapport – Up tone or Rising tone</a:t>
            </a:r>
            <a:endParaRPr/>
          </a:p>
          <a:p>
            <a:pPr marL="685800" lvl="1" indent="-228600" algn="l" rtl="0">
              <a:lnSpc>
                <a:spcPct val="90000"/>
              </a:lnSpc>
              <a:spcBef>
                <a:spcPts val="500"/>
              </a:spcBef>
              <a:spcAft>
                <a:spcPts val="0"/>
              </a:spcAft>
              <a:buClr>
                <a:schemeClr val="dk1"/>
              </a:buClr>
              <a:buSzPts val="1300"/>
              <a:buChar char="•"/>
            </a:pPr>
            <a:r>
              <a:rPr lang="en-US" sz="1300"/>
              <a:t>Neutral Rapport – Even tone or monotone</a:t>
            </a:r>
            <a:endParaRPr/>
          </a:p>
          <a:p>
            <a:pPr marL="685800" lvl="1" indent="-146050" algn="l" rtl="0">
              <a:lnSpc>
                <a:spcPct val="90000"/>
              </a:lnSpc>
              <a:spcBef>
                <a:spcPts val="500"/>
              </a:spcBef>
              <a:spcAft>
                <a:spcPts val="0"/>
              </a:spcAft>
              <a:buClr>
                <a:schemeClr val="dk1"/>
              </a:buClr>
              <a:buSzPts val="1300"/>
              <a:buNone/>
            </a:pPr>
            <a:endParaRPr sz="1300"/>
          </a:p>
          <a:p>
            <a:pPr marL="685800" lvl="1" indent="-228600" algn="l" rtl="0">
              <a:lnSpc>
                <a:spcPct val="90000"/>
              </a:lnSpc>
              <a:spcBef>
                <a:spcPts val="500"/>
              </a:spcBef>
              <a:spcAft>
                <a:spcPts val="0"/>
              </a:spcAft>
              <a:buClr>
                <a:schemeClr val="dk1"/>
              </a:buClr>
              <a:buSzPts val="1300"/>
              <a:buChar char="•"/>
            </a:pPr>
            <a:r>
              <a:rPr lang="en-US" sz="1300"/>
              <a:t>In phone sales we do not have the ability to use our body language to our advantage. Therefore, it is critical we use proper inflection and tone throughout  the call.</a:t>
            </a:r>
            <a:endParaRPr/>
          </a:p>
          <a:p>
            <a:pPr marL="685800" lvl="1" indent="-228600" algn="l" rtl="0">
              <a:lnSpc>
                <a:spcPct val="90000"/>
              </a:lnSpc>
              <a:spcBef>
                <a:spcPts val="500"/>
              </a:spcBef>
              <a:spcAft>
                <a:spcPts val="0"/>
              </a:spcAft>
              <a:buClr>
                <a:schemeClr val="dk1"/>
              </a:buClr>
              <a:buSzPts val="1300"/>
              <a:buChar char="•"/>
            </a:pPr>
            <a:r>
              <a:rPr lang="en-US" sz="1300"/>
              <a:t>You want to sound like you are a professional who is HAPPY to be doing their job. The customer feels what you feel.</a:t>
            </a:r>
            <a:endParaRPr/>
          </a:p>
          <a:p>
            <a:pPr marL="685800" lvl="1" indent="-228600" algn="l" rtl="0">
              <a:lnSpc>
                <a:spcPct val="90000"/>
              </a:lnSpc>
              <a:spcBef>
                <a:spcPts val="500"/>
              </a:spcBef>
              <a:spcAft>
                <a:spcPts val="0"/>
              </a:spcAft>
              <a:buClr>
                <a:schemeClr val="dk1"/>
              </a:buClr>
              <a:buSzPts val="1300"/>
              <a:buChar char="•"/>
            </a:pPr>
            <a:r>
              <a:rPr lang="en-US" sz="1300"/>
              <a:t>You want to mirror the customers energy level, but slightly higher, maybe 5%-10% more energy.</a:t>
            </a:r>
            <a:endParaRPr/>
          </a:p>
          <a:p>
            <a:pPr marL="685800" lvl="1" indent="-228600" algn="l" rtl="0">
              <a:lnSpc>
                <a:spcPct val="90000"/>
              </a:lnSpc>
              <a:spcBef>
                <a:spcPts val="500"/>
              </a:spcBef>
              <a:spcAft>
                <a:spcPts val="0"/>
              </a:spcAft>
              <a:buClr>
                <a:schemeClr val="dk1"/>
              </a:buClr>
              <a:buSzPts val="1300"/>
              <a:buChar char="•"/>
            </a:pPr>
            <a:r>
              <a:rPr lang="en-US" sz="1300"/>
              <a:t>Too much energy and you sound like a clown, its overbearing and you will not get a good reaction.</a:t>
            </a:r>
            <a:endParaRPr/>
          </a:p>
          <a:p>
            <a:pPr marL="685800" lvl="1" indent="-228600" algn="l" rtl="0">
              <a:lnSpc>
                <a:spcPct val="90000"/>
              </a:lnSpc>
              <a:spcBef>
                <a:spcPts val="500"/>
              </a:spcBef>
              <a:spcAft>
                <a:spcPts val="0"/>
              </a:spcAft>
              <a:buClr>
                <a:schemeClr val="dk1"/>
              </a:buClr>
              <a:buSzPts val="1300"/>
              <a:buChar char="•"/>
            </a:pPr>
            <a:r>
              <a:rPr lang="en-US" sz="1300"/>
              <a:t>If you don’t have enough energy you will sound unsure of yourself and I promise the objections will come.</a:t>
            </a:r>
            <a:endParaRPr/>
          </a:p>
          <a:p>
            <a:pPr marL="685800" lvl="1" indent="-228600" algn="l" rtl="0">
              <a:lnSpc>
                <a:spcPct val="90000"/>
              </a:lnSpc>
              <a:spcBef>
                <a:spcPts val="500"/>
              </a:spcBef>
              <a:spcAft>
                <a:spcPts val="0"/>
              </a:spcAft>
              <a:buClr>
                <a:schemeClr val="dk1"/>
              </a:buClr>
              <a:buSzPts val="1300"/>
              <a:buChar char="•"/>
            </a:pPr>
            <a:r>
              <a:rPr lang="en-US" sz="1300"/>
              <a:t>Speak clearly and emphasize your words. Do not use slang. Do not use ANY curse words EVER. Even if the customer swears. Speak like a professional. That’s who they want to buy from – someone who knows what their talking about, and SOUNDS LIKE THEY KNOW WHAT THEY ARE TALKING ABOUT!</a:t>
            </a:r>
            <a:endParaRPr/>
          </a:p>
          <a:p>
            <a:pPr marL="685800" lvl="1" indent="-146050" algn="l" rtl="0">
              <a:lnSpc>
                <a:spcPct val="90000"/>
              </a:lnSpc>
              <a:spcBef>
                <a:spcPts val="500"/>
              </a:spcBef>
              <a:spcAft>
                <a:spcPts val="0"/>
              </a:spcAft>
              <a:buClr>
                <a:schemeClr val="dk1"/>
              </a:buClr>
              <a:buSzPts val="1300"/>
              <a:buNone/>
            </a:pPr>
            <a:endParaRPr sz="1300"/>
          </a:p>
        </p:txBody>
      </p:sp>
      <p:cxnSp>
        <p:nvCxnSpPr>
          <p:cNvPr id="144" name="Google Shape;144;p2"/>
          <p:cNvCxnSpPr/>
          <p:nvPr/>
        </p:nvCxnSpPr>
        <p:spPr>
          <a:xfrm rot="10800000">
            <a:off x="838200" y="6485313"/>
            <a:ext cx="10515600" cy="0"/>
          </a:xfrm>
          <a:prstGeom prst="straightConnector1">
            <a:avLst/>
          </a:prstGeom>
          <a:noFill/>
          <a:ln w="57150" cap="flat" cmpd="sng">
            <a:solidFill>
              <a:schemeClr val="accent4"/>
            </a:solidFill>
            <a:prstDash val="solid"/>
            <a:miter lim="800000"/>
            <a:headEnd type="none" w="sm" len="sm"/>
            <a:tailEnd type="none" w="sm" len="sm"/>
          </a:ln>
        </p:spPr>
      </p:cxnSp>
    </p:spTree>
    <p:extLst>
      <p:ext uri="{BB962C8B-B14F-4D97-AF65-F5344CB8AC3E}">
        <p14:creationId xmlns:p14="http://schemas.microsoft.com/office/powerpoint/2010/main" val="2261095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8"/>
        <p:cNvGrpSpPr/>
        <p:nvPr/>
      </p:nvGrpSpPr>
      <p:grpSpPr>
        <a:xfrm>
          <a:off x="0" y="0"/>
          <a:ext cx="0" cy="0"/>
          <a:chOff x="0" y="0"/>
          <a:chExt cx="0" cy="0"/>
        </a:xfrm>
      </p:grpSpPr>
      <p:sp>
        <p:nvSpPr>
          <p:cNvPr id="149" name="Google Shape;149;p3"/>
          <p:cNvSpPr/>
          <p:nvPr/>
        </p:nvSpPr>
        <p:spPr>
          <a:xfrm>
            <a:off x="8119870" y="643467"/>
            <a:ext cx="3424430" cy="557318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50" name="Google Shape;150;p3"/>
          <p:cNvSpPr txBox="1">
            <a:spLocks noGrp="1"/>
          </p:cNvSpPr>
          <p:nvPr>
            <p:ph type="title"/>
          </p:nvPr>
        </p:nvSpPr>
        <p:spPr>
          <a:xfrm>
            <a:off x="8384458" y="996950"/>
            <a:ext cx="2969342" cy="502849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a:solidFill>
                  <a:srgbClr val="FFFFFF"/>
                </a:solidFill>
              </a:rPr>
              <a:t>Opening</a:t>
            </a:r>
            <a:endParaRPr/>
          </a:p>
        </p:txBody>
      </p:sp>
      <p:sp>
        <p:nvSpPr>
          <p:cNvPr id="151" name="Google Shape;151;p3"/>
          <p:cNvSpPr txBox="1">
            <a:spLocks noGrp="1"/>
          </p:cNvSpPr>
          <p:nvPr>
            <p:ph type="body" idx="1"/>
          </p:nvPr>
        </p:nvSpPr>
        <p:spPr>
          <a:xfrm>
            <a:off x="228600" y="3145875"/>
            <a:ext cx="7810500" cy="3540674"/>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1200"/>
              <a:buChar char="•"/>
            </a:pPr>
            <a:r>
              <a:rPr lang="en-US" sz="1200"/>
              <a:t>Open the call using breaking rapport tonality if on an outbound call. Sound happy to be working here, the customer hears your tonality and feels what you feel.</a:t>
            </a:r>
            <a:endParaRPr/>
          </a:p>
          <a:p>
            <a:pPr marL="228600" lvl="0" indent="-228600" algn="l" rtl="0">
              <a:lnSpc>
                <a:spcPct val="90000"/>
              </a:lnSpc>
              <a:spcBef>
                <a:spcPts val="1000"/>
              </a:spcBef>
              <a:spcAft>
                <a:spcPts val="0"/>
              </a:spcAft>
              <a:buClr>
                <a:schemeClr val="dk1"/>
              </a:buClr>
              <a:buSzPts val="1200"/>
              <a:buChar char="•"/>
            </a:pPr>
            <a:r>
              <a:rPr lang="en-US" sz="1200"/>
              <a:t>Open the call at a slow steady pace, it is counterintuitive, but people are more likely to listen if you aren’t rushing your words out before they hang up. </a:t>
            </a:r>
            <a:endParaRPr/>
          </a:p>
          <a:p>
            <a:pPr marL="228600" lvl="0" indent="-228600" algn="l" rtl="0">
              <a:lnSpc>
                <a:spcPct val="90000"/>
              </a:lnSpc>
              <a:spcBef>
                <a:spcPts val="1000"/>
              </a:spcBef>
              <a:spcAft>
                <a:spcPts val="0"/>
              </a:spcAft>
              <a:buClr>
                <a:schemeClr val="dk1"/>
              </a:buClr>
              <a:buSzPts val="1200"/>
              <a:buChar char="•"/>
            </a:pPr>
            <a:r>
              <a:rPr lang="en-US" sz="1200"/>
              <a:t>Assume it is the customer you are speaking with, do not ask for them or give them the opportunity to tell you an excuse that it is not them.</a:t>
            </a:r>
            <a:endParaRPr/>
          </a:p>
          <a:p>
            <a:pPr marL="228600" lvl="0" indent="-228600" algn="l" rtl="0">
              <a:lnSpc>
                <a:spcPct val="90000"/>
              </a:lnSpc>
              <a:spcBef>
                <a:spcPts val="1000"/>
              </a:spcBef>
              <a:spcAft>
                <a:spcPts val="0"/>
              </a:spcAft>
              <a:buClr>
                <a:schemeClr val="dk1"/>
              </a:buClr>
              <a:buSzPts val="1200"/>
              <a:buChar char="•"/>
            </a:pPr>
            <a:r>
              <a:rPr lang="en-US" sz="1200"/>
              <a:t>If the opposite gender answers assume it’s the spouse and continue. They will tell you if it is not correct information</a:t>
            </a:r>
            <a:endParaRPr/>
          </a:p>
          <a:p>
            <a:pPr marL="228600" lvl="0" indent="-228600" algn="l" rtl="0">
              <a:lnSpc>
                <a:spcPct val="90000"/>
              </a:lnSpc>
              <a:spcBef>
                <a:spcPts val="1000"/>
              </a:spcBef>
              <a:spcAft>
                <a:spcPts val="0"/>
              </a:spcAft>
              <a:buClr>
                <a:schemeClr val="dk1"/>
              </a:buClr>
              <a:buSzPts val="1200"/>
              <a:buChar char="•"/>
            </a:pPr>
            <a:r>
              <a:rPr lang="en-US" sz="1200"/>
              <a:t>When the customer goes off on a tangent about their situation do not dig deeper into it as this will make the call a mess, instead acknowledge what they say, respond with a redirect, and continue.</a:t>
            </a:r>
            <a:endParaRPr/>
          </a:p>
          <a:p>
            <a:pPr marL="228600" lvl="0" indent="-228600" algn="l" rtl="0">
              <a:lnSpc>
                <a:spcPct val="90000"/>
              </a:lnSpc>
              <a:spcBef>
                <a:spcPts val="1000"/>
              </a:spcBef>
              <a:spcAft>
                <a:spcPts val="0"/>
              </a:spcAft>
              <a:buClr>
                <a:schemeClr val="dk1"/>
              </a:buClr>
              <a:buSzPts val="1200"/>
              <a:buChar char="•"/>
            </a:pPr>
            <a:r>
              <a:rPr lang="en-US" sz="1200"/>
              <a:t>Say Yourself/ Your family, VS Individual or Family Plan.</a:t>
            </a:r>
            <a:endParaRPr/>
          </a:p>
          <a:p>
            <a:pPr marL="685800" lvl="1" indent="-228600" algn="l" rtl="0">
              <a:lnSpc>
                <a:spcPct val="90000"/>
              </a:lnSpc>
              <a:spcBef>
                <a:spcPts val="500"/>
              </a:spcBef>
              <a:spcAft>
                <a:spcPts val="0"/>
              </a:spcAft>
              <a:buClr>
                <a:schemeClr val="dk1"/>
              </a:buClr>
              <a:buSzPts val="1200"/>
              <a:buChar char="•"/>
            </a:pPr>
            <a:r>
              <a:rPr lang="en-US" sz="1200"/>
              <a:t>1. Everyone else at all the other call centers are saying individual or family everywhere else, this makes us different.</a:t>
            </a:r>
            <a:endParaRPr/>
          </a:p>
          <a:p>
            <a:pPr marL="685800" lvl="1" indent="-228600" algn="l" rtl="0">
              <a:lnSpc>
                <a:spcPct val="90000"/>
              </a:lnSpc>
              <a:spcBef>
                <a:spcPts val="500"/>
              </a:spcBef>
              <a:spcAft>
                <a:spcPts val="0"/>
              </a:spcAft>
              <a:buClr>
                <a:schemeClr val="dk1"/>
              </a:buClr>
              <a:buSzPts val="1200"/>
              <a:buChar char="•"/>
            </a:pPr>
            <a:r>
              <a:rPr lang="en-US" sz="1200"/>
              <a:t>2. This will immediately let you know if they are looking for someone else that may not even be there and can avoid wasting time if they aren’t the payor. Example: a friend who is just gathering information and is not the payor. Be sure to do a very solid prequal to find out if they would pay for it, if the payor is near by. (Don’t call them the payor on the phone.)</a:t>
            </a:r>
            <a:endParaRPr/>
          </a:p>
          <a:p>
            <a:pPr marL="228600" lvl="0" indent="-152400" algn="l" rtl="0">
              <a:lnSpc>
                <a:spcPct val="90000"/>
              </a:lnSpc>
              <a:spcBef>
                <a:spcPts val="1000"/>
              </a:spcBef>
              <a:spcAft>
                <a:spcPts val="0"/>
              </a:spcAft>
              <a:buClr>
                <a:schemeClr val="dk1"/>
              </a:buClr>
              <a:buSzPts val="1200"/>
              <a:buNone/>
            </a:pPr>
            <a:endParaRPr sz="1200"/>
          </a:p>
        </p:txBody>
      </p:sp>
      <p:cxnSp>
        <p:nvCxnSpPr>
          <p:cNvPr id="152" name="Google Shape;152;p3"/>
          <p:cNvCxnSpPr/>
          <p:nvPr/>
        </p:nvCxnSpPr>
        <p:spPr>
          <a:xfrm>
            <a:off x="622392" y="3033751"/>
            <a:ext cx="6994812" cy="0"/>
          </a:xfrm>
          <a:prstGeom prst="straightConnector1">
            <a:avLst/>
          </a:prstGeom>
          <a:noFill/>
          <a:ln w="9525" cap="flat" cmpd="sng">
            <a:solidFill>
              <a:schemeClr val="accent1"/>
            </a:solidFill>
            <a:prstDash val="solid"/>
            <a:miter lim="800000"/>
            <a:headEnd type="none" w="sm" len="sm"/>
            <a:tailEnd type="none" w="sm" len="sm"/>
          </a:ln>
        </p:spPr>
      </p:cxnSp>
      <p:pic>
        <p:nvPicPr>
          <p:cNvPr id="153" name="Google Shape;153;p3"/>
          <p:cNvPicPr preferRelativeResize="0"/>
          <p:nvPr/>
        </p:nvPicPr>
        <p:blipFill rotWithShape="1">
          <a:blip r:embed="rId3">
            <a:alphaModFix/>
          </a:blip>
          <a:srcRect/>
          <a:stretch/>
        </p:blipFill>
        <p:spPr>
          <a:xfrm>
            <a:off x="647700" y="671241"/>
            <a:ext cx="7058025" cy="590550"/>
          </a:xfrm>
          <a:prstGeom prst="rect">
            <a:avLst/>
          </a:prstGeom>
          <a:noFill/>
          <a:ln>
            <a:noFill/>
          </a:ln>
        </p:spPr>
      </p:pic>
      <p:pic>
        <p:nvPicPr>
          <p:cNvPr id="154" name="Google Shape;154;p3"/>
          <p:cNvPicPr preferRelativeResize="0"/>
          <p:nvPr/>
        </p:nvPicPr>
        <p:blipFill rotWithShape="1">
          <a:blip r:embed="rId4">
            <a:alphaModFix/>
          </a:blip>
          <a:srcRect/>
          <a:stretch/>
        </p:blipFill>
        <p:spPr>
          <a:xfrm>
            <a:off x="622392" y="1444009"/>
            <a:ext cx="6877050" cy="647700"/>
          </a:xfrm>
          <a:prstGeom prst="rect">
            <a:avLst/>
          </a:prstGeom>
          <a:noFill/>
          <a:ln>
            <a:noFill/>
          </a:ln>
        </p:spPr>
      </p:pic>
    </p:spTree>
    <p:extLst>
      <p:ext uri="{BB962C8B-B14F-4D97-AF65-F5344CB8AC3E}">
        <p14:creationId xmlns:p14="http://schemas.microsoft.com/office/powerpoint/2010/main" val="471221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8"/>
        <p:cNvGrpSpPr/>
        <p:nvPr/>
      </p:nvGrpSpPr>
      <p:grpSpPr>
        <a:xfrm>
          <a:off x="0" y="0"/>
          <a:ext cx="0" cy="0"/>
          <a:chOff x="0" y="0"/>
          <a:chExt cx="0" cy="0"/>
        </a:xfrm>
      </p:grpSpPr>
      <p:sp>
        <p:nvSpPr>
          <p:cNvPr id="159" name="Google Shape;159;p5"/>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0" name="Google Shape;160;p5"/>
          <p:cNvSpPr txBox="1">
            <a:spLocks noGrp="1"/>
          </p:cNvSpPr>
          <p:nvPr>
            <p:ph type="title"/>
          </p:nvPr>
        </p:nvSpPr>
        <p:spPr>
          <a:xfrm>
            <a:off x="1113810" y="2960716"/>
            <a:ext cx="4036334" cy="23876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a:solidFill>
                  <a:schemeClr val="dk1"/>
                </a:solidFill>
                <a:latin typeface="Calibri"/>
                <a:ea typeface="Calibri"/>
                <a:cs typeface="Calibri"/>
                <a:sym typeface="Calibri"/>
              </a:rPr>
              <a:t>Outbound Opening Objections</a:t>
            </a:r>
            <a:endParaRPr/>
          </a:p>
        </p:txBody>
      </p:sp>
      <p:grpSp>
        <p:nvGrpSpPr>
          <p:cNvPr id="161" name="Google Shape;161;p5"/>
          <p:cNvGrpSpPr/>
          <p:nvPr/>
        </p:nvGrpSpPr>
        <p:grpSpPr>
          <a:xfrm>
            <a:off x="0" y="2984992"/>
            <a:ext cx="731521" cy="673460"/>
            <a:chOff x="3940602" y="308034"/>
            <a:chExt cx="2116791" cy="3428999"/>
          </a:xfrm>
        </p:grpSpPr>
        <p:sp>
          <p:nvSpPr>
            <p:cNvPr id="162" name="Google Shape;162;p5"/>
            <p:cNvSpPr/>
            <p:nvPr/>
          </p:nvSpPr>
          <p:spPr>
            <a:xfrm>
              <a:off x="3940602"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3" name="Google Shape;163;p5"/>
            <p:cNvSpPr/>
            <p:nvPr/>
          </p:nvSpPr>
          <p:spPr>
            <a:xfrm>
              <a:off x="4715626"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 name="Google Shape;164;p5"/>
            <p:cNvSpPr/>
            <p:nvPr/>
          </p:nvSpPr>
          <p:spPr>
            <a:xfrm>
              <a:off x="5490650"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65" name="Google Shape;165;p5"/>
          <p:cNvSpPr/>
          <p:nvPr/>
        </p:nvSpPr>
        <p:spPr>
          <a:xfrm flipH="1">
            <a:off x="10697670" y="0"/>
            <a:ext cx="1494330" cy="6858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 name="Google Shape;166;p5"/>
          <p:cNvSpPr/>
          <p:nvPr/>
        </p:nvSpPr>
        <p:spPr>
          <a:xfrm>
            <a:off x="5685810" y="391886"/>
            <a:ext cx="6009366" cy="6017078"/>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67" name="Google Shape;167;p5"/>
          <p:cNvPicPr preferRelativeResize="0"/>
          <p:nvPr/>
        </p:nvPicPr>
        <p:blipFill rotWithShape="1">
          <a:blip r:embed="rId3">
            <a:alphaModFix/>
          </a:blip>
          <a:srcRect/>
          <a:stretch/>
        </p:blipFill>
        <p:spPr>
          <a:xfrm>
            <a:off x="6422190" y="666728"/>
            <a:ext cx="4536605" cy="5465791"/>
          </a:xfrm>
          <a:prstGeom prst="rect">
            <a:avLst/>
          </a:prstGeom>
          <a:noFill/>
          <a:ln>
            <a:noFill/>
          </a:ln>
        </p:spPr>
      </p:pic>
    </p:spTree>
    <p:extLst>
      <p:ext uri="{BB962C8B-B14F-4D97-AF65-F5344CB8AC3E}">
        <p14:creationId xmlns:p14="http://schemas.microsoft.com/office/powerpoint/2010/main" val="3457151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1"/>
        <p:cNvGrpSpPr/>
        <p:nvPr/>
      </p:nvGrpSpPr>
      <p:grpSpPr>
        <a:xfrm>
          <a:off x="0" y="0"/>
          <a:ext cx="0" cy="0"/>
          <a:chOff x="0" y="0"/>
          <a:chExt cx="0" cy="0"/>
        </a:xfrm>
      </p:grpSpPr>
      <p:sp>
        <p:nvSpPr>
          <p:cNvPr id="172" name="Google Shape;172;p6"/>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6"/>
          <p:cNvSpPr txBox="1">
            <a:spLocks noGrp="1"/>
          </p:cNvSpPr>
          <p:nvPr>
            <p:ph type="title"/>
          </p:nvPr>
        </p:nvSpPr>
        <p:spPr>
          <a:xfrm>
            <a:off x="645064" y="525982"/>
            <a:ext cx="4282983" cy="1200361"/>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a:solidFill>
                  <a:schemeClr val="dk1"/>
                </a:solidFill>
                <a:latin typeface="Calibri"/>
                <a:ea typeface="Calibri"/>
                <a:cs typeface="Calibri"/>
                <a:sym typeface="Calibri"/>
              </a:rPr>
              <a:t>Prequalify</a:t>
            </a:r>
            <a:endParaRPr/>
          </a:p>
        </p:txBody>
      </p:sp>
      <p:sp>
        <p:nvSpPr>
          <p:cNvPr id="174" name="Google Shape;174;p6"/>
          <p:cNvSpPr/>
          <p:nvPr/>
        </p:nvSpPr>
        <p:spPr>
          <a:xfrm flipH="1">
            <a:off x="616533" y="1944913"/>
            <a:ext cx="4023360" cy="2743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5" name="Google Shape;175;p6"/>
          <p:cNvSpPr txBox="1"/>
          <p:nvPr/>
        </p:nvSpPr>
        <p:spPr>
          <a:xfrm>
            <a:off x="310234" y="1543574"/>
            <a:ext cx="4617817" cy="3999471"/>
          </a:xfrm>
          <a:prstGeom prst="rect">
            <a:avLst/>
          </a:prstGeom>
          <a:noFill/>
          <a:ln>
            <a:noFill/>
          </a:ln>
        </p:spPr>
        <p:txBody>
          <a:bodyPr spcFirstLastPara="1" wrap="square" lIns="91425" tIns="45700" rIns="91425" bIns="45700" anchor="ctr" anchorCtr="0">
            <a:normAutofit lnSpcReduction="10000"/>
          </a:bodyPr>
          <a:lstStyle/>
          <a:p>
            <a:pPr marL="285750" marR="0" lvl="0" indent="-228600" algn="l" rtl="0">
              <a:lnSpc>
                <a:spcPct val="90000"/>
              </a:lnSpc>
              <a:spcBef>
                <a:spcPts val="0"/>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This is the section is Conversational. Talking back and forth</a:t>
            </a:r>
            <a:endParaRPr/>
          </a:p>
          <a:p>
            <a:pPr marL="285750" marR="0" lvl="0" indent="-228600" algn="l" rtl="0">
              <a:lnSpc>
                <a:spcPct val="90000"/>
              </a:lnSpc>
              <a:spcBef>
                <a:spcPts val="600"/>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You want to gather information to determine eligibility and at the same time listen to the customers needs, buying points, and medical information which can be used to determine the best plan.</a:t>
            </a:r>
            <a:endParaRPr/>
          </a:p>
          <a:p>
            <a:pPr marL="285750" marR="0" lvl="0" indent="-228600" algn="l" rtl="0">
              <a:lnSpc>
                <a:spcPct val="90000"/>
              </a:lnSpc>
              <a:spcBef>
                <a:spcPts val="600"/>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Once we are out of the prequalify section, we will be switching the speaking to more of a 90% talking 10% listening</a:t>
            </a:r>
            <a:endParaRPr/>
          </a:p>
          <a:p>
            <a:pPr marL="285750" marR="0" lvl="0" indent="-228600" algn="l" rtl="0">
              <a:lnSpc>
                <a:spcPct val="90000"/>
              </a:lnSpc>
              <a:spcBef>
                <a:spcPts val="600"/>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They more information you get them to tell you, the more they will buy into the process, the easier of a sale you will create, however, if you let them go too far off on a tangent it will hurt the sale.</a:t>
            </a:r>
            <a:endParaRPr/>
          </a:p>
          <a:p>
            <a:pPr marL="285750" marR="0" lvl="0" indent="-228600" algn="l" rtl="0">
              <a:lnSpc>
                <a:spcPct val="90000"/>
              </a:lnSpc>
              <a:spcBef>
                <a:spcPts val="600"/>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This section shouldn’t take more than 5-10 minutes before you’re tying them down on a price. If you are exceeding 10 minutes you're doing it wrong. If you are tired of getting to the money and then getting tons of objections after they sounded good throughout the call, this is why. If you do this part and the tie down correctly, 90% of your sales will be lay downs and 10% will need rebuttals.</a:t>
            </a:r>
            <a:endParaRPr/>
          </a:p>
          <a:p>
            <a:pPr marL="285750" marR="0" lvl="0" indent="-228600" algn="l" rtl="0">
              <a:lnSpc>
                <a:spcPct val="90000"/>
              </a:lnSpc>
              <a:spcBef>
                <a:spcPts val="600"/>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If they say they want Medicaid, say no problem I can help you see if you qualify for that. GO RIGHT BACK TO THE SCRIPT AND READ IT WORD FOR WORD, in the next section where you ask their annual income just tell them they unfortunately do not qualify for Medicaid because their income is too high, or because they are only accepting pregnant women at this time (depending on who you are talking to) and then tell them however I do see that you may qualify for a health insurance policy at a discounted rate due to their income level and give them the lowest price range you can offer in that state and get them to commit to it.</a:t>
            </a:r>
            <a:endParaRPr/>
          </a:p>
        </p:txBody>
      </p:sp>
      <p:sp>
        <p:nvSpPr>
          <p:cNvPr id="176" name="Google Shape;176;p6"/>
          <p:cNvSpPr/>
          <p:nvPr/>
        </p:nvSpPr>
        <p:spPr>
          <a:xfrm rot="5400000">
            <a:off x="-225843" y="6053360"/>
            <a:ext cx="740664" cy="15412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7" name="Google Shape;177;p6"/>
          <p:cNvSpPr/>
          <p:nvPr/>
        </p:nvSpPr>
        <p:spPr>
          <a:xfrm rot="5400000">
            <a:off x="5904923" y="215201"/>
            <a:ext cx="740664" cy="1183349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 name="Google Shape;178;p6"/>
          <p:cNvSpPr/>
          <p:nvPr/>
        </p:nvSpPr>
        <p:spPr>
          <a:xfrm>
            <a:off x="5696793" y="354959"/>
            <a:ext cx="6184973" cy="5915212"/>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dirty="0">
                <a:latin typeface="Roboto"/>
                <a:ea typeface="Roboto"/>
                <a:cs typeface="Roboto"/>
              </a:rPr>
              <a:t>Pre </a:t>
            </a:r>
            <a:r>
              <a:rPr lang="en-US" sz="2000" b="0" dirty="0" err="1">
                <a:latin typeface="Roboto"/>
                <a:ea typeface="Roboto"/>
                <a:cs typeface="Roboto"/>
              </a:rPr>
              <a:t>Qualification</a:t>
            </a:r>
            <a:r>
              <a:rPr lang="en-US" sz="1100" dirty="0" err="1">
                <a:latin typeface="Roboto"/>
                <a:ea typeface="Roboto"/>
                <a:cs typeface="Roboto"/>
              </a:rPr>
              <a:t>Central</a:t>
            </a:r>
            <a:r>
              <a:rPr lang="en-US" sz="1100" dirty="0">
                <a:latin typeface="Roboto"/>
                <a:ea typeface="Roboto"/>
                <a:cs typeface="Roboto"/>
              </a:rPr>
              <a:t> Health Advisors, this is </a:t>
            </a:r>
            <a:r>
              <a:rPr lang="en-US" sz="1200" dirty="0">
                <a:solidFill>
                  <a:srgbClr val="CC0000"/>
                </a:solidFill>
                <a:latin typeface="Roboto"/>
                <a:ea typeface="Roboto"/>
                <a:cs typeface="Roboto"/>
              </a:rPr>
              <a:t>(FIRST AND LAST NAME)</a:t>
            </a:r>
            <a:r>
              <a:rPr lang="en-US" sz="1100" dirty="0">
                <a:latin typeface="Roboto"/>
                <a:ea typeface="Roboto"/>
                <a:cs typeface="Roboto"/>
              </a:rPr>
              <a:t>. I’ll be your licensed health insurance agent assisting you today. Please note that this call may be recorded for training and quality assurance.</a:t>
            </a:r>
            <a:br>
              <a:rPr lang="en-US" dirty="0"/>
            </a:br>
            <a:r>
              <a:rPr lang="en-US" sz="1100" dirty="0">
                <a:latin typeface="Roboto"/>
                <a:ea typeface="Roboto"/>
                <a:cs typeface="Roboto"/>
              </a:rPr>
              <a:t>Were you looking for an individual or family plan TODAY? </a:t>
            </a:r>
            <a:br>
              <a:rPr lang="en-US" dirty="0"/>
            </a:br>
            <a:r>
              <a:rPr lang="en-US" sz="1200" dirty="0">
                <a:solidFill>
                  <a:srgbClr val="FF9900"/>
                </a:solidFill>
                <a:latin typeface="Roboto"/>
                <a:ea typeface="Roboto"/>
                <a:cs typeface="Roboto"/>
              </a:rPr>
              <a:t>(IF INDIVIDUAL)</a:t>
            </a:r>
            <a:r>
              <a:rPr lang="en-US" sz="1100" dirty="0">
                <a:latin typeface="Roboto"/>
                <a:ea typeface="Roboto"/>
                <a:cs typeface="Roboto"/>
              </a:rPr>
              <a:t> - (Move on to next question)</a:t>
            </a:r>
            <a:br>
              <a:rPr lang="en-US" dirty="0"/>
            </a:br>
            <a:r>
              <a:rPr lang="en-US" sz="1200" dirty="0">
                <a:solidFill>
                  <a:srgbClr val="FF9900"/>
                </a:solidFill>
                <a:latin typeface="Roboto"/>
                <a:ea typeface="Roboto"/>
                <a:cs typeface="Roboto"/>
              </a:rPr>
              <a:t>(IF FAMILY)</a:t>
            </a:r>
            <a:r>
              <a:rPr lang="en-US" sz="1100" dirty="0">
                <a:latin typeface="Roboto"/>
                <a:ea typeface="Roboto"/>
                <a:cs typeface="Roboto"/>
              </a:rPr>
              <a:t> - And how many family members will be included onto the plan TODAY?</a:t>
            </a:r>
            <a:br>
              <a:rPr lang="en-US" dirty="0"/>
            </a:br>
            <a:r>
              <a:rPr lang="en-US" sz="1100" dirty="0">
                <a:latin typeface="Roboto"/>
                <a:ea typeface="Roboto"/>
                <a:cs typeface="Roboto"/>
              </a:rPr>
              <a:t>OK! GREAT! Now are you currently insured?</a:t>
            </a:r>
            <a:br>
              <a:rPr lang="en-US" dirty="0"/>
            </a:br>
            <a:r>
              <a:rPr lang="en-US" sz="1200" dirty="0">
                <a:solidFill>
                  <a:srgbClr val="38761D"/>
                </a:solidFill>
                <a:latin typeface="Roboto"/>
                <a:ea typeface="Roboto"/>
                <a:cs typeface="Roboto"/>
              </a:rPr>
              <a:t>✔ (IF YES)</a:t>
            </a:r>
            <a:r>
              <a:rPr lang="en-US" sz="1100" dirty="0">
                <a:latin typeface="Roboto"/>
                <a:ea typeface="Roboto"/>
                <a:cs typeface="Roboto"/>
              </a:rPr>
              <a:t> And do you have that plan through the state, Marketplace, or through your employer?</a:t>
            </a:r>
            <a:r>
              <a:rPr lang="en-US" sz="1200" dirty="0">
                <a:solidFill>
                  <a:srgbClr val="38761D"/>
                </a:solidFill>
                <a:latin typeface="Roboto"/>
                <a:ea typeface="Roboto"/>
                <a:cs typeface="Roboto"/>
              </a:rPr>
              <a:t>✔ (IF YES)</a:t>
            </a:r>
            <a:r>
              <a:rPr lang="en-US" sz="1100" dirty="0">
                <a:latin typeface="Roboto"/>
                <a:ea typeface="Roboto"/>
                <a:cs typeface="Roboto"/>
              </a:rPr>
              <a:t> And just so I know how to HELP you today, were you looking for better coverage, lower rates, or is your policy expiring? </a:t>
            </a:r>
            <a:br>
              <a:rPr lang="en-US" dirty="0"/>
            </a:br>
            <a:r>
              <a:rPr lang="en-US" sz="1200" i="1" dirty="0">
                <a:solidFill>
                  <a:srgbClr val="CC0000"/>
                </a:solidFill>
                <a:latin typeface="Roboto"/>
                <a:ea typeface="Roboto"/>
                <a:cs typeface="Roboto"/>
              </a:rPr>
              <a:t> ✖ </a:t>
            </a:r>
            <a:r>
              <a:rPr lang="en-US" sz="1200" dirty="0">
                <a:solidFill>
                  <a:srgbClr val="CC0000"/>
                </a:solidFill>
                <a:latin typeface="Roboto"/>
                <a:ea typeface="Roboto"/>
                <a:cs typeface="Roboto"/>
              </a:rPr>
              <a:t>(IF NO)</a:t>
            </a:r>
            <a:r>
              <a:rPr lang="en-US" sz="1200" i="1" dirty="0">
                <a:solidFill>
                  <a:srgbClr val="CC0000"/>
                </a:solidFill>
                <a:latin typeface="Roboto"/>
                <a:ea typeface="Roboto"/>
                <a:cs typeface="Roboto"/>
              </a:rPr>
              <a:t> </a:t>
            </a:r>
            <a:r>
              <a:rPr lang="en-US" sz="1100" dirty="0">
                <a:latin typeface="Roboto"/>
                <a:ea typeface="Roboto"/>
                <a:cs typeface="Roboto"/>
              </a:rPr>
              <a:t>Just so I know how to better HELP you, how long have you been without coverage?</a:t>
            </a:r>
            <a:br>
              <a:rPr lang="en-US" dirty="0"/>
            </a:br>
            <a:r>
              <a:rPr lang="en-US" sz="1100" dirty="0">
                <a:latin typeface="Roboto"/>
                <a:ea typeface="Roboto"/>
                <a:cs typeface="Roboto"/>
              </a:rPr>
              <a:t>Do you have any pre-existing medical conditions I should be aware of?</a:t>
            </a:r>
            <a:br>
              <a:rPr lang="en-US" dirty="0"/>
            </a:br>
            <a:r>
              <a:rPr lang="en-US" sz="1100" dirty="0">
                <a:latin typeface="Roboto"/>
                <a:ea typeface="Roboto"/>
                <a:cs typeface="Roboto"/>
              </a:rPr>
              <a:t>Are you currently taking any medications you’d like me to make sure are covered?</a:t>
            </a:r>
            <a:br>
              <a:rPr lang="en-US" dirty="0"/>
            </a:br>
            <a:r>
              <a:rPr lang="en-US" sz="1100" dirty="0">
                <a:latin typeface="Roboto"/>
                <a:ea typeface="Roboto"/>
                <a:cs typeface="Roboto"/>
              </a:rPr>
              <a:t>What is your Date of Birth?</a:t>
            </a:r>
            <a:br>
              <a:rPr lang="en-US" dirty="0"/>
            </a:br>
            <a:r>
              <a:rPr lang="en-US" sz="1100" dirty="0">
                <a:latin typeface="Roboto"/>
                <a:ea typeface="Roboto"/>
                <a:cs typeface="Roboto"/>
              </a:rPr>
              <a:t>Please verify your zip code?</a:t>
            </a:r>
            <a:br>
              <a:rPr lang="en-US" dirty="0"/>
            </a:br>
            <a:r>
              <a:rPr lang="en-US" sz="1100" dirty="0">
                <a:latin typeface="Roboto"/>
                <a:ea typeface="Roboto"/>
                <a:cs typeface="Roboto"/>
              </a:rPr>
              <a:t>Are you a tobacco user?</a:t>
            </a:r>
            <a:br>
              <a:rPr lang="en-US" dirty="0"/>
            </a:br>
            <a:r>
              <a:rPr lang="en-US" sz="1100" dirty="0">
                <a:latin typeface="Roboto"/>
                <a:ea typeface="Roboto"/>
                <a:cs typeface="Roboto"/>
              </a:rPr>
              <a:t>On average, how many times would you say that you go to the doctors on a yearly basis?</a:t>
            </a:r>
            <a:br>
              <a:rPr lang="en-US" dirty="0"/>
            </a:br>
            <a:r>
              <a:rPr lang="en-US" sz="1100" dirty="0">
                <a:latin typeface="Roboto"/>
                <a:ea typeface="Roboto"/>
                <a:cs typeface="Roboto"/>
              </a:rPr>
              <a:t>Do you have any doctors that you would like to keep in the network,  just so I can place you into a plan that they participate in? </a:t>
            </a:r>
            <a:br>
              <a:rPr lang="en-US" dirty="0"/>
            </a:br>
            <a:r>
              <a:rPr lang="en-US" sz="1100">
                <a:latin typeface="Roboto"/>
                <a:ea typeface="Roboto"/>
                <a:cs typeface="Roboto"/>
              </a:rPr>
              <a:t>Do you have any upcoming surgeries, procedures or any treatments scheduled?</a:t>
            </a:r>
            <a:br>
              <a:rPr lang="en-US" dirty="0"/>
            </a:br>
            <a:endParaRPr lang="en-US" sz="1200" dirty="0">
              <a:solidFill>
                <a:srgbClr val="FF9900"/>
              </a:solidFill>
              <a:latin typeface="Roboto"/>
              <a:ea typeface="Roboto"/>
              <a:cs typeface="Roboto"/>
            </a:endParaRPr>
          </a:p>
        </p:txBody>
      </p:sp>
    </p:spTree>
    <p:extLst>
      <p:ext uri="{BB962C8B-B14F-4D97-AF65-F5344CB8AC3E}">
        <p14:creationId xmlns:p14="http://schemas.microsoft.com/office/powerpoint/2010/main" val="1566130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4"/>
        <p:cNvGrpSpPr/>
        <p:nvPr/>
      </p:nvGrpSpPr>
      <p:grpSpPr>
        <a:xfrm>
          <a:off x="0" y="0"/>
          <a:ext cx="0" cy="0"/>
          <a:chOff x="0" y="0"/>
          <a:chExt cx="0" cy="0"/>
        </a:xfrm>
      </p:grpSpPr>
      <p:sp>
        <p:nvSpPr>
          <p:cNvPr id="185" name="Google Shape;185;p7"/>
          <p:cNvSpPr txBox="1">
            <a:spLocks noGrp="1"/>
          </p:cNvSpPr>
          <p:nvPr>
            <p:ph type="title" idx="4294967295"/>
          </p:nvPr>
        </p:nvSpPr>
        <p:spPr>
          <a:xfrm>
            <a:off x="105436" y="0"/>
            <a:ext cx="6986588" cy="931068"/>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a:t>Tie Down Price</a:t>
            </a:r>
            <a:endParaRPr/>
          </a:p>
        </p:txBody>
      </p:sp>
      <p:sp>
        <p:nvSpPr>
          <p:cNvPr id="186" name="Google Shape;186;p7"/>
          <p:cNvSpPr txBox="1">
            <a:spLocks noGrp="1"/>
          </p:cNvSpPr>
          <p:nvPr>
            <p:ph type="body" idx="4294967295"/>
          </p:nvPr>
        </p:nvSpPr>
        <p:spPr>
          <a:xfrm>
            <a:off x="0" y="751924"/>
            <a:ext cx="5229225" cy="5715551"/>
          </a:xfrm>
          <a:prstGeom prst="rect">
            <a:avLst/>
          </a:prstGeom>
          <a:noFill/>
          <a:ln>
            <a:noFill/>
          </a:ln>
        </p:spPr>
        <p:txBody>
          <a:bodyPr spcFirstLastPara="1" wrap="square" lIns="91425" tIns="45700" rIns="91425" bIns="45700" anchor="t" anchorCtr="0">
            <a:noAutofit/>
          </a:bodyPr>
          <a:lstStyle/>
          <a:p>
            <a:pPr marL="180594" lvl="0" indent="-180594" algn="l" rtl="0">
              <a:lnSpc>
                <a:spcPct val="90000"/>
              </a:lnSpc>
              <a:spcBef>
                <a:spcPts val="0"/>
              </a:spcBef>
              <a:spcAft>
                <a:spcPts val="0"/>
              </a:spcAft>
              <a:buClr>
                <a:schemeClr val="dk1"/>
              </a:buClr>
              <a:buSzPts val="1400"/>
              <a:buChar char="•"/>
            </a:pPr>
            <a:r>
              <a:rPr lang="en-US" sz="1400"/>
              <a:t>The first 4 questions we ask in the tie down section is for us to figure out their income. We ask them this way because that’s how the marketplace does it, people are used to answering these questions. The first 4 questions we ask in the tie down section is for us to figure out their income. We ask them this way because that’s how the marketplace does it people are use to answering these questions. </a:t>
            </a:r>
            <a:endParaRPr/>
          </a:p>
          <a:p>
            <a:pPr marL="228600" lvl="0" indent="-228600" algn="l" rtl="0">
              <a:lnSpc>
                <a:spcPct val="90000"/>
              </a:lnSpc>
              <a:spcBef>
                <a:spcPts val="1000"/>
              </a:spcBef>
              <a:spcAft>
                <a:spcPts val="0"/>
              </a:spcAft>
              <a:buClr>
                <a:schemeClr val="dk1"/>
              </a:buClr>
              <a:buSzPts val="1400"/>
              <a:buChar char="•"/>
            </a:pPr>
            <a:r>
              <a:rPr lang="en-US" sz="1400"/>
              <a:t>In this paragraph we are letting the customer know who we are, What we do, Why they no longer need to shop around, That we have a formula that works, We also build urgency by letting them know we are going to put them on hold which creates anticipation when we return. Ping your OK’s</a:t>
            </a:r>
            <a:endParaRPr/>
          </a:p>
          <a:p>
            <a:pPr marL="180594" lvl="0" indent="-180594" algn="l" rtl="0">
              <a:lnSpc>
                <a:spcPct val="90000"/>
              </a:lnSpc>
              <a:spcBef>
                <a:spcPts val="790"/>
              </a:spcBef>
              <a:spcAft>
                <a:spcPts val="0"/>
              </a:spcAft>
              <a:buClr>
                <a:schemeClr val="dk1"/>
              </a:buClr>
              <a:buSzPts val="1400"/>
              <a:buChar char="•"/>
            </a:pPr>
            <a:r>
              <a:rPr lang="en-US" sz="1400">
                <a:latin typeface="Calibri"/>
                <a:ea typeface="Calibri"/>
                <a:cs typeface="Calibri"/>
                <a:sym typeface="Calibri"/>
              </a:rPr>
              <a:t>When you ask for the budget, it is imperative that you get THEM to TELL YOU what is affordable. If you put the words in their mouth instead of them telling you it will not have nearly the same effect.</a:t>
            </a:r>
            <a:endParaRPr/>
          </a:p>
          <a:p>
            <a:pPr marL="180594" lvl="0" indent="-180594" algn="l" rtl="0">
              <a:lnSpc>
                <a:spcPct val="90000"/>
              </a:lnSpc>
              <a:spcBef>
                <a:spcPts val="790"/>
              </a:spcBef>
              <a:spcAft>
                <a:spcPts val="0"/>
              </a:spcAft>
              <a:buClr>
                <a:schemeClr val="dk1"/>
              </a:buClr>
              <a:buSzPts val="1400"/>
              <a:buChar char="•"/>
            </a:pPr>
            <a:r>
              <a:rPr lang="en-US" sz="1400">
                <a:latin typeface="Calibri"/>
                <a:ea typeface="Calibri"/>
                <a:cs typeface="Calibri"/>
                <a:sym typeface="Calibri"/>
              </a:rPr>
              <a:t>If the customer is telling you they want the cheapest thing possible or they do not know what the plans go for, rather than being combative and trying to force a number out of them, we will tell them we’r</a:t>
            </a:r>
            <a:r>
              <a:rPr lang="en-US" sz="1400"/>
              <a:t>e going to start with the most affordable option and go from there. This seems to work better for a few reasons.</a:t>
            </a:r>
            <a:endParaRPr/>
          </a:p>
          <a:p>
            <a:pPr marL="637794" lvl="1" indent="-180594" algn="l" rtl="0">
              <a:lnSpc>
                <a:spcPct val="90000"/>
              </a:lnSpc>
              <a:spcBef>
                <a:spcPts val="790"/>
              </a:spcBef>
              <a:spcAft>
                <a:spcPts val="0"/>
              </a:spcAft>
              <a:buClr>
                <a:schemeClr val="dk1"/>
              </a:buClr>
              <a:buSzPts val="1000"/>
              <a:buChar char="•"/>
            </a:pPr>
            <a:r>
              <a:rPr lang="en-US" sz="1000">
                <a:latin typeface="Calibri"/>
                <a:ea typeface="Calibri"/>
                <a:cs typeface="Calibri"/>
                <a:sym typeface="Calibri"/>
              </a:rPr>
              <a:t>Sometimes they just don’t know what they cost</a:t>
            </a:r>
            <a:endParaRPr/>
          </a:p>
          <a:p>
            <a:pPr marL="637794" lvl="1" indent="-180594" algn="l" rtl="0">
              <a:lnSpc>
                <a:spcPct val="90000"/>
              </a:lnSpc>
              <a:spcBef>
                <a:spcPts val="790"/>
              </a:spcBef>
              <a:spcAft>
                <a:spcPts val="0"/>
              </a:spcAft>
              <a:buClr>
                <a:schemeClr val="dk1"/>
              </a:buClr>
              <a:buSzPts val="1000"/>
              <a:buChar char="•"/>
            </a:pPr>
            <a:r>
              <a:rPr lang="en-US" sz="1000"/>
              <a:t>Sometimes they just need to see the value first</a:t>
            </a:r>
            <a:endParaRPr/>
          </a:p>
          <a:p>
            <a:pPr marL="637794" lvl="1" indent="-180594" algn="l" rtl="0">
              <a:lnSpc>
                <a:spcPct val="90000"/>
              </a:lnSpc>
              <a:spcBef>
                <a:spcPts val="790"/>
              </a:spcBef>
              <a:spcAft>
                <a:spcPts val="0"/>
              </a:spcAft>
              <a:buClr>
                <a:schemeClr val="dk1"/>
              </a:buClr>
              <a:buSzPts val="1000"/>
              <a:buChar char="•"/>
            </a:pPr>
            <a:r>
              <a:rPr lang="en-US" sz="1000">
                <a:latin typeface="Calibri"/>
                <a:ea typeface="Calibri"/>
                <a:cs typeface="Calibri"/>
                <a:sym typeface="Calibri"/>
              </a:rPr>
              <a:t>Sometimes they can afford more than they are leading on</a:t>
            </a:r>
            <a:endParaRPr/>
          </a:p>
          <a:p>
            <a:pPr marL="180594" lvl="0" indent="-180594" algn="l" rtl="0">
              <a:lnSpc>
                <a:spcPct val="90000"/>
              </a:lnSpc>
              <a:spcBef>
                <a:spcPts val="790"/>
              </a:spcBef>
              <a:spcAft>
                <a:spcPts val="0"/>
              </a:spcAft>
              <a:buClr>
                <a:schemeClr val="dk1"/>
              </a:buClr>
              <a:buSzPts val="1400"/>
              <a:buChar char="•"/>
            </a:pPr>
            <a:r>
              <a:rPr lang="en-US" sz="1400"/>
              <a:t>Make sure you are putting the state in the drop down as soon as you know their zip code </a:t>
            </a:r>
            <a:endParaRPr/>
          </a:p>
        </p:txBody>
      </p:sp>
      <p:sp>
        <p:nvSpPr>
          <p:cNvPr id="2" name="TextBox 1">
            <a:extLst>
              <a:ext uri="{FF2B5EF4-FFF2-40B4-BE49-F238E27FC236}">
                <a16:creationId xmlns:a16="http://schemas.microsoft.com/office/drawing/2014/main" id="{AC1E9F9A-EDFC-764E-E03E-768B2299CB3C}"/>
              </a:ext>
            </a:extLst>
          </p:cNvPr>
          <p:cNvSpPr txBox="1"/>
          <p:nvPr/>
        </p:nvSpPr>
        <p:spPr>
          <a:xfrm>
            <a:off x="6434666" y="677333"/>
            <a:ext cx="4826000" cy="19851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Roboto"/>
                <a:ea typeface="Roboto"/>
                <a:cs typeface="Roboto"/>
              </a:rPr>
              <a:t>Perfect! Now to see if you may qualify for any state programs or any government subsidies, how much money do you make on a yearly basis BEFORE TAX?</a:t>
            </a:r>
            <a:br>
              <a:rPr lang="en-US" sz="1100" dirty="0">
                <a:latin typeface="Roboto"/>
                <a:ea typeface="Roboto"/>
                <a:cs typeface="Roboto"/>
              </a:rPr>
            </a:br>
            <a:r>
              <a:rPr lang="en-US" sz="1100">
                <a:latin typeface="Roboto"/>
                <a:ea typeface="Roboto"/>
                <a:cs typeface="Roboto"/>
              </a:rPr>
              <a:t>Is there a monthly price range you’re hoping to stay within so I can narrow down the best options?</a:t>
            </a:r>
            <a:br>
              <a:rPr lang="en-US" sz="1100" dirty="0">
                <a:latin typeface="Roboto"/>
                <a:ea typeface="Roboto"/>
                <a:cs typeface="Roboto"/>
              </a:rPr>
            </a:br>
            <a:r>
              <a:rPr lang="en-US" sz="1100">
                <a:latin typeface="Roboto"/>
                <a:ea typeface="Roboto"/>
                <a:cs typeface="Roboto"/>
              </a:rPr>
              <a:t>Excellent. Assuming we find the right fit, how soon would you like your coverage to begin?</a:t>
            </a:r>
            <a:br>
              <a:rPr lang="en-US" sz="1100" dirty="0">
                <a:latin typeface="Roboto"/>
                <a:ea typeface="Roboto"/>
                <a:cs typeface="Roboto"/>
              </a:rPr>
            </a:br>
            <a:r>
              <a:rPr lang="en-US" sz="1100">
                <a:latin typeface="Roboto"/>
                <a:ea typeface="Roboto"/>
                <a:cs typeface="Roboto"/>
              </a:rPr>
              <a:t>Perfect. I’m going to submit your information into my system now so I can pull up all of your available options. Give me about 30 to 60 seconds while I review everything, and I’ll be right back with you.</a:t>
            </a:r>
            <a:r>
              <a:rPr lang="en-US" sz="1200">
                <a:solidFill>
                  <a:srgbClr val="FF9900"/>
                </a:solidFill>
                <a:latin typeface="Roboto"/>
                <a:ea typeface="Roboto"/>
                <a:cs typeface="Roboto"/>
              </a:rPr>
              <a:t>(THIS IS THE SIZZLE!!!!)</a:t>
            </a:r>
            <a:endParaRPr lang="en-US"/>
          </a:p>
        </p:txBody>
      </p:sp>
    </p:spTree>
    <p:extLst>
      <p:ext uri="{BB962C8B-B14F-4D97-AF65-F5344CB8AC3E}">
        <p14:creationId xmlns:p14="http://schemas.microsoft.com/office/powerpoint/2010/main" val="2139333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8"/>
          <p:cNvSpPr txBox="1"/>
          <p:nvPr/>
        </p:nvSpPr>
        <p:spPr>
          <a:xfrm>
            <a:off x="105436" y="0"/>
            <a:ext cx="6986588" cy="931068"/>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5400"/>
              <a:buFont typeface="Calibri"/>
              <a:buNone/>
            </a:pPr>
            <a:r>
              <a:rPr lang="en-US" sz="5400">
                <a:solidFill>
                  <a:schemeClr val="dk1"/>
                </a:solidFill>
                <a:latin typeface="Calibri"/>
                <a:ea typeface="Calibri"/>
                <a:cs typeface="Calibri"/>
                <a:sym typeface="Calibri"/>
              </a:rPr>
              <a:t>Tie Down Price</a:t>
            </a:r>
            <a:endParaRPr sz="5400">
              <a:solidFill>
                <a:schemeClr val="dk1"/>
              </a:solidFill>
              <a:latin typeface="Calibri"/>
              <a:ea typeface="Calibri"/>
              <a:cs typeface="Calibri"/>
              <a:sym typeface="Calibri"/>
            </a:endParaRPr>
          </a:p>
        </p:txBody>
      </p:sp>
      <p:sp>
        <p:nvSpPr>
          <p:cNvPr id="193" name="Google Shape;193;p8"/>
          <p:cNvSpPr txBox="1"/>
          <p:nvPr/>
        </p:nvSpPr>
        <p:spPr>
          <a:xfrm>
            <a:off x="105437" y="1167468"/>
            <a:ext cx="4961513" cy="341632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You should already know what plan you are going to sell them based on the prequalify section and tying down budget BEFORE you are even putting them on hold. The hold is strictly to build urgency.</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Just in case you haven’t though, you do have some time to get organized. </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DO NOT leave them on hold longer than 2 minutes</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Aside from what is in your script these are the other most common responses you will get</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sp>
        <p:nvSpPr>
          <p:cNvPr id="194" name="Google Shape;194;p8"/>
          <p:cNvSpPr txBox="1"/>
          <p:nvPr/>
        </p:nvSpPr>
        <p:spPr>
          <a:xfrm>
            <a:off x="4841887" y="335450"/>
            <a:ext cx="6986589" cy="70173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a:solidFill>
                  <a:srgbClr val="000000"/>
                </a:solidFill>
                <a:latin typeface="Arial"/>
                <a:ea typeface="Arial"/>
                <a:cs typeface="Arial"/>
                <a:sym typeface="Arial"/>
              </a:rPr>
              <a:t>(IF THEY START TELLING YOU WHAT THEY WANT IT TO COVER INSTEAD OF ANSWERING THE BUDGET WAIT FOR THEM TO FINISH TALKING AND THEN REPLY.)</a:t>
            </a:r>
            <a:endParaRPr sz="1800" b="0">
              <a:solidFill>
                <a:schemeClr val="dk1"/>
              </a:solidFill>
              <a:latin typeface="Calibri"/>
              <a:ea typeface="Calibri"/>
              <a:cs typeface="Calibri"/>
              <a:sym typeface="Calibri"/>
            </a:endParaRPr>
          </a:p>
          <a:p>
            <a:pPr marL="0" marR="0" lvl="0" indent="0" algn="l" rtl="0">
              <a:spcBef>
                <a:spcPts val="0"/>
              </a:spcBef>
              <a:spcAft>
                <a:spcPts val="0"/>
              </a:spcAft>
              <a:buNone/>
            </a:pPr>
            <a:br>
              <a:rPr lang="en-US" sz="1800" b="0">
                <a:solidFill>
                  <a:schemeClr val="dk1"/>
                </a:solidFill>
                <a:latin typeface="Calibri"/>
                <a:ea typeface="Calibri"/>
                <a:cs typeface="Calibri"/>
                <a:sym typeface="Calibri"/>
              </a:rPr>
            </a:br>
            <a:r>
              <a:rPr lang="en-US" sz="1800" b="1" i="0" u="none" strike="noStrike">
                <a:solidFill>
                  <a:srgbClr val="F79646"/>
                </a:solidFill>
                <a:latin typeface="Arial"/>
                <a:ea typeface="Arial"/>
                <a:cs typeface="Arial"/>
                <a:sym typeface="Arial"/>
              </a:rPr>
              <a:t>OK, I understand, and of course I will find a plan that will meet ALL of your needs, I just want to make sure that I don’t put another bill on your table that is going to stress you out every month. It doesn’t do either of us any good if I put you into a plan, and then 2-3 months from now it isn’t affordable for you, and you end up cancelling it… because then it doesn’t matter how good the benefits are if you can’t afford to keep it, so what would you say IS affordable for you monthly?</a:t>
            </a:r>
            <a:endParaRPr sz="1800" b="0">
              <a:solidFill>
                <a:schemeClr val="dk1"/>
              </a:solidFill>
              <a:latin typeface="Calibri"/>
              <a:ea typeface="Calibri"/>
              <a:cs typeface="Calibri"/>
              <a:sym typeface="Calibri"/>
            </a:endParaRPr>
          </a:p>
          <a:p>
            <a:pPr marL="0" marR="0" lvl="0" indent="0" algn="l" rtl="0">
              <a:spcBef>
                <a:spcPts val="0"/>
              </a:spcBef>
              <a:spcAft>
                <a:spcPts val="0"/>
              </a:spcAft>
              <a:buNone/>
            </a:pPr>
            <a:br>
              <a:rPr lang="en-US" sz="1800" b="0">
                <a:solidFill>
                  <a:schemeClr val="dk1"/>
                </a:solidFill>
                <a:latin typeface="Calibri"/>
                <a:ea typeface="Calibri"/>
                <a:cs typeface="Calibri"/>
                <a:sym typeface="Calibri"/>
              </a:rPr>
            </a:br>
            <a:r>
              <a:rPr lang="en-US" sz="1800" b="1" i="0" u="none" strike="noStrike">
                <a:solidFill>
                  <a:srgbClr val="000000"/>
                </a:solidFill>
                <a:latin typeface="Arial"/>
                <a:ea typeface="Arial"/>
                <a:cs typeface="Arial"/>
                <a:sym typeface="Arial"/>
              </a:rPr>
              <a:t>(IF THEY SAY WELL TELL ME WHAT YOU HAVE TO OFFER)</a:t>
            </a:r>
            <a:endParaRPr sz="1800" b="0">
              <a:solidFill>
                <a:schemeClr val="dk1"/>
              </a:solidFill>
              <a:latin typeface="Calibri"/>
              <a:ea typeface="Calibri"/>
              <a:cs typeface="Calibri"/>
              <a:sym typeface="Calibri"/>
            </a:endParaRPr>
          </a:p>
          <a:p>
            <a:pPr marL="0" marR="0" lvl="0" indent="0" algn="l" rtl="0">
              <a:spcBef>
                <a:spcPts val="0"/>
              </a:spcBef>
              <a:spcAft>
                <a:spcPts val="0"/>
              </a:spcAft>
              <a:buNone/>
            </a:pPr>
            <a:br>
              <a:rPr lang="en-US" sz="1800" b="0">
                <a:solidFill>
                  <a:schemeClr val="dk1"/>
                </a:solidFill>
                <a:latin typeface="Calibri"/>
                <a:ea typeface="Calibri"/>
                <a:cs typeface="Calibri"/>
                <a:sym typeface="Calibri"/>
              </a:rPr>
            </a:br>
            <a:r>
              <a:rPr lang="en-US" sz="1800" b="1" i="0" u="none" strike="noStrike">
                <a:solidFill>
                  <a:srgbClr val="F79646"/>
                </a:solidFill>
                <a:latin typeface="Arial"/>
                <a:ea typeface="Arial"/>
                <a:cs typeface="Arial"/>
                <a:sym typeface="Arial"/>
              </a:rPr>
              <a:t>Well, we work with ALL of the TOP “A” Rated Insurance companies in the country so I have plans that are anywhere from $200 a month all the way up to $1500 a month… It really just depends on </a:t>
            </a:r>
            <a:r>
              <a:rPr lang="en-US" sz="1800" b="1" i="1" u="none" strike="noStrike">
                <a:solidFill>
                  <a:srgbClr val="F79646"/>
                </a:solidFill>
                <a:latin typeface="Arial"/>
                <a:ea typeface="Arial"/>
                <a:cs typeface="Arial"/>
                <a:sym typeface="Arial"/>
              </a:rPr>
              <a:t>what you need it to cover, what you can qualify for, and whether or not you can afford it each month</a:t>
            </a:r>
            <a:r>
              <a:rPr lang="en-US" sz="1800" b="1" i="0" u="none" strike="noStrike">
                <a:solidFill>
                  <a:srgbClr val="F79646"/>
                </a:solidFill>
                <a:latin typeface="Arial"/>
                <a:ea typeface="Arial"/>
                <a:cs typeface="Arial"/>
                <a:sym typeface="Arial"/>
              </a:rPr>
              <a:t>… realistically because of your age you are probably looking somewhere along the lines of around $(give realistic range), does that sound feasible for you?</a:t>
            </a:r>
            <a:endParaRPr sz="1800" b="0">
              <a:solidFill>
                <a:schemeClr val="dk1"/>
              </a:solidFill>
              <a:latin typeface="Calibri"/>
              <a:ea typeface="Calibri"/>
              <a:cs typeface="Calibri"/>
              <a:sym typeface="Calibri"/>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16607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8"/>
        <p:cNvGrpSpPr/>
        <p:nvPr/>
      </p:nvGrpSpPr>
      <p:grpSpPr>
        <a:xfrm>
          <a:off x="0" y="0"/>
          <a:ext cx="0" cy="0"/>
          <a:chOff x="0" y="0"/>
          <a:chExt cx="0" cy="0"/>
        </a:xfrm>
      </p:grpSpPr>
      <p:sp>
        <p:nvSpPr>
          <p:cNvPr id="199" name="Google Shape;199;p9"/>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 name="Google Shape;200;p9"/>
          <p:cNvSpPr txBox="1">
            <a:spLocks noGrp="1"/>
          </p:cNvSpPr>
          <p:nvPr>
            <p:ph type="title"/>
          </p:nvPr>
        </p:nvSpPr>
        <p:spPr>
          <a:xfrm>
            <a:off x="645064" y="525982"/>
            <a:ext cx="4282983" cy="1200361"/>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a:t>Selecting the right plan</a:t>
            </a:r>
            <a:endParaRPr/>
          </a:p>
        </p:txBody>
      </p:sp>
      <p:sp>
        <p:nvSpPr>
          <p:cNvPr id="201" name="Google Shape;201;p9"/>
          <p:cNvSpPr/>
          <p:nvPr/>
        </p:nvSpPr>
        <p:spPr>
          <a:xfrm flipH="1">
            <a:off x="616533" y="1944913"/>
            <a:ext cx="4023360" cy="2743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9"/>
          <p:cNvSpPr txBox="1">
            <a:spLocks noGrp="1"/>
          </p:cNvSpPr>
          <p:nvPr>
            <p:ph type="body" idx="1"/>
          </p:nvPr>
        </p:nvSpPr>
        <p:spPr>
          <a:xfrm>
            <a:off x="645066" y="2031101"/>
            <a:ext cx="4282984" cy="3511943"/>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1400"/>
              <a:buChar char="•"/>
            </a:pPr>
            <a:r>
              <a:rPr lang="en-US" sz="1400"/>
              <a:t>We want to select the plan based off the state they are in because its required, but the most important factor is the budget. Either choose a plan slightly under the price they gave you if they are lower income or slightly higher than the price they gave you if they have higher income.</a:t>
            </a:r>
            <a:endParaRPr/>
          </a:p>
          <a:p>
            <a:pPr marL="228600" lvl="0" indent="-228600" algn="l" rtl="0">
              <a:lnSpc>
                <a:spcPct val="90000"/>
              </a:lnSpc>
              <a:spcBef>
                <a:spcPts val="1000"/>
              </a:spcBef>
              <a:spcAft>
                <a:spcPts val="0"/>
              </a:spcAft>
              <a:buClr>
                <a:schemeClr val="dk1"/>
              </a:buClr>
              <a:buSzPts val="1400"/>
              <a:buChar char="•"/>
            </a:pPr>
            <a:r>
              <a:rPr lang="en-US" sz="1400"/>
              <a:t>If the customer, however, tells you they are on a plan now and are paying xx amount that’s very expensive (like cobra) all you must do is come in low enough where it’s a no brainer decision to purchase but high enough to where they don’t find it too good to be true.</a:t>
            </a:r>
            <a:endParaRPr/>
          </a:p>
        </p:txBody>
      </p:sp>
      <p:sp>
        <p:nvSpPr>
          <p:cNvPr id="203" name="Google Shape;203;p9"/>
          <p:cNvSpPr/>
          <p:nvPr/>
        </p:nvSpPr>
        <p:spPr>
          <a:xfrm rot="5400000">
            <a:off x="-225843" y="6053360"/>
            <a:ext cx="740664" cy="15412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 name="Google Shape;204;p9"/>
          <p:cNvSpPr/>
          <p:nvPr/>
        </p:nvSpPr>
        <p:spPr>
          <a:xfrm rot="5400000">
            <a:off x="5904923" y="215201"/>
            <a:ext cx="740664" cy="1183349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5" name="Google Shape;205;p9"/>
          <p:cNvSpPr/>
          <p:nvPr/>
        </p:nvSpPr>
        <p:spPr>
          <a:xfrm>
            <a:off x="5696793" y="354959"/>
            <a:ext cx="6184973" cy="5915212"/>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06" name="Google Shape;206;p9"/>
          <p:cNvPicPr preferRelativeResize="0"/>
          <p:nvPr/>
        </p:nvPicPr>
        <p:blipFill rotWithShape="1">
          <a:blip r:embed="rId3">
            <a:alphaModFix/>
          </a:blip>
          <a:srcRect/>
          <a:stretch/>
        </p:blipFill>
        <p:spPr>
          <a:xfrm>
            <a:off x="5987738" y="1223163"/>
            <a:ext cx="5628018" cy="4178803"/>
          </a:xfrm>
          <a:prstGeom prst="rect">
            <a:avLst/>
          </a:prstGeom>
          <a:noFill/>
          <a:ln>
            <a:noFill/>
          </a:ln>
        </p:spPr>
      </p:pic>
    </p:spTree>
    <p:extLst>
      <p:ext uri="{BB962C8B-B14F-4D97-AF65-F5344CB8AC3E}">
        <p14:creationId xmlns:p14="http://schemas.microsoft.com/office/powerpoint/2010/main" val="2606877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0"/>
        <p:cNvGrpSpPr/>
        <p:nvPr/>
      </p:nvGrpSpPr>
      <p:grpSpPr>
        <a:xfrm>
          <a:off x="0" y="0"/>
          <a:ext cx="0" cy="0"/>
          <a:chOff x="0" y="0"/>
          <a:chExt cx="0" cy="0"/>
        </a:xfrm>
      </p:grpSpPr>
      <p:sp>
        <p:nvSpPr>
          <p:cNvPr id="211" name="Google Shape;211;p10"/>
          <p:cNvSpPr/>
          <p:nvPr/>
        </p:nvSpPr>
        <p:spPr>
          <a:xfrm>
            <a:off x="0" y="0"/>
            <a:ext cx="12192000"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2" name="Google Shape;212;p10"/>
          <p:cNvSpPr txBox="1">
            <a:spLocks noGrp="1"/>
          </p:cNvSpPr>
          <p:nvPr>
            <p:ph type="title"/>
          </p:nvPr>
        </p:nvSpPr>
        <p:spPr>
          <a:xfrm>
            <a:off x="838200" y="459863"/>
            <a:ext cx="10515600" cy="100459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400"/>
              <a:buFont typeface="Calibri"/>
              <a:buNone/>
            </a:pPr>
            <a:r>
              <a:rPr lang="en-US">
                <a:solidFill>
                  <a:srgbClr val="FFFFFF"/>
                </a:solidFill>
              </a:rPr>
              <a:t>Type of plans we offer</a:t>
            </a:r>
            <a:endParaRPr/>
          </a:p>
        </p:txBody>
      </p:sp>
      <p:sp>
        <p:nvSpPr>
          <p:cNvPr id="213" name="Google Shape;213;p10"/>
          <p:cNvSpPr/>
          <p:nvPr/>
        </p:nvSpPr>
        <p:spPr>
          <a:xfrm>
            <a:off x="579496" y="1587970"/>
            <a:ext cx="11033008" cy="4768380"/>
          </a:xfrm>
          <a:prstGeom prst="roundRect">
            <a:avLst>
              <a:gd name="adj" fmla="val 3174"/>
            </a:avLst>
          </a:prstGeom>
          <a:solidFill>
            <a:schemeClr val="lt1">
              <a:alpha val="9490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14" name="Google Shape;214;p10"/>
          <p:cNvGrpSpPr/>
          <p:nvPr/>
        </p:nvGrpSpPr>
        <p:grpSpPr>
          <a:xfrm>
            <a:off x="913968" y="2158049"/>
            <a:ext cx="10364063" cy="3637061"/>
            <a:chOff x="75768" y="357138"/>
            <a:chExt cx="10364063" cy="3637061"/>
          </a:xfrm>
        </p:grpSpPr>
        <p:sp>
          <p:nvSpPr>
            <p:cNvPr id="215" name="Google Shape;215;p10"/>
            <p:cNvSpPr/>
            <p:nvPr/>
          </p:nvSpPr>
          <p:spPr>
            <a:xfrm>
              <a:off x="679050" y="357138"/>
              <a:ext cx="1887187" cy="1887187"/>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0"/>
            <p:cNvSpPr/>
            <p:nvPr/>
          </p:nvSpPr>
          <p:spPr>
            <a:xfrm>
              <a:off x="1081237" y="759325"/>
              <a:ext cx="1082812" cy="1082812"/>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0"/>
            <p:cNvSpPr/>
            <p:nvPr/>
          </p:nvSpPr>
          <p:spPr>
            <a:xfrm>
              <a:off x="75768" y="2832138"/>
              <a:ext cx="3093750" cy="116206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0"/>
            <p:cNvSpPr txBox="1"/>
            <p:nvPr/>
          </p:nvSpPr>
          <p:spPr>
            <a:xfrm>
              <a:off x="75768" y="2832138"/>
              <a:ext cx="3093750" cy="1162061"/>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100"/>
                <a:buFont typeface="Calibri"/>
                <a:buNone/>
              </a:pPr>
              <a:r>
                <a:rPr lang="en-US" sz="1100" b="1" u="sng" cap="none">
                  <a:solidFill>
                    <a:schemeClr val="dk1"/>
                  </a:solidFill>
                  <a:latin typeface="Calibri"/>
                  <a:ea typeface="Calibri"/>
                  <a:cs typeface="Calibri"/>
                  <a:sym typeface="Calibri"/>
                </a:rPr>
                <a:t>INDEMNITY</a:t>
              </a:r>
              <a:endParaRPr/>
            </a:p>
            <a:p>
              <a:pPr marL="0" marR="0" lvl="0" indent="0" algn="ctr" rtl="0">
                <a:lnSpc>
                  <a:spcPct val="90000"/>
                </a:lnSpc>
                <a:spcBef>
                  <a:spcPts val="385"/>
                </a:spcBef>
                <a:spcAft>
                  <a:spcPts val="0"/>
                </a:spcAft>
                <a:buClr>
                  <a:schemeClr val="dk1"/>
                </a:buClr>
                <a:buSzPts val="1100"/>
                <a:buFont typeface="Calibri"/>
                <a:buNone/>
              </a:pPr>
              <a:r>
                <a:rPr lang="en-US" sz="1100" b="0" u="none" cap="none">
                  <a:solidFill>
                    <a:schemeClr val="dk1"/>
                  </a:solidFill>
                  <a:latin typeface="Calibri"/>
                  <a:ea typeface="Calibri"/>
                  <a:cs typeface="Calibri"/>
                  <a:sym typeface="Calibri"/>
                </a:rPr>
                <a:t>- HAVE NO DEDUCTIBLE</a:t>
              </a:r>
              <a:endParaRPr/>
            </a:p>
            <a:p>
              <a:pPr marL="0" marR="0" lvl="0" indent="0" algn="ctr" rtl="0">
                <a:lnSpc>
                  <a:spcPct val="90000"/>
                </a:lnSpc>
                <a:spcBef>
                  <a:spcPts val="385"/>
                </a:spcBef>
                <a:spcAft>
                  <a:spcPts val="0"/>
                </a:spcAft>
                <a:buClr>
                  <a:schemeClr val="dk1"/>
                </a:buClr>
                <a:buSzPts val="1100"/>
                <a:buFont typeface="Calibri"/>
                <a:buNone/>
              </a:pPr>
              <a:r>
                <a:rPr lang="en-US" sz="1100" b="0" u="none" cap="none">
                  <a:solidFill>
                    <a:schemeClr val="dk1"/>
                  </a:solidFill>
                  <a:latin typeface="Calibri"/>
                  <a:ea typeface="Calibri"/>
                  <a:cs typeface="Calibri"/>
                  <a:sym typeface="Calibri"/>
                </a:rPr>
                <a:t>-USES NETWORK REPRICING AND INDEMNITY CASH BENEFITS TOWARDS CLAIMS</a:t>
              </a:r>
              <a:endParaRPr/>
            </a:p>
          </p:txBody>
        </p:sp>
        <p:sp>
          <p:nvSpPr>
            <p:cNvPr id="219" name="Google Shape;219;p10"/>
            <p:cNvSpPr/>
            <p:nvPr/>
          </p:nvSpPr>
          <p:spPr>
            <a:xfrm>
              <a:off x="4314206" y="357138"/>
              <a:ext cx="1887187" cy="1887187"/>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0"/>
            <p:cNvSpPr/>
            <p:nvPr/>
          </p:nvSpPr>
          <p:spPr>
            <a:xfrm>
              <a:off x="4716393" y="759325"/>
              <a:ext cx="1082812" cy="1082812"/>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0"/>
            <p:cNvSpPr/>
            <p:nvPr/>
          </p:nvSpPr>
          <p:spPr>
            <a:xfrm>
              <a:off x="3710925" y="2832138"/>
              <a:ext cx="3093750" cy="116206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0"/>
            <p:cNvSpPr txBox="1"/>
            <p:nvPr/>
          </p:nvSpPr>
          <p:spPr>
            <a:xfrm>
              <a:off x="3710925" y="2832138"/>
              <a:ext cx="3093750" cy="1162061"/>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100"/>
                <a:buFont typeface="Calibri"/>
                <a:buNone/>
              </a:pPr>
              <a:r>
                <a:rPr lang="en-US" sz="1100" b="1" u="sng" cap="none">
                  <a:solidFill>
                    <a:schemeClr val="dk1"/>
                  </a:solidFill>
                  <a:latin typeface="Calibri"/>
                  <a:ea typeface="Calibri"/>
                  <a:cs typeface="Calibri"/>
                  <a:sym typeface="Calibri"/>
                </a:rPr>
                <a:t>MEC</a:t>
              </a:r>
              <a:endParaRPr/>
            </a:p>
            <a:p>
              <a:pPr marL="0" marR="0" lvl="0" indent="0" algn="ctr" rtl="0">
                <a:lnSpc>
                  <a:spcPct val="90000"/>
                </a:lnSpc>
                <a:spcBef>
                  <a:spcPts val="385"/>
                </a:spcBef>
                <a:spcAft>
                  <a:spcPts val="0"/>
                </a:spcAft>
                <a:buClr>
                  <a:schemeClr val="dk1"/>
                </a:buClr>
                <a:buSzPts val="1100"/>
                <a:buFont typeface="Calibri"/>
                <a:buNone/>
              </a:pPr>
              <a:r>
                <a:rPr lang="en-US" sz="1100" b="0" u="none" cap="none">
                  <a:solidFill>
                    <a:schemeClr val="dk1"/>
                  </a:solidFill>
                  <a:latin typeface="Calibri"/>
                  <a:ea typeface="Calibri"/>
                  <a:cs typeface="Calibri"/>
                  <a:sym typeface="Calibri"/>
                </a:rPr>
                <a:t>- HAVE NO DEDUCTIBLE</a:t>
              </a:r>
              <a:endParaRPr/>
            </a:p>
            <a:p>
              <a:pPr marL="0" marR="0" lvl="0" indent="0" algn="ctr" rtl="0">
                <a:lnSpc>
                  <a:spcPct val="90000"/>
                </a:lnSpc>
                <a:spcBef>
                  <a:spcPts val="385"/>
                </a:spcBef>
                <a:spcAft>
                  <a:spcPts val="0"/>
                </a:spcAft>
                <a:buClr>
                  <a:schemeClr val="dk1"/>
                </a:buClr>
                <a:buSzPts val="1100"/>
                <a:buFont typeface="Calibri"/>
                <a:buNone/>
              </a:pPr>
              <a:r>
                <a:rPr lang="en-US" sz="1100" b="0" u="none" cap="none">
                  <a:solidFill>
                    <a:schemeClr val="dk1"/>
                  </a:solidFill>
                  <a:latin typeface="Calibri"/>
                  <a:ea typeface="Calibri"/>
                  <a:cs typeface="Calibri"/>
                  <a:sym typeface="Calibri"/>
                </a:rPr>
                <a:t>-USES NETWORK REPRICING AND INDEMNITY CASH BENEFITS FOR HOSPITAL</a:t>
              </a:r>
              <a:endParaRPr/>
            </a:p>
            <a:p>
              <a:pPr marL="0" marR="0" lvl="0" indent="0" algn="ctr" rtl="0">
                <a:lnSpc>
                  <a:spcPct val="90000"/>
                </a:lnSpc>
                <a:spcBef>
                  <a:spcPts val="385"/>
                </a:spcBef>
                <a:spcAft>
                  <a:spcPts val="0"/>
                </a:spcAft>
                <a:buClr>
                  <a:schemeClr val="dk1"/>
                </a:buClr>
                <a:buSzPts val="1100"/>
                <a:buFont typeface="Calibri"/>
                <a:buNone/>
              </a:pPr>
              <a:r>
                <a:rPr lang="en-US" sz="1100" b="0" u="none" cap="none">
                  <a:solidFill>
                    <a:schemeClr val="dk1"/>
                  </a:solidFill>
                  <a:latin typeface="Calibri"/>
                  <a:ea typeface="Calibri"/>
                  <a:cs typeface="Calibri"/>
                  <a:sym typeface="Calibri"/>
                </a:rPr>
                <a:t>-USES COPAYS FOR DR. VISITS</a:t>
              </a:r>
              <a:endParaRPr/>
            </a:p>
          </p:txBody>
        </p:sp>
        <p:sp>
          <p:nvSpPr>
            <p:cNvPr id="223" name="Google Shape;223;p10"/>
            <p:cNvSpPr/>
            <p:nvPr/>
          </p:nvSpPr>
          <p:spPr>
            <a:xfrm>
              <a:off x="7949362" y="357138"/>
              <a:ext cx="1887187" cy="1887187"/>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0"/>
            <p:cNvSpPr/>
            <p:nvPr/>
          </p:nvSpPr>
          <p:spPr>
            <a:xfrm>
              <a:off x="8351550" y="759325"/>
              <a:ext cx="1082812" cy="1082812"/>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0"/>
            <p:cNvSpPr/>
            <p:nvPr/>
          </p:nvSpPr>
          <p:spPr>
            <a:xfrm>
              <a:off x="7346081" y="2832138"/>
              <a:ext cx="3093750" cy="116206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0"/>
            <p:cNvSpPr txBox="1"/>
            <p:nvPr/>
          </p:nvSpPr>
          <p:spPr>
            <a:xfrm>
              <a:off x="7346081" y="2832138"/>
              <a:ext cx="3093750" cy="1162061"/>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100"/>
                <a:buFont typeface="Calibri"/>
                <a:buNone/>
              </a:pPr>
              <a:r>
                <a:rPr lang="en-US" sz="1100" b="1" u="sng" cap="none">
                  <a:solidFill>
                    <a:schemeClr val="dk1"/>
                  </a:solidFill>
                  <a:latin typeface="Calibri"/>
                  <a:ea typeface="Calibri"/>
                  <a:cs typeface="Calibri"/>
                  <a:sym typeface="Calibri"/>
                </a:rPr>
                <a:t>STM</a:t>
              </a:r>
              <a:endParaRPr/>
            </a:p>
            <a:p>
              <a:pPr marL="0" marR="0" lvl="0" indent="0" algn="ctr" rtl="0">
                <a:lnSpc>
                  <a:spcPct val="90000"/>
                </a:lnSpc>
                <a:spcBef>
                  <a:spcPts val="385"/>
                </a:spcBef>
                <a:spcAft>
                  <a:spcPts val="0"/>
                </a:spcAft>
                <a:buClr>
                  <a:schemeClr val="dk1"/>
                </a:buClr>
                <a:buSzPts val="1100"/>
                <a:buFont typeface="Calibri"/>
                <a:buNone/>
              </a:pPr>
              <a:r>
                <a:rPr lang="en-US" sz="1100" b="1" u="none" cap="none">
                  <a:solidFill>
                    <a:schemeClr val="dk1"/>
                  </a:solidFill>
                  <a:latin typeface="Calibri"/>
                  <a:ea typeface="Calibri"/>
                  <a:cs typeface="Calibri"/>
                  <a:sym typeface="Calibri"/>
                </a:rPr>
                <a:t>- </a:t>
              </a:r>
              <a:r>
                <a:rPr lang="en-US" sz="1100" b="0" u="none" cap="none">
                  <a:solidFill>
                    <a:schemeClr val="dk1"/>
                  </a:solidFill>
                  <a:latin typeface="Calibri"/>
                  <a:ea typeface="Calibri"/>
                  <a:cs typeface="Calibri"/>
                  <a:sym typeface="Calibri"/>
                </a:rPr>
                <a:t>HAS DEDUCTIBLE, COINSURANCE, MAX OUT OF POCKET</a:t>
              </a:r>
              <a:endParaRPr/>
            </a:p>
            <a:p>
              <a:pPr marL="0" marR="0" lvl="0" indent="0" algn="ctr" rtl="0">
                <a:lnSpc>
                  <a:spcPct val="90000"/>
                </a:lnSpc>
                <a:spcBef>
                  <a:spcPts val="385"/>
                </a:spcBef>
                <a:spcAft>
                  <a:spcPts val="0"/>
                </a:spcAft>
                <a:buClr>
                  <a:schemeClr val="dk1"/>
                </a:buClr>
                <a:buSzPts val="1100"/>
                <a:buFont typeface="Calibri"/>
                <a:buNone/>
              </a:pPr>
              <a:r>
                <a:rPr lang="en-US" sz="1100" b="0" u="none" cap="none">
                  <a:solidFill>
                    <a:schemeClr val="dk1"/>
                  </a:solidFill>
                  <a:latin typeface="Calibri"/>
                  <a:ea typeface="Calibri"/>
                  <a:cs typeface="Calibri"/>
                  <a:sym typeface="Calibri"/>
                </a:rPr>
                <a:t>-HAS COPAYS FOR DR. VISITS</a:t>
              </a:r>
              <a:endParaRPr/>
            </a:p>
            <a:p>
              <a:pPr marL="0" marR="0" lvl="0" indent="0" algn="ctr" rtl="0">
                <a:lnSpc>
                  <a:spcPct val="90000"/>
                </a:lnSpc>
                <a:spcBef>
                  <a:spcPts val="385"/>
                </a:spcBef>
                <a:spcAft>
                  <a:spcPts val="0"/>
                </a:spcAft>
                <a:buClr>
                  <a:schemeClr val="dk1"/>
                </a:buClr>
                <a:buSzPts val="1100"/>
                <a:buFont typeface="Calibri"/>
                <a:buNone/>
              </a:pPr>
              <a:r>
                <a:rPr lang="en-US" sz="1100" b="0" u="none" cap="none">
                  <a:solidFill>
                    <a:schemeClr val="dk1"/>
                  </a:solidFill>
                  <a:latin typeface="Calibri"/>
                  <a:ea typeface="Calibri"/>
                  <a:cs typeface="Calibri"/>
                  <a:sym typeface="Calibri"/>
                </a:rPr>
                <a:t>-HAS POLICY MAXIMUMS</a:t>
              </a:r>
              <a:endParaRPr/>
            </a:p>
            <a:p>
              <a:pPr marL="0" marR="0" lvl="0" indent="0" algn="ctr" rtl="0">
                <a:lnSpc>
                  <a:spcPct val="90000"/>
                </a:lnSpc>
                <a:spcBef>
                  <a:spcPts val="385"/>
                </a:spcBef>
                <a:spcAft>
                  <a:spcPts val="0"/>
                </a:spcAft>
                <a:buClr>
                  <a:schemeClr val="dk1"/>
                </a:buClr>
                <a:buSzPts val="1100"/>
                <a:buFont typeface="Calibri"/>
                <a:buNone/>
              </a:pPr>
              <a:endParaRPr sz="1100" b="1" u="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017654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0"/>
        <p:cNvGrpSpPr/>
        <p:nvPr/>
      </p:nvGrpSpPr>
      <p:grpSpPr>
        <a:xfrm>
          <a:off x="0" y="0"/>
          <a:ext cx="0" cy="0"/>
          <a:chOff x="0" y="0"/>
          <a:chExt cx="0" cy="0"/>
        </a:xfrm>
      </p:grpSpPr>
      <p:sp>
        <p:nvSpPr>
          <p:cNvPr id="231" name="Google Shape;231;p1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11"/>
          <p:cNvSpPr txBox="1">
            <a:spLocks noGrp="1"/>
          </p:cNvSpPr>
          <p:nvPr>
            <p:ph type="title"/>
          </p:nvPr>
        </p:nvSpPr>
        <p:spPr>
          <a:xfrm>
            <a:off x="841248" y="256032"/>
            <a:ext cx="10506456" cy="101498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Calibri"/>
              <a:buNone/>
            </a:pPr>
            <a:r>
              <a:rPr lang="en-US"/>
              <a:t>Limited Medical Indemnity Plans</a:t>
            </a:r>
            <a:endParaRPr/>
          </a:p>
        </p:txBody>
      </p:sp>
      <p:sp>
        <p:nvSpPr>
          <p:cNvPr id="233" name="Google Shape;233;p11"/>
          <p:cNvSpPr/>
          <p:nvPr/>
        </p:nvSpPr>
        <p:spPr>
          <a:xfrm>
            <a:off x="865953" y="1634502"/>
            <a:ext cx="10451592" cy="18288"/>
          </a:xfrm>
          <a:prstGeom prst="rect">
            <a:avLst/>
          </a:prstGeom>
          <a:solidFill>
            <a:srgbClr val="D5D5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34" name="Google Shape;234;p11"/>
          <p:cNvSpPr/>
          <p:nvPr/>
        </p:nvSpPr>
        <p:spPr>
          <a:xfrm rot="10800000" flipH="1">
            <a:off x="841248" y="1538176"/>
            <a:ext cx="1873457" cy="109814"/>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grpSp>
        <p:nvGrpSpPr>
          <p:cNvPr id="235" name="Google Shape;235;p11"/>
          <p:cNvGrpSpPr/>
          <p:nvPr/>
        </p:nvGrpSpPr>
        <p:grpSpPr>
          <a:xfrm>
            <a:off x="838200" y="2262081"/>
            <a:ext cx="10515600" cy="3685893"/>
            <a:chOff x="0" y="335815"/>
            <a:chExt cx="10515600" cy="3685893"/>
          </a:xfrm>
        </p:grpSpPr>
        <p:sp>
          <p:nvSpPr>
            <p:cNvPr id="236" name="Google Shape;236;p11"/>
            <p:cNvSpPr/>
            <p:nvPr/>
          </p:nvSpPr>
          <p:spPr>
            <a:xfrm>
              <a:off x="0" y="335815"/>
              <a:ext cx="10515600" cy="873953"/>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txBox="1"/>
            <p:nvPr/>
          </p:nvSpPr>
          <p:spPr>
            <a:xfrm>
              <a:off x="42663" y="378478"/>
              <a:ext cx="10430274" cy="788627"/>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Calibri"/>
                <a:buNone/>
              </a:pPr>
              <a:r>
                <a:rPr lang="en-US" sz="2200">
                  <a:solidFill>
                    <a:schemeClr val="lt1"/>
                  </a:solidFill>
                  <a:latin typeface="Calibri"/>
                  <a:ea typeface="Calibri"/>
                  <a:cs typeface="Calibri"/>
                  <a:sym typeface="Calibri"/>
                </a:rPr>
                <a:t>Also known as Large Group Association Insurance Plans or Private Market Insurance</a:t>
              </a:r>
              <a:endParaRPr/>
            </a:p>
          </p:txBody>
        </p:sp>
        <p:sp>
          <p:nvSpPr>
            <p:cNvPr id="238" name="Google Shape;238;p11"/>
            <p:cNvSpPr/>
            <p:nvPr/>
          </p:nvSpPr>
          <p:spPr>
            <a:xfrm>
              <a:off x="0" y="1273128"/>
              <a:ext cx="10515600" cy="873953"/>
            </a:xfrm>
            <a:prstGeom prst="roundRect">
              <a:avLst>
                <a:gd name="adj" fmla="val 16667"/>
              </a:avLst>
            </a:prstGeom>
            <a:solidFill>
              <a:srgbClr val="D07A5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1"/>
            <p:cNvSpPr txBox="1"/>
            <p:nvPr/>
          </p:nvSpPr>
          <p:spPr>
            <a:xfrm>
              <a:off x="42663" y="1315791"/>
              <a:ext cx="10430274" cy="788627"/>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Calibri"/>
                <a:buNone/>
              </a:pPr>
              <a:r>
                <a:rPr lang="en-US" sz="2200">
                  <a:solidFill>
                    <a:schemeClr val="lt1"/>
                  </a:solidFill>
                  <a:latin typeface="Calibri"/>
                  <a:ea typeface="Calibri"/>
                  <a:cs typeface="Calibri"/>
                  <a:sym typeface="Calibri"/>
                </a:rPr>
                <a:t>They are not considered Major Medical “Obamacare”</a:t>
              </a:r>
              <a:endParaRPr/>
            </a:p>
          </p:txBody>
        </p:sp>
        <p:sp>
          <p:nvSpPr>
            <p:cNvPr id="240" name="Google Shape;240;p11"/>
            <p:cNvSpPr/>
            <p:nvPr/>
          </p:nvSpPr>
          <p:spPr>
            <a:xfrm>
              <a:off x="0" y="2210441"/>
              <a:ext cx="10515600" cy="873953"/>
            </a:xfrm>
            <a:prstGeom prst="roundRect">
              <a:avLst>
                <a:gd name="adj" fmla="val 16667"/>
              </a:avLst>
            </a:prstGeom>
            <a:solidFill>
              <a:srgbClr val="B8888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txBox="1"/>
            <p:nvPr/>
          </p:nvSpPr>
          <p:spPr>
            <a:xfrm>
              <a:off x="42663" y="2253104"/>
              <a:ext cx="10430274" cy="788627"/>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Calibri"/>
                <a:buNone/>
              </a:pPr>
              <a:r>
                <a:rPr lang="en-US" sz="2200">
                  <a:solidFill>
                    <a:schemeClr val="lt1"/>
                  </a:solidFill>
                  <a:latin typeface="Calibri"/>
                  <a:ea typeface="Calibri"/>
                  <a:cs typeface="Calibri"/>
                  <a:sym typeface="Calibri"/>
                </a:rPr>
                <a:t>They are “No Deductible” insurance plans</a:t>
              </a:r>
              <a:endParaRPr/>
            </a:p>
          </p:txBody>
        </p:sp>
        <p:sp>
          <p:nvSpPr>
            <p:cNvPr id="242" name="Google Shape;242;p11"/>
            <p:cNvSpPr/>
            <p:nvPr/>
          </p:nvSpPr>
          <p:spPr>
            <a:xfrm>
              <a:off x="0" y="3147755"/>
              <a:ext cx="10515600" cy="873953"/>
            </a:xfrm>
            <a:prstGeom prst="roundRect">
              <a:avLst>
                <a:gd name="adj" fmla="val 16667"/>
              </a:avLst>
            </a:prstGeom>
            <a:solidFill>
              <a:srgbClr val="A4A4A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1"/>
            <p:cNvSpPr txBox="1"/>
            <p:nvPr/>
          </p:nvSpPr>
          <p:spPr>
            <a:xfrm>
              <a:off x="42663" y="3190418"/>
              <a:ext cx="10430274" cy="788627"/>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Calibri"/>
                <a:buNone/>
              </a:pPr>
              <a:r>
                <a:rPr lang="en-US" sz="2200">
                  <a:solidFill>
                    <a:schemeClr val="lt1"/>
                  </a:solidFill>
                  <a:latin typeface="Calibri"/>
                  <a:ea typeface="Calibri"/>
                  <a:cs typeface="Calibri"/>
                  <a:sym typeface="Calibri"/>
                </a:rPr>
                <a:t>They are guaranteed issue which means anyone can enroll regardless of health – however, we do not want to tell the customer this as it takes away urgency and leverage</a:t>
              </a:r>
              <a:endParaRPr/>
            </a:p>
          </p:txBody>
        </p:sp>
      </p:grpSp>
    </p:spTree>
    <p:extLst>
      <p:ext uri="{BB962C8B-B14F-4D97-AF65-F5344CB8AC3E}">
        <p14:creationId xmlns:p14="http://schemas.microsoft.com/office/powerpoint/2010/main" val="1115505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7"/>
        <p:cNvGrpSpPr/>
        <p:nvPr/>
      </p:nvGrpSpPr>
      <p:grpSpPr>
        <a:xfrm>
          <a:off x="0" y="0"/>
          <a:ext cx="0" cy="0"/>
          <a:chOff x="0" y="0"/>
          <a:chExt cx="0" cy="0"/>
        </a:xfrm>
      </p:grpSpPr>
      <p:sp>
        <p:nvSpPr>
          <p:cNvPr id="248" name="Google Shape;248;p12"/>
          <p:cNvSpPr/>
          <p:nvPr/>
        </p:nvSpPr>
        <p:spPr>
          <a:xfrm>
            <a:off x="0" y="0"/>
            <a:ext cx="12188949"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9" name="Google Shape;249;p12"/>
          <p:cNvSpPr/>
          <p:nvPr/>
        </p:nvSpPr>
        <p:spPr>
          <a:xfrm>
            <a:off x="0" y="0"/>
            <a:ext cx="12188949"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50" name="Google Shape;250;p12"/>
          <p:cNvGrpSpPr/>
          <p:nvPr/>
        </p:nvGrpSpPr>
        <p:grpSpPr>
          <a:xfrm>
            <a:off x="5889" y="-2"/>
            <a:ext cx="3468234" cy="6858000"/>
            <a:chOff x="651279" y="598259"/>
            <a:chExt cx="10889442" cy="5680742"/>
          </a:xfrm>
        </p:grpSpPr>
        <p:sp>
          <p:nvSpPr>
            <p:cNvPr id="251" name="Google Shape;251;p12"/>
            <p:cNvSpPr/>
            <p:nvPr/>
          </p:nvSpPr>
          <p:spPr>
            <a:xfrm>
              <a:off x="651279" y="598259"/>
              <a:ext cx="10889442" cy="56807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2" name="Google Shape;252;p12"/>
            <p:cNvSpPr/>
            <p:nvPr/>
          </p:nvSpPr>
          <p:spPr>
            <a:xfrm>
              <a:off x="651279" y="598259"/>
              <a:ext cx="10889442" cy="5680742"/>
            </a:xfrm>
            <a:prstGeom prst="rect">
              <a:avLst/>
            </a:prstGeom>
            <a:solidFill>
              <a:schemeClr val="accent6">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53" name="Google Shape;253;p12"/>
          <p:cNvGrpSpPr/>
          <p:nvPr/>
        </p:nvGrpSpPr>
        <p:grpSpPr>
          <a:xfrm>
            <a:off x="1524" y="0"/>
            <a:ext cx="12188952" cy="6858000"/>
            <a:chOff x="0" y="0"/>
            <a:chExt cx="12188952" cy="6858000"/>
          </a:xfrm>
        </p:grpSpPr>
        <p:sp>
          <p:nvSpPr>
            <p:cNvPr id="254" name="Google Shape;254;p12"/>
            <p:cNvSpPr/>
            <p:nvPr/>
          </p:nvSpPr>
          <p:spPr>
            <a:xfrm>
              <a:off x="26122" y="6015669"/>
              <a:ext cx="2605762" cy="842331"/>
            </a:xfrm>
            <a:custGeom>
              <a:avLst/>
              <a:gdLst/>
              <a:ahLst/>
              <a:cxnLst/>
              <a:rect l="l" t="t" r="r" b="b"/>
              <a:pathLst>
                <a:path w="3180577" h="1033951" extrusionOk="0">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lt1">
                <a:alpha val="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5" name="Google Shape;255;p12"/>
            <p:cNvSpPr/>
            <p:nvPr/>
          </p:nvSpPr>
          <p:spPr>
            <a:xfrm>
              <a:off x="655184" y="5798001"/>
              <a:ext cx="2485581" cy="1059999"/>
            </a:xfrm>
            <a:custGeom>
              <a:avLst/>
              <a:gdLst/>
              <a:ahLst/>
              <a:cxnLst/>
              <a:rect l="l" t="t" r="r" b="b"/>
              <a:pathLst>
                <a:path w="2449768" h="1050628" extrusionOk="0">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6" name="Google Shape;256;p12"/>
            <p:cNvSpPr/>
            <p:nvPr/>
          </p:nvSpPr>
          <p:spPr>
            <a:xfrm>
              <a:off x="3474720" y="0"/>
              <a:ext cx="6177282" cy="1778750"/>
            </a:xfrm>
            <a:custGeom>
              <a:avLst/>
              <a:gdLst/>
              <a:ahLst/>
              <a:cxnLst/>
              <a:rect l="l" t="t" r="r" b="b"/>
              <a:pathLst>
                <a:path w="6386648" h="1849426" extrusionOk="0">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lt1">
                <a:alpha val="4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7" name="Google Shape;257;p12"/>
            <p:cNvSpPr/>
            <p:nvPr/>
          </p:nvSpPr>
          <p:spPr>
            <a:xfrm>
              <a:off x="0" y="2390523"/>
              <a:ext cx="611491" cy="1421482"/>
            </a:xfrm>
            <a:custGeom>
              <a:avLst/>
              <a:gdLst/>
              <a:ahLst/>
              <a:cxnLst/>
              <a:rect l="l" t="t" r="r" b="b"/>
              <a:pathLst>
                <a:path w="611491" h="1429512" extrusionOk="0">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8" name="Google Shape;258;p12"/>
            <p:cNvSpPr/>
            <p:nvPr/>
          </p:nvSpPr>
          <p:spPr>
            <a:xfrm>
              <a:off x="3792772" y="0"/>
              <a:ext cx="2423863" cy="1343767"/>
            </a:xfrm>
            <a:custGeom>
              <a:avLst/>
              <a:gdLst/>
              <a:ahLst/>
              <a:cxnLst/>
              <a:rect l="l" t="t" r="r" b="b"/>
              <a:pathLst>
                <a:path w="3015964" h="1681468" extrusionOk="0">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lt1">
                <a:alpha val="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9" name="Google Shape;259;p12"/>
            <p:cNvSpPr/>
            <p:nvPr/>
          </p:nvSpPr>
          <p:spPr>
            <a:xfrm>
              <a:off x="10946850" y="0"/>
              <a:ext cx="1242102" cy="2620884"/>
            </a:xfrm>
            <a:custGeom>
              <a:avLst/>
              <a:gdLst/>
              <a:ahLst/>
              <a:cxnLst/>
              <a:rect l="l" t="t" r="r" b="b"/>
              <a:pathLst>
                <a:path w="1242102" h="2635689" extrusionOk="0">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lt1">
                <a:alpha val="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 name="Google Shape;260;p12"/>
            <p:cNvSpPr/>
            <p:nvPr/>
          </p:nvSpPr>
          <p:spPr>
            <a:xfrm>
              <a:off x="0" y="0"/>
              <a:ext cx="1577788" cy="980141"/>
            </a:xfrm>
            <a:custGeom>
              <a:avLst/>
              <a:gdLst/>
              <a:ahLst/>
              <a:cxnLst/>
              <a:rect l="l" t="t" r="r" b="b"/>
              <a:pathLst>
                <a:path w="1471018" h="795676" extrusionOk="0">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61" name="Google Shape;261;p12"/>
          <p:cNvSpPr txBox="1">
            <a:spLocks noGrp="1"/>
          </p:cNvSpPr>
          <p:nvPr>
            <p:ph type="title"/>
          </p:nvPr>
        </p:nvSpPr>
        <p:spPr>
          <a:xfrm rot="-5400000">
            <a:off x="-1325880" y="1947672"/>
            <a:ext cx="5961888" cy="278892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800"/>
              <a:buFont typeface="Calibri"/>
              <a:buNone/>
            </a:pPr>
            <a:r>
              <a:rPr lang="en-US" sz="4800">
                <a:solidFill>
                  <a:schemeClr val="lt1"/>
                </a:solidFill>
              </a:rPr>
              <a:t>Mec Plans</a:t>
            </a:r>
            <a:endParaRPr/>
          </a:p>
        </p:txBody>
      </p:sp>
      <p:grpSp>
        <p:nvGrpSpPr>
          <p:cNvPr id="262" name="Google Shape;262;p12"/>
          <p:cNvGrpSpPr/>
          <p:nvPr/>
        </p:nvGrpSpPr>
        <p:grpSpPr>
          <a:xfrm>
            <a:off x="3794296" y="384292"/>
            <a:ext cx="7559504" cy="6094227"/>
            <a:chOff x="0" y="95534"/>
            <a:chExt cx="7559504" cy="6094227"/>
          </a:xfrm>
        </p:grpSpPr>
        <p:sp>
          <p:nvSpPr>
            <p:cNvPr id="263" name="Google Shape;263;p12"/>
            <p:cNvSpPr/>
            <p:nvPr/>
          </p:nvSpPr>
          <p:spPr>
            <a:xfrm>
              <a:off x="0" y="95534"/>
              <a:ext cx="7559504" cy="1152029"/>
            </a:xfrm>
            <a:prstGeom prst="roundRect">
              <a:avLst>
                <a:gd name="adj" fmla="val 16667"/>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2"/>
            <p:cNvSpPr txBox="1"/>
            <p:nvPr/>
          </p:nvSpPr>
          <p:spPr>
            <a:xfrm>
              <a:off x="56237" y="151771"/>
              <a:ext cx="7447030" cy="1039555"/>
            </a:xfrm>
            <a:prstGeom prst="rect">
              <a:avLst/>
            </a:prstGeom>
            <a:noFill/>
            <a:ln>
              <a:noFill/>
            </a:ln>
          </p:spPr>
          <p:txBody>
            <a:bodyPr spcFirstLastPara="1" wrap="square" lIns="110475" tIns="110475" rIns="110475" bIns="110475" anchor="ctr" anchorCtr="0">
              <a:noAutofit/>
            </a:bodyPr>
            <a:lstStyle/>
            <a:p>
              <a:pPr marL="0" marR="0" lvl="0" indent="0" algn="l" rtl="0">
                <a:lnSpc>
                  <a:spcPct val="90000"/>
                </a:lnSpc>
                <a:spcBef>
                  <a:spcPts val="0"/>
                </a:spcBef>
                <a:spcAft>
                  <a:spcPts val="0"/>
                </a:spcAft>
                <a:buClr>
                  <a:schemeClr val="lt1"/>
                </a:buClr>
                <a:buSzPts val="2900"/>
                <a:buFont typeface="Calibri"/>
                <a:buNone/>
              </a:pPr>
              <a:r>
                <a:rPr lang="en-US" sz="2900">
                  <a:solidFill>
                    <a:schemeClr val="lt1"/>
                  </a:solidFill>
                  <a:latin typeface="Calibri"/>
                  <a:ea typeface="Calibri"/>
                  <a:cs typeface="Calibri"/>
                  <a:sym typeface="Calibri"/>
                </a:rPr>
                <a:t>Mec – Minimum Essential Coverage</a:t>
              </a:r>
              <a:endParaRPr/>
            </a:p>
          </p:txBody>
        </p:sp>
        <p:sp>
          <p:nvSpPr>
            <p:cNvPr id="265" name="Google Shape;265;p12"/>
            <p:cNvSpPr/>
            <p:nvPr/>
          </p:nvSpPr>
          <p:spPr>
            <a:xfrm>
              <a:off x="0" y="1331084"/>
              <a:ext cx="7559504" cy="1152029"/>
            </a:xfrm>
            <a:prstGeom prst="roundRect">
              <a:avLst>
                <a:gd name="adj" fmla="val 16667"/>
              </a:avLst>
            </a:prstGeom>
            <a:solidFill>
              <a:srgbClr val="52CBC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2"/>
            <p:cNvSpPr txBox="1"/>
            <p:nvPr/>
          </p:nvSpPr>
          <p:spPr>
            <a:xfrm>
              <a:off x="56237" y="1387321"/>
              <a:ext cx="7447030" cy="1039555"/>
            </a:xfrm>
            <a:prstGeom prst="rect">
              <a:avLst/>
            </a:prstGeom>
            <a:noFill/>
            <a:ln>
              <a:noFill/>
            </a:ln>
          </p:spPr>
          <p:txBody>
            <a:bodyPr spcFirstLastPara="1" wrap="square" lIns="110475" tIns="110475" rIns="110475" bIns="110475" anchor="ctr" anchorCtr="0">
              <a:noAutofit/>
            </a:bodyPr>
            <a:lstStyle/>
            <a:p>
              <a:pPr marL="0" marR="0" lvl="0" indent="0" algn="l" rtl="0">
                <a:lnSpc>
                  <a:spcPct val="90000"/>
                </a:lnSpc>
                <a:spcBef>
                  <a:spcPts val="0"/>
                </a:spcBef>
                <a:spcAft>
                  <a:spcPts val="0"/>
                </a:spcAft>
                <a:buClr>
                  <a:schemeClr val="lt1"/>
                </a:buClr>
                <a:buSzPts val="2900"/>
                <a:buFont typeface="Calibri"/>
                <a:buNone/>
              </a:pPr>
              <a:r>
                <a:rPr lang="en-US" sz="2900">
                  <a:solidFill>
                    <a:schemeClr val="lt1"/>
                  </a:solidFill>
                  <a:latin typeface="Calibri"/>
                  <a:ea typeface="Calibri"/>
                  <a:cs typeface="Calibri"/>
                  <a:sym typeface="Calibri"/>
                </a:rPr>
                <a:t>They are a hybrid version between Indemnity and STM</a:t>
              </a:r>
              <a:endParaRPr/>
            </a:p>
          </p:txBody>
        </p:sp>
        <p:sp>
          <p:nvSpPr>
            <p:cNvPr id="267" name="Google Shape;267;p12"/>
            <p:cNvSpPr/>
            <p:nvPr/>
          </p:nvSpPr>
          <p:spPr>
            <a:xfrm>
              <a:off x="0" y="2566633"/>
              <a:ext cx="7559504" cy="1152029"/>
            </a:xfrm>
            <a:prstGeom prst="roundRect">
              <a:avLst>
                <a:gd name="adj" fmla="val 16667"/>
              </a:avLst>
            </a:prstGeom>
            <a:solidFill>
              <a:srgbClr val="4CC38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2"/>
            <p:cNvSpPr txBox="1"/>
            <p:nvPr/>
          </p:nvSpPr>
          <p:spPr>
            <a:xfrm>
              <a:off x="56237" y="2622870"/>
              <a:ext cx="7447030" cy="1039555"/>
            </a:xfrm>
            <a:prstGeom prst="rect">
              <a:avLst/>
            </a:prstGeom>
            <a:noFill/>
            <a:ln>
              <a:noFill/>
            </a:ln>
          </p:spPr>
          <p:txBody>
            <a:bodyPr spcFirstLastPara="1" wrap="square" lIns="110475" tIns="110475" rIns="110475" bIns="110475" anchor="ctr" anchorCtr="0">
              <a:noAutofit/>
            </a:bodyPr>
            <a:lstStyle/>
            <a:p>
              <a:pPr marL="0" marR="0" lvl="0" indent="0" algn="l" rtl="0">
                <a:lnSpc>
                  <a:spcPct val="90000"/>
                </a:lnSpc>
                <a:spcBef>
                  <a:spcPts val="0"/>
                </a:spcBef>
                <a:spcAft>
                  <a:spcPts val="0"/>
                </a:spcAft>
                <a:buClr>
                  <a:schemeClr val="lt1"/>
                </a:buClr>
                <a:buSzPts val="2900"/>
                <a:buFont typeface="Calibri"/>
                <a:buNone/>
              </a:pPr>
              <a:r>
                <a:rPr lang="en-US" sz="2900">
                  <a:solidFill>
                    <a:schemeClr val="lt1"/>
                  </a:solidFill>
                  <a:latin typeface="Calibri"/>
                  <a:ea typeface="Calibri"/>
                  <a:cs typeface="Calibri"/>
                  <a:sym typeface="Calibri"/>
                </a:rPr>
                <a:t>They have copays for doctors visits and indemnity benefits for the hospital</a:t>
              </a:r>
              <a:endParaRPr/>
            </a:p>
          </p:txBody>
        </p:sp>
        <p:sp>
          <p:nvSpPr>
            <p:cNvPr id="269" name="Google Shape;269;p12"/>
            <p:cNvSpPr/>
            <p:nvPr/>
          </p:nvSpPr>
          <p:spPr>
            <a:xfrm>
              <a:off x="0" y="3802183"/>
              <a:ext cx="7559504" cy="1152029"/>
            </a:xfrm>
            <a:prstGeom prst="roundRect">
              <a:avLst>
                <a:gd name="adj" fmla="val 16667"/>
              </a:avLst>
            </a:prstGeom>
            <a:solidFill>
              <a:srgbClr val="46BA4E"/>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2"/>
            <p:cNvSpPr txBox="1"/>
            <p:nvPr/>
          </p:nvSpPr>
          <p:spPr>
            <a:xfrm>
              <a:off x="56237" y="3858420"/>
              <a:ext cx="7447030" cy="1039555"/>
            </a:xfrm>
            <a:prstGeom prst="rect">
              <a:avLst/>
            </a:prstGeom>
            <a:noFill/>
            <a:ln>
              <a:noFill/>
            </a:ln>
          </p:spPr>
          <p:txBody>
            <a:bodyPr spcFirstLastPara="1" wrap="square" lIns="110475" tIns="110475" rIns="110475" bIns="110475" anchor="ctr" anchorCtr="0">
              <a:noAutofit/>
            </a:bodyPr>
            <a:lstStyle/>
            <a:p>
              <a:pPr marL="0" marR="0" lvl="0" indent="0" algn="l" rtl="0">
                <a:lnSpc>
                  <a:spcPct val="90000"/>
                </a:lnSpc>
                <a:spcBef>
                  <a:spcPts val="0"/>
                </a:spcBef>
                <a:spcAft>
                  <a:spcPts val="0"/>
                </a:spcAft>
                <a:buClr>
                  <a:schemeClr val="lt1"/>
                </a:buClr>
                <a:buSzPts val="2900"/>
                <a:buFont typeface="Calibri"/>
                <a:buNone/>
              </a:pPr>
              <a:r>
                <a:rPr lang="en-US" sz="2900">
                  <a:solidFill>
                    <a:schemeClr val="lt1"/>
                  </a:solidFill>
                  <a:latin typeface="Calibri"/>
                  <a:ea typeface="Calibri"/>
                  <a:cs typeface="Calibri"/>
                  <a:sym typeface="Calibri"/>
                </a:rPr>
                <a:t>Wellness and Preventative care is free</a:t>
              </a:r>
              <a:endParaRPr/>
            </a:p>
          </p:txBody>
        </p:sp>
        <p:sp>
          <p:nvSpPr>
            <p:cNvPr id="271" name="Google Shape;271;p12"/>
            <p:cNvSpPr/>
            <p:nvPr/>
          </p:nvSpPr>
          <p:spPr>
            <a:xfrm>
              <a:off x="0" y="5037732"/>
              <a:ext cx="7559504" cy="1152029"/>
            </a:xfrm>
            <a:prstGeom prst="roundRect">
              <a:avLst>
                <a:gd name="adj" fmla="val 16667"/>
              </a:avLst>
            </a:prstGeom>
            <a:solidFill>
              <a:srgbClr val="6FAB4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2"/>
            <p:cNvSpPr txBox="1"/>
            <p:nvPr/>
          </p:nvSpPr>
          <p:spPr>
            <a:xfrm>
              <a:off x="56237" y="5093969"/>
              <a:ext cx="7447030" cy="1039555"/>
            </a:xfrm>
            <a:prstGeom prst="rect">
              <a:avLst/>
            </a:prstGeom>
            <a:noFill/>
            <a:ln>
              <a:noFill/>
            </a:ln>
          </p:spPr>
          <p:txBody>
            <a:bodyPr spcFirstLastPara="1" wrap="square" lIns="110475" tIns="110475" rIns="110475" bIns="110475" anchor="ctr" anchorCtr="0">
              <a:noAutofit/>
            </a:bodyPr>
            <a:lstStyle/>
            <a:p>
              <a:pPr marL="0" marR="0" lvl="0" indent="0" algn="l" rtl="0">
                <a:lnSpc>
                  <a:spcPct val="90000"/>
                </a:lnSpc>
                <a:spcBef>
                  <a:spcPts val="0"/>
                </a:spcBef>
                <a:spcAft>
                  <a:spcPts val="0"/>
                </a:spcAft>
                <a:buClr>
                  <a:schemeClr val="lt1"/>
                </a:buClr>
                <a:buSzPts val="2900"/>
                <a:buFont typeface="Calibri"/>
                <a:buNone/>
              </a:pPr>
              <a:r>
                <a:rPr lang="en-US" sz="2900">
                  <a:solidFill>
                    <a:schemeClr val="lt1"/>
                  </a:solidFill>
                  <a:latin typeface="Calibri"/>
                  <a:ea typeface="Calibri"/>
                  <a:cs typeface="Calibri"/>
                  <a:sym typeface="Calibri"/>
                </a:rPr>
                <a:t>Preventive Generic medications are free</a:t>
              </a:r>
              <a:endParaRPr/>
            </a:p>
          </p:txBody>
        </p:sp>
      </p:grpSp>
    </p:spTree>
    <p:extLst>
      <p:ext uri="{BB962C8B-B14F-4D97-AF65-F5344CB8AC3E}">
        <p14:creationId xmlns:p14="http://schemas.microsoft.com/office/powerpoint/2010/main" val="1667326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6"/>
        <p:cNvGrpSpPr/>
        <p:nvPr/>
      </p:nvGrpSpPr>
      <p:grpSpPr>
        <a:xfrm>
          <a:off x="0" y="0"/>
          <a:ext cx="0" cy="0"/>
          <a:chOff x="0" y="0"/>
          <a:chExt cx="0" cy="0"/>
        </a:xfrm>
      </p:grpSpPr>
      <p:sp>
        <p:nvSpPr>
          <p:cNvPr id="277" name="Google Shape;277;p13"/>
          <p:cNvSpPr/>
          <p:nvPr/>
        </p:nvSpPr>
        <p:spPr>
          <a:xfrm>
            <a:off x="0" y="0"/>
            <a:ext cx="12188949"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 name="Google Shape;278;p13"/>
          <p:cNvSpPr/>
          <p:nvPr/>
        </p:nvSpPr>
        <p:spPr>
          <a:xfrm>
            <a:off x="0" y="0"/>
            <a:ext cx="12188949"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79" name="Google Shape;279;p13"/>
          <p:cNvGrpSpPr/>
          <p:nvPr/>
        </p:nvGrpSpPr>
        <p:grpSpPr>
          <a:xfrm>
            <a:off x="5889" y="-2"/>
            <a:ext cx="3468234" cy="6858000"/>
            <a:chOff x="651279" y="598259"/>
            <a:chExt cx="10889442" cy="5680742"/>
          </a:xfrm>
        </p:grpSpPr>
        <p:sp>
          <p:nvSpPr>
            <p:cNvPr id="280" name="Google Shape;280;p13"/>
            <p:cNvSpPr/>
            <p:nvPr/>
          </p:nvSpPr>
          <p:spPr>
            <a:xfrm>
              <a:off x="651279" y="598259"/>
              <a:ext cx="10889442" cy="56807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 name="Google Shape;281;p13"/>
            <p:cNvSpPr/>
            <p:nvPr/>
          </p:nvSpPr>
          <p:spPr>
            <a:xfrm>
              <a:off x="651279" y="598259"/>
              <a:ext cx="10889442" cy="5680742"/>
            </a:xfrm>
            <a:prstGeom prst="rect">
              <a:avLst/>
            </a:prstGeom>
            <a:solidFill>
              <a:schemeClr val="accent6">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82" name="Google Shape;282;p13"/>
          <p:cNvGrpSpPr/>
          <p:nvPr/>
        </p:nvGrpSpPr>
        <p:grpSpPr>
          <a:xfrm>
            <a:off x="1524" y="0"/>
            <a:ext cx="12188952" cy="6858000"/>
            <a:chOff x="0" y="0"/>
            <a:chExt cx="12188952" cy="6858000"/>
          </a:xfrm>
        </p:grpSpPr>
        <p:sp>
          <p:nvSpPr>
            <p:cNvPr id="283" name="Google Shape;283;p13"/>
            <p:cNvSpPr/>
            <p:nvPr/>
          </p:nvSpPr>
          <p:spPr>
            <a:xfrm>
              <a:off x="26122" y="6015669"/>
              <a:ext cx="2605762" cy="842331"/>
            </a:xfrm>
            <a:custGeom>
              <a:avLst/>
              <a:gdLst/>
              <a:ahLst/>
              <a:cxnLst/>
              <a:rect l="l" t="t" r="r" b="b"/>
              <a:pathLst>
                <a:path w="3180577" h="1033951" extrusionOk="0">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lt1">
                <a:alpha val="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 name="Google Shape;284;p13"/>
            <p:cNvSpPr/>
            <p:nvPr/>
          </p:nvSpPr>
          <p:spPr>
            <a:xfrm>
              <a:off x="655184" y="5798001"/>
              <a:ext cx="2485581" cy="1059999"/>
            </a:xfrm>
            <a:custGeom>
              <a:avLst/>
              <a:gdLst/>
              <a:ahLst/>
              <a:cxnLst/>
              <a:rect l="l" t="t" r="r" b="b"/>
              <a:pathLst>
                <a:path w="2449768" h="1050628" extrusionOk="0">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5" name="Google Shape;285;p13"/>
            <p:cNvSpPr/>
            <p:nvPr/>
          </p:nvSpPr>
          <p:spPr>
            <a:xfrm>
              <a:off x="3474720" y="0"/>
              <a:ext cx="6177282" cy="1778750"/>
            </a:xfrm>
            <a:custGeom>
              <a:avLst/>
              <a:gdLst/>
              <a:ahLst/>
              <a:cxnLst/>
              <a:rect l="l" t="t" r="r" b="b"/>
              <a:pathLst>
                <a:path w="6386648" h="1849426" extrusionOk="0">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lt1">
                <a:alpha val="4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6" name="Google Shape;286;p13"/>
            <p:cNvSpPr/>
            <p:nvPr/>
          </p:nvSpPr>
          <p:spPr>
            <a:xfrm>
              <a:off x="0" y="2390523"/>
              <a:ext cx="611491" cy="1421482"/>
            </a:xfrm>
            <a:custGeom>
              <a:avLst/>
              <a:gdLst/>
              <a:ahLst/>
              <a:cxnLst/>
              <a:rect l="l" t="t" r="r" b="b"/>
              <a:pathLst>
                <a:path w="611491" h="1429512" extrusionOk="0">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 name="Google Shape;287;p13"/>
            <p:cNvSpPr/>
            <p:nvPr/>
          </p:nvSpPr>
          <p:spPr>
            <a:xfrm>
              <a:off x="3792772" y="0"/>
              <a:ext cx="2423863" cy="1343767"/>
            </a:xfrm>
            <a:custGeom>
              <a:avLst/>
              <a:gdLst/>
              <a:ahLst/>
              <a:cxnLst/>
              <a:rect l="l" t="t" r="r" b="b"/>
              <a:pathLst>
                <a:path w="3015964" h="1681468" extrusionOk="0">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lt1">
                <a:alpha val="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13"/>
            <p:cNvSpPr/>
            <p:nvPr/>
          </p:nvSpPr>
          <p:spPr>
            <a:xfrm>
              <a:off x="10946850" y="0"/>
              <a:ext cx="1242102" cy="2620884"/>
            </a:xfrm>
            <a:custGeom>
              <a:avLst/>
              <a:gdLst/>
              <a:ahLst/>
              <a:cxnLst/>
              <a:rect l="l" t="t" r="r" b="b"/>
              <a:pathLst>
                <a:path w="1242102" h="2635689" extrusionOk="0">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lt1">
                <a:alpha val="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9" name="Google Shape;289;p13"/>
            <p:cNvSpPr/>
            <p:nvPr/>
          </p:nvSpPr>
          <p:spPr>
            <a:xfrm>
              <a:off x="0" y="0"/>
              <a:ext cx="1577788" cy="980141"/>
            </a:xfrm>
            <a:custGeom>
              <a:avLst/>
              <a:gdLst/>
              <a:ahLst/>
              <a:cxnLst/>
              <a:rect l="l" t="t" r="r" b="b"/>
              <a:pathLst>
                <a:path w="1471018" h="795676" extrusionOk="0">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90" name="Google Shape;290;p13"/>
          <p:cNvSpPr txBox="1">
            <a:spLocks noGrp="1"/>
          </p:cNvSpPr>
          <p:nvPr>
            <p:ph type="title"/>
          </p:nvPr>
        </p:nvSpPr>
        <p:spPr>
          <a:xfrm rot="-5400000">
            <a:off x="-1325880" y="1947672"/>
            <a:ext cx="5961888" cy="278892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800"/>
              <a:buFont typeface="Calibri"/>
              <a:buNone/>
            </a:pPr>
            <a:r>
              <a:rPr lang="en-US" sz="4800">
                <a:solidFill>
                  <a:schemeClr val="lt1"/>
                </a:solidFill>
              </a:rPr>
              <a:t>STM Plans</a:t>
            </a:r>
            <a:endParaRPr/>
          </a:p>
        </p:txBody>
      </p:sp>
      <p:grpSp>
        <p:nvGrpSpPr>
          <p:cNvPr id="291" name="Google Shape;291;p13"/>
          <p:cNvGrpSpPr/>
          <p:nvPr/>
        </p:nvGrpSpPr>
        <p:grpSpPr>
          <a:xfrm>
            <a:off x="3794296" y="1119802"/>
            <a:ext cx="7559504" cy="4623207"/>
            <a:chOff x="0" y="831044"/>
            <a:chExt cx="7559504" cy="4623207"/>
          </a:xfrm>
        </p:grpSpPr>
        <p:sp>
          <p:nvSpPr>
            <p:cNvPr id="292" name="Google Shape;292;p13"/>
            <p:cNvSpPr/>
            <p:nvPr/>
          </p:nvSpPr>
          <p:spPr>
            <a:xfrm>
              <a:off x="0" y="831044"/>
              <a:ext cx="7559504" cy="873953"/>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3"/>
            <p:cNvSpPr txBox="1"/>
            <p:nvPr/>
          </p:nvSpPr>
          <p:spPr>
            <a:xfrm>
              <a:off x="42663" y="873707"/>
              <a:ext cx="7474178" cy="788627"/>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Calibri"/>
                <a:buNone/>
              </a:pPr>
              <a:r>
                <a:rPr lang="en-US" sz="2200">
                  <a:solidFill>
                    <a:schemeClr val="lt1"/>
                  </a:solidFill>
                  <a:latin typeface="Calibri"/>
                  <a:ea typeface="Calibri"/>
                  <a:cs typeface="Calibri"/>
                  <a:sym typeface="Calibri"/>
                </a:rPr>
                <a:t>These are comparable to comprehensive major medical plans</a:t>
              </a:r>
              <a:endParaRPr/>
            </a:p>
          </p:txBody>
        </p:sp>
        <p:sp>
          <p:nvSpPr>
            <p:cNvPr id="294" name="Google Shape;294;p13"/>
            <p:cNvSpPr/>
            <p:nvPr/>
          </p:nvSpPr>
          <p:spPr>
            <a:xfrm>
              <a:off x="0" y="1768358"/>
              <a:ext cx="7559504" cy="873953"/>
            </a:xfrm>
            <a:prstGeom prst="roundRect">
              <a:avLst>
                <a:gd name="adj" fmla="val 16667"/>
              </a:avLst>
            </a:prstGeom>
            <a:solidFill>
              <a:srgbClr val="D7785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3"/>
            <p:cNvSpPr txBox="1"/>
            <p:nvPr/>
          </p:nvSpPr>
          <p:spPr>
            <a:xfrm>
              <a:off x="42663" y="1811021"/>
              <a:ext cx="7474178" cy="788627"/>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Calibri"/>
                <a:buNone/>
              </a:pPr>
              <a:r>
                <a:rPr lang="en-US" sz="2200">
                  <a:solidFill>
                    <a:schemeClr val="lt1"/>
                  </a:solidFill>
                  <a:latin typeface="Calibri"/>
                  <a:ea typeface="Calibri"/>
                  <a:cs typeface="Calibri"/>
                  <a:sym typeface="Calibri"/>
                </a:rPr>
                <a:t>They have deductibles, co-insurance, maximum OOP, policy maximums and set copays</a:t>
              </a:r>
              <a:endParaRPr/>
            </a:p>
          </p:txBody>
        </p:sp>
        <p:sp>
          <p:nvSpPr>
            <p:cNvPr id="296" name="Google Shape;296;p13"/>
            <p:cNvSpPr/>
            <p:nvPr/>
          </p:nvSpPr>
          <p:spPr>
            <a:xfrm>
              <a:off x="0" y="2705671"/>
              <a:ext cx="7559504" cy="873953"/>
            </a:xfrm>
            <a:prstGeom prst="roundRect">
              <a:avLst>
                <a:gd name="adj" fmla="val 16667"/>
              </a:avLst>
            </a:prstGeom>
            <a:solidFill>
              <a:srgbClr val="C47F6E"/>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3"/>
            <p:cNvSpPr txBox="1"/>
            <p:nvPr/>
          </p:nvSpPr>
          <p:spPr>
            <a:xfrm>
              <a:off x="42663" y="2748334"/>
              <a:ext cx="7474178" cy="788627"/>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Calibri"/>
                <a:buNone/>
              </a:pPr>
              <a:r>
                <a:rPr lang="en-US" sz="2200">
                  <a:solidFill>
                    <a:schemeClr val="lt1"/>
                  </a:solidFill>
                  <a:latin typeface="Calibri"/>
                  <a:ea typeface="Calibri"/>
                  <a:cs typeface="Calibri"/>
                  <a:sym typeface="Calibri"/>
                </a:rPr>
                <a:t>The customer must qualify medically – there are knock out medical questions</a:t>
              </a:r>
              <a:endParaRPr/>
            </a:p>
          </p:txBody>
        </p:sp>
        <p:sp>
          <p:nvSpPr>
            <p:cNvPr id="298" name="Google Shape;298;p13"/>
            <p:cNvSpPr/>
            <p:nvPr/>
          </p:nvSpPr>
          <p:spPr>
            <a:xfrm>
              <a:off x="0" y="3642985"/>
              <a:ext cx="7559504" cy="873953"/>
            </a:xfrm>
            <a:prstGeom prst="roundRect">
              <a:avLst>
                <a:gd name="adj" fmla="val 16667"/>
              </a:avLst>
            </a:prstGeom>
            <a:solidFill>
              <a:srgbClr val="B38E8A"/>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3"/>
            <p:cNvSpPr txBox="1"/>
            <p:nvPr/>
          </p:nvSpPr>
          <p:spPr>
            <a:xfrm>
              <a:off x="42663" y="3685648"/>
              <a:ext cx="7474178" cy="788627"/>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Calibri"/>
                <a:buNone/>
              </a:pPr>
              <a:r>
                <a:rPr lang="en-US" sz="2200">
                  <a:solidFill>
                    <a:schemeClr val="lt1"/>
                  </a:solidFill>
                  <a:latin typeface="Calibri"/>
                  <a:ea typeface="Calibri"/>
                  <a:cs typeface="Calibri"/>
                  <a:sym typeface="Calibri"/>
                </a:rPr>
                <a:t>These are going to be more expensive as the customer is older and less expensive for younger customers</a:t>
              </a:r>
              <a:endParaRPr/>
            </a:p>
          </p:txBody>
        </p:sp>
        <p:sp>
          <p:nvSpPr>
            <p:cNvPr id="300" name="Google Shape;300;p13"/>
            <p:cNvSpPr/>
            <p:nvPr/>
          </p:nvSpPr>
          <p:spPr>
            <a:xfrm>
              <a:off x="0" y="4580298"/>
              <a:ext cx="7559504" cy="873953"/>
            </a:xfrm>
            <a:prstGeom prst="roundRect">
              <a:avLst>
                <a:gd name="adj" fmla="val 16667"/>
              </a:avLst>
            </a:prstGeom>
            <a:solidFill>
              <a:srgbClr val="A4A4A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3"/>
            <p:cNvSpPr txBox="1"/>
            <p:nvPr/>
          </p:nvSpPr>
          <p:spPr>
            <a:xfrm>
              <a:off x="42663" y="4622961"/>
              <a:ext cx="7474178" cy="788627"/>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Calibri"/>
                <a:buNone/>
              </a:pPr>
              <a:r>
                <a:rPr lang="en-US" sz="2200">
                  <a:solidFill>
                    <a:schemeClr val="lt1"/>
                  </a:solidFill>
                  <a:latin typeface="Calibri"/>
                  <a:ea typeface="Calibri"/>
                  <a:cs typeface="Calibri"/>
                  <a:sym typeface="Calibri"/>
                </a:rPr>
                <a:t>These are what you want to offer to people who are educated about the insurance market and are familiar with Major Medical</a:t>
              </a:r>
              <a:endParaRPr/>
            </a:p>
          </p:txBody>
        </p:sp>
      </p:grpSp>
    </p:spTree>
    <p:extLst>
      <p:ext uri="{BB962C8B-B14F-4D97-AF65-F5344CB8AC3E}">
        <p14:creationId xmlns:p14="http://schemas.microsoft.com/office/powerpoint/2010/main" val="3461011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5"/>
        <p:cNvGrpSpPr/>
        <p:nvPr/>
      </p:nvGrpSpPr>
      <p:grpSpPr>
        <a:xfrm>
          <a:off x="0" y="0"/>
          <a:ext cx="0" cy="0"/>
          <a:chOff x="0" y="0"/>
          <a:chExt cx="0" cy="0"/>
        </a:xfrm>
      </p:grpSpPr>
      <p:sp>
        <p:nvSpPr>
          <p:cNvPr id="306" name="Google Shape;306;p14"/>
          <p:cNvSpPr/>
          <p:nvPr/>
        </p:nvSpPr>
        <p:spPr>
          <a:xfrm>
            <a:off x="0" y="0"/>
            <a:ext cx="12188949"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7" name="Google Shape;307;p14"/>
          <p:cNvSpPr/>
          <p:nvPr/>
        </p:nvSpPr>
        <p:spPr>
          <a:xfrm>
            <a:off x="0" y="0"/>
            <a:ext cx="12188949"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08" name="Google Shape;308;p14"/>
          <p:cNvGrpSpPr/>
          <p:nvPr/>
        </p:nvGrpSpPr>
        <p:grpSpPr>
          <a:xfrm>
            <a:off x="5889" y="-2"/>
            <a:ext cx="3468234" cy="6858000"/>
            <a:chOff x="651279" y="598259"/>
            <a:chExt cx="10889442" cy="5680742"/>
          </a:xfrm>
        </p:grpSpPr>
        <p:sp>
          <p:nvSpPr>
            <p:cNvPr id="309" name="Google Shape;309;p14"/>
            <p:cNvSpPr/>
            <p:nvPr/>
          </p:nvSpPr>
          <p:spPr>
            <a:xfrm>
              <a:off x="651279" y="598259"/>
              <a:ext cx="10889442" cy="56807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0" name="Google Shape;310;p14"/>
            <p:cNvSpPr/>
            <p:nvPr/>
          </p:nvSpPr>
          <p:spPr>
            <a:xfrm>
              <a:off x="651279" y="598259"/>
              <a:ext cx="10889442" cy="5680742"/>
            </a:xfrm>
            <a:prstGeom prst="rect">
              <a:avLst/>
            </a:prstGeom>
            <a:solidFill>
              <a:schemeClr val="accent6">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311" name="Google Shape;311;p14"/>
          <p:cNvGrpSpPr/>
          <p:nvPr/>
        </p:nvGrpSpPr>
        <p:grpSpPr>
          <a:xfrm>
            <a:off x="1524" y="0"/>
            <a:ext cx="12188952" cy="6858000"/>
            <a:chOff x="0" y="0"/>
            <a:chExt cx="12188952" cy="6858000"/>
          </a:xfrm>
        </p:grpSpPr>
        <p:sp>
          <p:nvSpPr>
            <p:cNvPr id="312" name="Google Shape;312;p14"/>
            <p:cNvSpPr/>
            <p:nvPr/>
          </p:nvSpPr>
          <p:spPr>
            <a:xfrm>
              <a:off x="26122" y="6015669"/>
              <a:ext cx="2605762" cy="842331"/>
            </a:xfrm>
            <a:custGeom>
              <a:avLst/>
              <a:gdLst/>
              <a:ahLst/>
              <a:cxnLst/>
              <a:rect l="l" t="t" r="r" b="b"/>
              <a:pathLst>
                <a:path w="3180577" h="1033951" extrusionOk="0">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lt1">
                <a:alpha val="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3" name="Google Shape;313;p14"/>
            <p:cNvSpPr/>
            <p:nvPr/>
          </p:nvSpPr>
          <p:spPr>
            <a:xfrm>
              <a:off x="655184" y="5798001"/>
              <a:ext cx="2485581" cy="1059999"/>
            </a:xfrm>
            <a:custGeom>
              <a:avLst/>
              <a:gdLst/>
              <a:ahLst/>
              <a:cxnLst/>
              <a:rect l="l" t="t" r="r" b="b"/>
              <a:pathLst>
                <a:path w="2449768" h="1050628" extrusionOk="0">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 name="Google Shape;314;p14"/>
            <p:cNvSpPr/>
            <p:nvPr/>
          </p:nvSpPr>
          <p:spPr>
            <a:xfrm>
              <a:off x="3474720" y="0"/>
              <a:ext cx="6177282" cy="1778750"/>
            </a:xfrm>
            <a:custGeom>
              <a:avLst/>
              <a:gdLst/>
              <a:ahLst/>
              <a:cxnLst/>
              <a:rect l="l" t="t" r="r" b="b"/>
              <a:pathLst>
                <a:path w="6386648" h="1849426" extrusionOk="0">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lt1">
                <a:alpha val="4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 name="Google Shape;315;p14"/>
            <p:cNvSpPr/>
            <p:nvPr/>
          </p:nvSpPr>
          <p:spPr>
            <a:xfrm>
              <a:off x="0" y="2390523"/>
              <a:ext cx="611491" cy="1421482"/>
            </a:xfrm>
            <a:custGeom>
              <a:avLst/>
              <a:gdLst/>
              <a:ahLst/>
              <a:cxnLst/>
              <a:rect l="l" t="t" r="r" b="b"/>
              <a:pathLst>
                <a:path w="611491" h="1429512" extrusionOk="0">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6" name="Google Shape;316;p14"/>
            <p:cNvSpPr/>
            <p:nvPr/>
          </p:nvSpPr>
          <p:spPr>
            <a:xfrm>
              <a:off x="3792772" y="0"/>
              <a:ext cx="2423863" cy="1343767"/>
            </a:xfrm>
            <a:custGeom>
              <a:avLst/>
              <a:gdLst/>
              <a:ahLst/>
              <a:cxnLst/>
              <a:rect l="l" t="t" r="r" b="b"/>
              <a:pathLst>
                <a:path w="3015964" h="1681468" extrusionOk="0">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lt1">
                <a:alpha val="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 name="Google Shape;317;p14"/>
            <p:cNvSpPr/>
            <p:nvPr/>
          </p:nvSpPr>
          <p:spPr>
            <a:xfrm>
              <a:off x="10946850" y="0"/>
              <a:ext cx="1242102" cy="2620884"/>
            </a:xfrm>
            <a:custGeom>
              <a:avLst/>
              <a:gdLst/>
              <a:ahLst/>
              <a:cxnLst/>
              <a:rect l="l" t="t" r="r" b="b"/>
              <a:pathLst>
                <a:path w="1242102" h="2635689" extrusionOk="0">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lt1">
                <a:alpha val="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8" name="Google Shape;318;p14"/>
            <p:cNvSpPr/>
            <p:nvPr/>
          </p:nvSpPr>
          <p:spPr>
            <a:xfrm>
              <a:off x="0" y="0"/>
              <a:ext cx="1577788" cy="980141"/>
            </a:xfrm>
            <a:custGeom>
              <a:avLst/>
              <a:gdLst/>
              <a:ahLst/>
              <a:cxnLst/>
              <a:rect l="l" t="t" r="r" b="b"/>
              <a:pathLst>
                <a:path w="1471018" h="795676" extrusionOk="0">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19" name="Google Shape;319;p14"/>
          <p:cNvSpPr txBox="1">
            <a:spLocks noGrp="1"/>
          </p:cNvSpPr>
          <p:nvPr>
            <p:ph type="title"/>
          </p:nvPr>
        </p:nvSpPr>
        <p:spPr>
          <a:xfrm rot="-5400000">
            <a:off x="-1325880" y="1947672"/>
            <a:ext cx="5961888" cy="278892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800"/>
              <a:buFont typeface="Calibri"/>
              <a:buNone/>
            </a:pPr>
            <a:r>
              <a:rPr lang="en-US" sz="4800">
                <a:solidFill>
                  <a:schemeClr val="lt1"/>
                </a:solidFill>
              </a:rPr>
              <a:t>Ancillaries</a:t>
            </a:r>
            <a:endParaRPr/>
          </a:p>
        </p:txBody>
      </p:sp>
      <p:grpSp>
        <p:nvGrpSpPr>
          <p:cNvPr id="320" name="Google Shape;320;p14"/>
          <p:cNvGrpSpPr/>
          <p:nvPr/>
        </p:nvGrpSpPr>
        <p:grpSpPr>
          <a:xfrm>
            <a:off x="3794296" y="364746"/>
            <a:ext cx="7559504" cy="6133320"/>
            <a:chOff x="0" y="75988"/>
            <a:chExt cx="7559504" cy="6133320"/>
          </a:xfrm>
        </p:grpSpPr>
        <p:sp>
          <p:nvSpPr>
            <p:cNvPr id="321" name="Google Shape;321;p14"/>
            <p:cNvSpPr/>
            <p:nvPr/>
          </p:nvSpPr>
          <p:spPr>
            <a:xfrm>
              <a:off x="0" y="75988"/>
              <a:ext cx="7559504" cy="647595"/>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4"/>
            <p:cNvSpPr txBox="1"/>
            <p:nvPr/>
          </p:nvSpPr>
          <p:spPr>
            <a:xfrm>
              <a:off x="31613" y="107601"/>
              <a:ext cx="7496278" cy="584369"/>
            </a:xfrm>
            <a:prstGeom prst="rect">
              <a:avLst/>
            </a:prstGeom>
            <a:noFill/>
            <a:ln>
              <a:noFill/>
            </a:ln>
          </p:spPr>
          <p:txBody>
            <a:bodyPr spcFirstLastPara="1" wrap="square" lIns="102850" tIns="102850" rIns="102850" bIns="102850" anchor="ctr" anchorCtr="0">
              <a:noAutofit/>
            </a:bodyPr>
            <a:lstStyle/>
            <a:p>
              <a:pPr marL="0" marR="0" lvl="0" indent="0" algn="l" rtl="0">
                <a:lnSpc>
                  <a:spcPct val="90000"/>
                </a:lnSpc>
                <a:spcBef>
                  <a:spcPts val="0"/>
                </a:spcBef>
                <a:spcAft>
                  <a:spcPts val="0"/>
                </a:spcAft>
                <a:buClr>
                  <a:schemeClr val="lt1"/>
                </a:buClr>
                <a:buSzPts val="2700"/>
                <a:buFont typeface="Calibri"/>
                <a:buNone/>
              </a:pPr>
              <a:r>
                <a:rPr lang="en-US" sz="2700">
                  <a:solidFill>
                    <a:schemeClr val="lt1"/>
                  </a:solidFill>
                  <a:latin typeface="Calibri"/>
                  <a:ea typeface="Calibri"/>
                  <a:cs typeface="Calibri"/>
                  <a:sym typeface="Calibri"/>
                </a:rPr>
                <a:t>Accidental Death and Dismemberment (AD&amp;D)</a:t>
              </a:r>
              <a:endParaRPr/>
            </a:p>
          </p:txBody>
        </p:sp>
        <p:sp>
          <p:nvSpPr>
            <p:cNvPr id="323" name="Google Shape;323;p14"/>
            <p:cNvSpPr/>
            <p:nvPr/>
          </p:nvSpPr>
          <p:spPr>
            <a:xfrm>
              <a:off x="0" y="723583"/>
              <a:ext cx="7559504" cy="125752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4"/>
            <p:cNvSpPr txBox="1"/>
            <p:nvPr/>
          </p:nvSpPr>
          <p:spPr>
            <a:xfrm>
              <a:off x="0" y="723583"/>
              <a:ext cx="7559504" cy="1257525"/>
            </a:xfrm>
            <a:prstGeom prst="rect">
              <a:avLst/>
            </a:prstGeom>
            <a:noFill/>
            <a:ln>
              <a:noFill/>
            </a:ln>
          </p:spPr>
          <p:txBody>
            <a:bodyPr spcFirstLastPara="1" wrap="square" lIns="240000" tIns="34275" rIns="192000" bIns="34275" anchor="t" anchorCtr="0">
              <a:noAutofit/>
            </a:bodyPr>
            <a:lstStyle/>
            <a:p>
              <a:pPr marL="228600" marR="0" lvl="1" indent="-228600" algn="l" rtl="0">
                <a:lnSpc>
                  <a:spcPct val="90000"/>
                </a:lnSpc>
                <a:spcBef>
                  <a:spcPts val="0"/>
                </a:spcBef>
                <a:spcAft>
                  <a:spcPts val="0"/>
                </a:spcAft>
                <a:buClr>
                  <a:schemeClr val="dk1"/>
                </a:buClr>
                <a:buSzPts val="2100"/>
                <a:buFont typeface="Calibri"/>
                <a:buChar char="•"/>
              </a:pPr>
              <a:r>
                <a:rPr lang="en-US" sz="2100" b="0" i="0" u="none" strike="noStrike" cap="none">
                  <a:solidFill>
                    <a:schemeClr val="dk1"/>
                  </a:solidFill>
                  <a:latin typeface="Calibri"/>
                  <a:ea typeface="Calibri"/>
                  <a:cs typeface="Calibri"/>
                  <a:sym typeface="Calibri"/>
                </a:rPr>
                <a:t>Whenever the customers budget allows you want to add the AD&amp;D to the plan. This pays a lump sum amount to the customers beneficiary if they pass away due to an accident or pays a percentage of the benefit amount if loss of limb occurs. </a:t>
              </a:r>
              <a:endParaRPr/>
            </a:p>
          </p:txBody>
        </p:sp>
        <p:sp>
          <p:nvSpPr>
            <p:cNvPr id="325" name="Google Shape;325;p14"/>
            <p:cNvSpPr/>
            <p:nvPr/>
          </p:nvSpPr>
          <p:spPr>
            <a:xfrm>
              <a:off x="0" y="1981108"/>
              <a:ext cx="7559504" cy="647595"/>
            </a:xfrm>
            <a:prstGeom prst="roundRect">
              <a:avLst>
                <a:gd name="adj" fmla="val 16667"/>
              </a:avLst>
            </a:prstGeom>
            <a:solidFill>
              <a:srgbClr val="D07A5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4"/>
            <p:cNvSpPr txBox="1"/>
            <p:nvPr/>
          </p:nvSpPr>
          <p:spPr>
            <a:xfrm>
              <a:off x="31613" y="2012721"/>
              <a:ext cx="7496278" cy="584369"/>
            </a:xfrm>
            <a:prstGeom prst="rect">
              <a:avLst/>
            </a:prstGeom>
            <a:noFill/>
            <a:ln>
              <a:noFill/>
            </a:ln>
          </p:spPr>
          <p:txBody>
            <a:bodyPr spcFirstLastPara="1" wrap="square" lIns="102850" tIns="102850" rIns="102850" bIns="102850" anchor="ctr" anchorCtr="0">
              <a:noAutofit/>
            </a:bodyPr>
            <a:lstStyle/>
            <a:p>
              <a:pPr marL="0" marR="0" lvl="0" indent="0" algn="l" rtl="0">
                <a:lnSpc>
                  <a:spcPct val="90000"/>
                </a:lnSpc>
                <a:spcBef>
                  <a:spcPts val="0"/>
                </a:spcBef>
                <a:spcAft>
                  <a:spcPts val="0"/>
                </a:spcAft>
                <a:buClr>
                  <a:schemeClr val="lt1"/>
                </a:buClr>
                <a:buSzPts val="2700"/>
                <a:buFont typeface="Calibri"/>
                <a:buNone/>
              </a:pPr>
              <a:r>
                <a:rPr lang="en-US" sz="2700">
                  <a:solidFill>
                    <a:schemeClr val="lt1"/>
                  </a:solidFill>
                  <a:latin typeface="Calibri"/>
                  <a:ea typeface="Calibri"/>
                  <a:cs typeface="Calibri"/>
                  <a:sym typeface="Calibri"/>
                </a:rPr>
                <a:t>Critical Illness</a:t>
              </a:r>
              <a:endParaRPr/>
            </a:p>
          </p:txBody>
        </p:sp>
        <p:sp>
          <p:nvSpPr>
            <p:cNvPr id="327" name="Google Shape;327;p14"/>
            <p:cNvSpPr/>
            <p:nvPr/>
          </p:nvSpPr>
          <p:spPr>
            <a:xfrm>
              <a:off x="0" y="2628703"/>
              <a:ext cx="7559504" cy="125752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4"/>
            <p:cNvSpPr txBox="1"/>
            <p:nvPr/>
          </p:nvSpPr>
          <p:spPr>
            <a:xfrm>
              <a:off x="0" y="2628703"/>
              <a:ext cx="7559504" cy="1257525"/>
            </a:xfrm>
            <a:prstGeom prst="rect">
              <a:avLst/>
            </a:prstGeom>
            <a:noFill/>
            <a:ln>
              <a:noFill/>
            </a:ln>
          </p:spPr>
          <p:txBody>
            <a:bodyPr spcFirstLastPara="1" wrap="square" lIns="240000" tIns="34275" rIns="192000" bIns="34275" anchor="t" anchorCtr="0">
              <a:noAutofit/>
            </a:bodyPr>
            <a:lstStyle/>
            <a:p>
              <a:pPr marL="228600" marR="0" lvl="1" indent="-228600" algn="l" rtl="0">
                <a:lnSpc>
                  <a:spcPct val="90000"/>
                </a:lnSpc>
                <a:spcBef>
                  <a:spcPts val="0"/>
                </a:spcBef>
                <a:spcAft>
                  <a:spcPts val="0"/>
                </a:spcAft>
                <a:buClr>
                  <a:schemeClr val="dk1"/>
                </a:buClr>
                <a:buSzPts val="2100"/>
                <a:buFont typeface="Calibri"/>
                <a:buChar char="•"/>
              </a:pPr>
              <a:r>
                <a:rPr lang="en-US" sz="2100" b="0" i="0" u="none" strike="noStrike" cap="none">
                  <a:solidFill>
                    <a:schemeClr val="dk1"/>
                  </a:solidFill>
                  <a:latin typeface="Calibri"/>
                  <a:ea typeface="Calibri"/>
                  <a:cs typeface="Calibri"/>
                  <a:sym typeface="Calibri"/>
                </a:rPr>
                <a:t>Add this on if you do not have access to AD&amp;D or would like to add both the plan. Critical Illness pays a lump sum amount to the customer directly if the customer is diagnosed with a covered critical illness such as cancer or stroke.</a:t>
              </a:r>
              <a:endParaRPr/>
            </a:p>
          </p:txBody>
        </p:sp>
        <p:sp>
          <p:nvSpPr>
            <p:cNvPr id="329" name="Google Shape;329;p14"/>
            <p:cNvSpPr/>
            <p:nvPr/>
          </p:nvSpPr>
          <p:spPr>
            <a:xfrm>
              <a:off x="0" y="3886228"/>
              <a:ext cx="7559504" cy="647595"/>
            </a:xfrm>
            <a:prstGeom prst="roundRect">
              <a:avLst>
                <a:gd name="adj" fmla="val 16667"/>
              </a:avLst>
            </a:prstGeom>
            <a:solidFill>
              <a:srgbClr val="B8888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4"/>
            <p:cNvSpPr txBox="1"/>
            <p:nvPr/>
          </p:nvSpPr>
          <p:spPr>
            <a:xfrm>
              <a:off x="31613" y="3917841"/>
              <a:ext cx="7496278" cy="584369"/>
            </a:xfrm>
            <a:prstGeom prst="rect">
              <a:avLst/>
            </a:prstGeom>
            <a:noFill/>
            <a:ln>
              <a:noFill/>
            </a:ln>
          </p:spPr>
          <p:txBody>
            <a:bodyPr spcFirstLastPara="1" wrap="square" lIns="102850" tIns="102850" rIns="102850" bIns="102850" anchor="ctr" anchorCtr="0">
              <a:noAutofit/>
            </a:bodyPr>
            <a:lstStyle/>
            <a:p>
              <a:pPr marL="0" marR="0" lvl="0" indent="0" algn="l" rtl="0">
                <a:lnSpc>
                  <a:spcPct val="90000"/>
                </a:lnSpc>
                <a:spcBef>
                  <a:spcPts val="0"/>
                </a:spcBef>
                <a:spcAft>
                  <a:spcPts val="0"/>
                </a:spcAft>
                <a:buClr>
                  <a:schemeClr val="lt1"/>
                </a:buClr>
                <a:buSzPts val="2700"/>
                <a:buFont typeface="Calibri"/>
                <a:buNone/>
              </a:pPr>
              <a:r>
                <a:rPr lang="en-US" sz="2700">
                  <a:solidFill>
                    <a:schemeClr val="lt1"/>
                  </a:solidFill>
                  <a:latin typeface="Calibri"/>
                  <a:ea typeface="Calibri"/>
                  <a:cs typeface="Calibri"/>
                  <a:sym typeface="Calibri"/>
                </a:rPr>
                <a:t>Dental</a:t>
              </a:r>
              <a:endParaRPr/>
            </a:p>
          </p:txBody>
        </p:sp>
        <p:sp>
          <p:nvSpPr>
            <p:cNvPr id="331" name="Google Shape;331;p14"/>
            <p:cNvSpPr/>
            <p:nvPr/>
          </p:nvSpPr>
          <p:spPr>
            <a:xfrm>
              <a:off x="0" y="4611583"/>
              <a:ext cx="7559504" cy="647595"/>
            </a:xfrm>
            <a:prstGeom prst="roundRect">
              <a:avLst>
                <a:gd name="adj" fmla="val 16667"/>
              </a:avLst>
            </a:prstGeom>
            <a:solidFill>
              <a:srgbClr val="A4A4A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4"/>
            <p:cNvSpPr txBox="1"/>
            <p:nvPr/>
          </p:nvSpPr>
          <p:spPr>
            <a:xfrm>
              <a:off x="31613" y="4643196"/>
              <a:ext cx="7496278" cy="584369"/>
            </a:xfrm>
            <a:prstGeom prst="rect">
              <a:avLst/>
            </a:prstGeom>
            <a:noFill/>
            <a:ln>
              <a:noFill/>
            </a:ln>
          </p:spPr>
          <p:txBody>
            <a:bodyPr spcFirstLastPara="1" wrap="square" lIns="102850" tIns="102850" rIns="102850" bIns="102850" anchor="ctr" anchorCtr="0">
              <a:noAutofit/>
            </a:bodyPr>
            <a:lstStyle/>
            <a:p>
              <a:pPr marL="0" marR="0" lvl="0" indent="0" algn="l" rtl="0">
                <a:lnSpc>
                  <a:spcPct val="90000"/>
                </a:lnSpc>
                <a:spcBef>
                  <a:spcPts val="0"/>
                </a:spcBef>
                <a:spcAft>
                  <a:spcPts val="0"/>
                </a:spcAft>
                <a:buClr>
                  <a:schemeClr val="lt1"/>
                </a:buClr>
                <a:buSzPts val="2700"/>
                <a:buFont typeface="Calibri"/>
                <a:buNone/>
              </a:pPr>
              <a:r>
                <a:rPr lang="en-US" sz="2700">
                  <a:solidFill>
                    <a:schemeClr val="lt1"/>
                  </a:solidFill>
                  <a:latin typeface="Calibri"/>
                  <a:ea typeface="Calibri"/>
                  <a:cs typeface="Calibri"/>
                  <a:sym typeface="Calibri"/>
                </a:rPr>
                <a:t>Telemed</a:t>
              </a:r>
              <a:endParaRPr sz="2700">
                <a:solidFill>
                  <a:schemeClr val="lt1"/>
                </a:solidFill>
                <a:latin typeface="Calibri"/>
                <a:ea typeface="Calibri"/>
                <a:cs typeface="Calibri"/>
                <a:sym typeface="Calibri"/>
              </a:endParaRPr>
            </a:p>
          </p:txBody>
        </p:sp>
        <p:sp>
          <p:nvSpPr>
            <p:cNvPr id="333" name="Google Shape;333;p14"/>
            <p:cNvSpPr/>
            <p:nvPr/>
          </p:nvSpPr>
          <p:spPr>
            <a:xfrm>
              <a:off x="0" y="5259178"/>
              <a:ext cx="7559504" cy="95013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4"/>
            <p:cNvSpPr txBox="1"/>
            <p:nvPr/>
          </p:nvSpPr>
          <p:spPr>
            <a:xfrm>
              <a:off x="0" y="5259178"/>
              <a:ext cx="7559504" cy="950130"/>
            </a:xfrm>
            <a:prstGeom prst="rect">
              <a:avLst/>
            </a:prstGeom>
            <a:noFill/>
            <a:ln>
              <a:noFill/>
            </a:ln>
          </p:spPr>
          <p:txBody>
            <a:bodyPr spcFirstLastPara="1" wrap="square" lIns="240000" tIns="34275" rIns="192000" bIns="34275" anchor="t" anchorCtr="0">
              <a:noAutofit/>
            </a:bodyPr>
            <a:lstStyle/>
            <a:p>
              <a:pPr marL="228600" marR="0" lvl="1" indent="-228600" algn="l" rtl="0">
                <a:lnSpc>
                  <a:spcPct val="90000"/>
                </a:lnSpc>
                <a:spcBef>
                  <a:spcPts val="0"/>
                </a:spcBef>
                <a:spcAft>
                  <a:spcPts val="0"/>
                </a:spcAft>
                <a:buClr>
                  <a:schemeClr val="dk1"/>
                </a:buClr>
                <a:buSzPts val="2100"/>
                <a:buFont typeface="Calibri"/>
                <a:buChar char="•"/>
              </a:pPr>
              <a:r>
                <a:rPr lang="en-US" sz="2100" b="0" i="0" u="none" strike="noStrike" cap="none">
                  <a:solidFill>
                    <a:schemeClr val="dk1"/>
                  </a:solidFill>
                  <a:latin typeface="Calibri"/>
                  <a:ea typeface="Calibri"/>
                  <a:cs typeface="Calibri"/>
                  <a:sym typeface="Calibri"/>
                </a:rPr>
                <a:t>Gives the customer access to board certified physicians 24/7 via the phone or video chat. Unlimited visits and no cost to the customer. This also increases your commission substantially.</a:t>
              </a:r>
              <a:endParaRPr/>
            </a:p>
          </p:txBody>
        </p:sp>
      </p:grpSp>
    </p:spTree>
    <p:extLst>
      <p:ext uri="{BB962C8B-B14F-4D97-AF65-F5344CB8AC3E}">
        <p14:creationId xmlns:p14="http://schemas.microsoft.com/office/powerpoint/2010/main" val="1975621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8"/>
        <p:cNvGrpSpPr/>
        <p:nvPr/>
      </p:nvGrpSpPr>
      <p:grpSpPr>
        <a:xfrm>
          <a:off x="0" y="0"/>
          <a:ext cx="0" cy="0"/>
          <a:chOff x="0" y="0"/>
          <a:chExt cx="0" cy="0"/>
        </a:xfrm>
      </p:grpSpPr>
      <p:sp>
        <p:nvSpPr>
          <p:cNvPr id="339" name="Google Shape;339;p1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 name="Google Shape;340;p15"/>
          <p:cNvSpPr/>
          <p:nvPr/>
        </p:nvSpPr>
        <p:spPr>
          <a:xfrm>
            <a:off x="0" y="-1"/>
            <a:ext cx="11766176" cy="2061837"/>
          </a:xfrm>
          <a:custGeom>
            <a:avLst/>
            <a:gdLst/>
            <a:ahLst/>
            <a:cxnLst/>
            <a:rect l="l" t="t" r="r" b="b"/>
            <a:pathLst>
              <a:path w="10768629" h="1978172" extrusionOk="0">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1" name="Google Shape;341;p15"/>
          <p:cNvSpPr txBox="1">
            <a:spLocks noGrp="1"/>
          </p:cNvSpPr>
          <p:nvPr>
            <p:ph type="title"/>
          </p:nvPr>
        </p:nvSpPr>
        <p:spPr>
          <a:xfrm>
            <a:off x="1137034" y="609597"/>
            <a:ext cx="9392421" cy="13308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Teaser</a:t>
            </a:r>
            <a:endParaRPr/>
          </a:p>
        </p:txBody>
      </p:sp>
      <p:sp>
        <p:nvSpPr>
          <p:cNvPr id="342" name="Google Shape;342;p15"/>
          <p:cNvSpPr txBox="1">
            <a:spLocks noGrp="1"/>
          </p:cNvSpPr>
          <p:nvPr>
            <p:ph type="body" idx="1"/>
          </p:nvPr>
        </p:nvSpPr>
        <p:spPr>
          <a:xfrm>
            <a:off x="711210" y="1935951"/>
            <a:ext cx="4958966" cy="3917773"/>
          </a:xfrm>
          <a:prstGeom prst="rect">
            <a:avLst/>
          </a:prstGeom>
          <a:noFill/>
          <a:ln>
            <a:noFill/>
          </a:ln>
        </p:spPr>
        <p:txBody>
          <a:bodyPr spcFirstLastPara="1" wrap="square" lIns="91425" tIns="45700" rIns="91425" bIns="45700" anchor="t" anchorCtr="0">
            <a:normAutofit fontScale="92500"/>
          </a:bodyPr>
          <a:lstStyle/>
          <a:p>
            <a:pPr marL="228600" lvl="0" indent="-228632" algn="l" rtl="0">
              <a:lnSpc>
                <a:spcPct val="90000"/>
              </a:lnSpc>
              <a:spcBef>
                <a:spcPts val="0"/>
              </a:spcBef>
              <a:spcAft>
                <a:spcPts val="0"/>
              </a:spcAft>
              <a:buClr>
                <a:schemeClr val="dk1"/>
              </a:buClr>
              <a:buSzPct val="100000"/>
              <a:buChar char="•"/>
            </a:pPr>
            <a:r>
              <a:rPr lang="en-US" sz="1300"/>
              <a:t>When you come back from the hold DO NOT ask if they are still there. Assume they are there and start speaking immediately.</a:t>
            </a:r>
            <a:endParaRPr/>
          </a:p>
          <a:p>
            <a:pPr marL="228600" lvl="0" indent="-228632" algn="l" rtl="0">
              <a:lnSpc>
                <a:spcPct val="90000"/>
              </a:lnSpc>
              <a:spcBef>
                <a:spcPts val="1000"/>
              </a:spcBef>
              <a:spcAft>
                <a:spcPts val="0"/>
              </a:spcAft>
              <a:buClr>
                <a:schemeClr val="dk1"/>
              </a:buClr>
              <a:buSzPct val="100000"/>
              <a:buChar char="•"/>
            </a:pPr>
            <a:r>
              <a:rPr lang="en-US" sz="1300"/>
              <a:t>When you come back from the hold you need to use a slightly higher energy than in the previous sections of the script. You need to speak at a pace steady enough where the customer can not interrupt you. </a:t>
            </a:r>
            <a:endParaRPr/>
          </a:p>
          <a:p>
            <a:pPr marL="228600" lvl="0" indent="-228632" algn="l" rtl="0">
              <a:lnSpc>
                <a:spcPct val="90000"/>
              </a:lnSpc>
              <a:spcBef>
                <a:spcPts val="1000"/>
              </a:spcBef>
              <a:spcAft>
                <a:spcPts val="0"/>
              </a:spcAft>
              <a:buClr>
                <a:schemeClr val="dk1"/>
              </a:buClr>
              <a:buSzPct val="100000"/>
              <a:buChar char="•"/>
            </a:pPr>
            <a:r>
              <a:rPr lang="en-US" sz="1300"/>
              <a:t>You will notice that these paragraphs are pretty much identical, it comes down to carrier name/network or if it is an STM including the deductible.</a:t>
            </a:r>
            <a:endParaRPr/>
          </a:p>
          <a:p>
            <a:pPr marL="228600" lvl="0" indent="-228632" algn="l" rtl="0">
              <a:lnSpc>
                <a:spcPct val="90000"/>
              </a:lnSpc>
              <a:spcBef>
                <a:spcPts val="1000"/>
              </a:spcBef>
              <a:spcAft>
                <a:spcPts val="0"/>
              </a:spcAft>
              <a:buClr>
                <a:schemeClr val="dk1"/>
              </a:buClr>
              <a:buSzPct val="100000"/>
              <a:buChar char="•"/>
            </a:pPr>
            <a:r>
              <a:rPr lang="en-US" sz="1300"/>
              <a:t>The 2</a:t>
            </a:r>
            <a:r>
              <a:rPr lang="en-US" sz="1300" baseline="30000"/>
              <a:t>nd</a:t>
            </a:r>
            <a:r>
              <a:rPr lang="en-US" sz="1300"/>
              <a:t> paragraph is tying them down on price. We will address this on the next slide as well.</a:t>
            </a:r>
            <a:endParaRPr/>
          </a:p>
          <a:p>
            <a:pPr marL="228600" lvl="0" indent="-228632" algn="l" rtl="0">
              <a:lnSpc>
                <a:spcPct val="90000"/>
              </a:lnSpc>
              <a:spcBef>
                <a:spcPts val="1000"/>
              </a:spcBef>
              <a:spcAft>
                <a:spcPts val="0"/>
              </a:spcAft>
              <a:buClr>
                <a:schemeClr val="dk1"/>
              </a:buClr>
              <a:buSzPct val="100000"/>
              <a:buChar char="•"/>
            </a:pPr>
            <a:r>
              <a:rPr lang="en-US" sz="1300"/>
              <a:t>The 3rd uses imagery to paint a picture of what's going to happen. People are a lot more receptive to ideas when they can visualize what's happening. This is letting the customer know they will receive it in writing beforehand to help eliminate that objection.</a:t>
            </a:r>
            <a:endParaRPr/>
          </a:p>
          <a:p>
            <a:pPr marL="228600" lvl="0" indent="-228632" algn="l" rtl="0">
              <a:lnSpc>
                <a:spcPct val="90000"/>
              </a:lnSpc>
              <a:spcBef>
                <a:spcPts val="1000"/>
              </a:spcBef>
              <a:spcAft>
                <a:spcPts val="0"/>
              </a:spcAft>
              <a:buClr>
                <a:schemeClr val="dk1"/>
              </a:buClr>
              <a:buSzPct val="100000"/>
              <a:buChar char="•"/>
            </a:pPr>
            <a:r>
              <a:rPr lang="en-US" sz="1300"/>
              <a:t>Again we should be speaking 90/10 to the customer</a:t>
            </a:r>
            <a:endParaRPr/>
          </a:p>
          <a:p>
            <a:pPr marL="228600" lvl="0" indent="-228632" algn="l" rtl="0">
              <a:lnSpc>
                <a:spcPct val="90000"/>
              </a:lnSpc>
              <a:spcBef>
                <a:spcPts val="1000"/>
              </a:spcBef>
              <a:spcAft>
                <a:spcPts val="0"/>
              </a:spcAft>
              <a:buClr>
                <a:schemeClr val="dk1"/>
              </a:buClr>
              <a:buSzPct val="100000"/>
              <a:buChar char="•"/>
            </a:pPr>
            <a:r>
              <a:rPr lang="en-US" sz="1300"/>
              <a:t>Maintain a pace where the customer doesn’t interrupt you but not too fast to sound like a clown</a:t>
            </a:r>
            <a:endParaRPr/>
          </a:p>
          <a:p>
            <a:pPr marL="228600" lvl="0" indent="-228632" algn="l" rtl="0">
              <a:lnSpc>
                <a:spcPct val="90000"/>
              </a:lnSpc>
              <a:spcBef>
                <a:spcPts val="1000"/>
              </a:spcBef>
              <a:spcAft>
                <a:spcPts val="0"/>
              </a:spcAft>
              <a:buClr>
                <a:schemeClr val="dk1"/>
              </a:buClr>
              <a:buSzPct val="100000"/>
              <a:buChar char="•"/>
            </a:pPr>
            <a:r>
              <a:rPr lang="en-US" sz="1300"/>
              <a:t>PING your OKs</a:t>
            </a:r>
            <a:endParaRPr/>
          </a:p>
          <a:p>
            <a:pPr marL="228600" lvl="0" indent="-152273" algn="l" rtl="0">
              <a:lnSpc>
                <a:spcPct val="90000"/>
              </a:lnSpc>
              <a:spcBef>
                <a:spcPts val="1000"/>
              </a:spcBef>
              <a:spcAft>
                <a:spcPts val="0"/>
              </a:spcAft>
              <a:buClr>
                <a:schemeClr val="dk1"/>
              </a:buClr>
              <a:buSzPct val="100000"/>
              <a:buNone/>
            </a:pPr>
            <a:endParaRPr sz="1300"/>
          </a:p>
        </p:txBody>
      </p:sp>
      <p:sp>
        <p:nvSpPr>
          <p:cNvPr id="343" name="Google Shape;343;p15"/>
          <p:cNvSpPr/>
          <p:nvPr/>
        </p:nvSpPr>
        <p:spPr>
          <a:xfrm rot="10800000">
            <a:off x="5381624" y="6209414"/>
            <a:ext cx="6810375" cy="648586"/>
          </a:xfrm>
          <a:custGeom>
            <a:avLst/>
            <a:gdLst/>
            <a:ahLst/>
            <a:cxnLst/>
            <a:rect l="l" t="t" r="r" b="b"/>
            <a:pathLst>
              <a:path w="10753706" h="1027260" extrusionOk="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TextBox 1">
            <a:extLst>
              <a:ext uri="{FF2B5EF4-FFF2-40B4-BE49-F238E27FC236}">
                <a16:creationId xmlns:a16="http://schemas.microsoft.com/office/drawing/2014/main" id="{A72C99F0-763C-349B-B2A2-D9C4B092A38D}"/>
              </a:ext>
            </a:extLst>
          </p:cNvPr>
          <p:cNvSpPr txBox="1"/>
          <p:nvPr/>
        </p:nvSpPr>
        <p:spPr>
          <a:xfrm>
            <a:off x="5672667" y="0"/>
            <a:ext cx="5535083"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i="1">
                <a:solidFill>
                  <a:srgbClr val="CC0000"/>
                </a:solidFill>
                <a:latin typeface="Roboto"/>
                <a:ea typeface="Roboto"/>
                <a:cs typeface="Roboto"/>
              </a:rPr>
              <a:t>✖ ( DO NOT ASK IF THEY ARE STILL THERE) </a:t>
            </a:r>
            <a:endParaRPr lang="en-US"/>
          </a:p>
          <a:p>
            <a:r>
              <a:rPr lang="en-US" sz="1200">
                <a:latin typeface="Roboto"/>
                <a:ea typeface="Roboto"/>
                <a:cs typeface="Roboto"/>
              </a:rPr>
              <a:t>Alright [Customer Name], I have some excellent news for you. Based on the information you provided, I was able to locate a plan for you through the </a:t>
            </a:r>
            <a:r>
              <a:rPr lang="en-US" sz="1200" i="1">
                <a:solidFill>
                  <a:srgbClr val="5B8EDE"/>
                </a:solidFill>
                <a:latin typeface="Roboto"/>
                <a:ea typeface="Roboto"/>
                <a:cs typeface="Roboto"/>
              </a:rPr>
              <a:t>Multiplan Network</a:t>
            </a:r>
            <a:r>
              <a:rPr lang="en-US" sz="1200" i="1">
                <a:solidFill>
                  <a:srgbClr val="38761D"/>
                </a:solidFill>
                <a:latin typeface="Roboto"/>
                <a:ea typeface="Roboto"/>
                <a:cs typeface="Roboto"/>
              </a:rPr>
              <a:t>/FirstHealth Network</a:t>
            </a:r>
            <a:r>
              <a:rPr lang="en-US" sz="1200">
                <a:latin typeface="Roboto"/>
                <a:ea typeface="Roboto"/>
                <a:cs typeface="Roboto"/>
              </a:rPr>
              <a:t>. This plan offers fixed benefits for doctor visits, hospital care, and prescription savings. You have the flexibility to see any provider within the network, and there’s no requirement for referrals to visit a specialist. Another key advantage is nationwide access—this coverage can be used anywhere the network is accepted. And most importantly, there is no deductible. Does everything sound clear so far? </a:t>
            </a:r>
            <a:br>
              <a:rPr lang="en-US" sz="1200" dirty="0">
                <a:latin typeface="Roboto"/>
                <a:ea typeface="Roboto"/>
                <a:cs typeface="Roboto"/>
              </a:rPr>
            </a:br>
            <a:r>
              <a:rPr lang="en-US" sz="1200">
                <a:latin typeface="Roboto"/>
                <a:ea typeface="Roboto"/>
                <a:cs typeface="Roboto"/>
              </a:rPr>
              <a:t>▶ ( Wait for Answer ) </a:t>
            </a:r>
            <a:endParaRPr lang="en-US"/>
          </a:p>
          <a:p>
            <a:r>
              <a:rPr lang="en-US" sz="1200">
                <a:latin typeface="Roboto"/>
                <a:ea typeface="Roboto"/>
                <a:cs typeface="Roboto"/>
              </a:rPr>
              <a:t>“Great. Based on everything we’ve reviewed, the monthly rate for this plan comes out to $___. There is a one-time standard group association fee of $___ to activate your membership within the plan. That brings the total for the first month to $___, and then moving forward, your monthly cost is simply $___ thereafter. Now, assuming this plan meets your medical needs, would the initial first-month amount of $___ be affordable</a:t>
            </a:r>
            <a:r>
              <a:rPr lang="en-US" sz="1200" i="1" dirty="0">
                <a:solidFill>
                  <a:srgbClr val="4A86E8"/>
                </a:solidFill>
                <a:latin typeface="Roboto"/>
                <a:ea typeface="Roboto"/>
                <a:cs typeface="Roboto"/>
              </a:rPr>
              <a:t> </a:t>
            </a:r>
            <a:r>
              <a:rPr lang="en-US" sz="1200">
                <a:latin typeface="Roboto"/>
                <a:ea typeface="Roboto"/>
                <a:cs typeface="Roboto"/>
              </a:rPr>
              <a:t>for you today?” </a:t>
            </a:r>
            <a:br>
              <a:rPr lang="en-US" sz="1200" dirty="0">
                <a:latin typeface="Roboto"/>
                <a:ea typeface="Roboto"/>
                <a:cs typeface="Roboto"/>
              </a:rPr>
            </a:br>
            <a:r>
              <a:rPr lang="en-US" sz="1200">
                <a:latin typeface="Roboto"/>
                <a:ea typeface="Roboto"/>
                <a:cs typeface="Roboto"/>
              </a:rPr>
              <a:t>▶ ( Wait for answer ) </a:t>
            </a:r>
            <a:endParaRPr lang="en-US"/>
          </a:p>
          <a:p>
            <a:r>
              <a:rPr lang="en-US" sz="1200">
                <a:latin typeface="Roboto"/>
                <a:ea typeface="Roboto"/>
                <a:cs typeface="Roboto"/>
              </a:rPr>
              <a:t>Perfect. What I’ll do next is walk you through the full benefits of the program. If everything looks good to you, we’ll move forward with submitting the application to the insurance company. During the verification process, you’ll receive an email that includes an outline of your coverage along with digital insurance cards. Your physical cards will then arrive by mail within approximately one to three weeks. Okay?</a:t>
            </a:r>
            <a:br>
              <a:rPr lang="en-US" sz="1200" dirty="0">
                <a:latin typeface="Roboto"/>
                <a:ea typeface="Roboto"/>
                <a:cs typeface="Roboto"/>
              </a:rPr>
            </a:br>
            <a:r>
              <a:rPr lang="en-US" sz="1200">
                <a:latin typeface="Roboto"/>
                <a:ea typeface="Roboto"/>
                <a:cs typeface="Roboto"/>
              </a:rPr>
              <a:t>▶ ( Wait for answer ) </a:t>
            </a:r>
            <a:endParaRPr lang="en-US"/>
          </a:p>
          <a:p>
            <a:r>
              <a:rPr lang="en-US" sz="1200">
                <a:latin typeface="Roboto"/>
                <a:ea typeface="Roboto"/>
                <a:cs typeface="Roboto"/>
              </a:rPr>
              <a:t>Let’s start by reviewing how your doctor visits work so you can see how the plan functions, and then—if everything looks good—we’ll move forward with submitting the application. Sounds good?</a:t>
            </a:r>
            <a:br>
              <a:rPr lang="en-US" sz="1200" dirty="0">
                <a:latin typeface="Roboto"/>
                <a:ea typeface="Roboto"/>
                <a:cs typeface="Roboto"/>
              </a:rPr>
            </a:br>
            <a:endParaRPr lang="en-US" sz="1200" dirty="0">
              <a:latin typeface="Roboto"/>
              <a:ea typeface="Roboto"/>
              <a:cs typeface="Roboto"/>
            </a:endParaRPr>
          </a:p>
        </p:txBody>
      </p:sp>
    </p:spTree>
    <p:extLst>
      <p:ext uri="{BB962C8B-B14F-4D97-AF65-F5344CB8AC3E}">
        <p14:creationId xmlns:p14="http://schemas.microsoft.com/office/powerpoint/2010/main" val="526233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16"/>
          <p:cNvSpPr txBox="1">
            <a:spLocks noGrp="1"/>
          </p:cNvSpPr>
          <p:nvPr>
            <p:ph type="title"/>
          </p:nvPr>
        </p:nvSpPr>
        <p:spPr>
          <a:xfrm>
            <a:off x="521293" y="9266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Tying Down Price</a:t>
            </a:r>
            <a:endParaRPr/>
          </a:p>
        </p:txBody>
      </p:sp>
      <p:sp>
        <p:nvSpPr>
          <p:cNvPr id="350" name="Google Shape;350;p16"/>
          <p:cNvSpPr txBox="1">
            <a:spLocks noGrp="1"/>
          </p:cNvSpPr>
          <p:nvPr>
            <p:ph type="body" idx="1"/>
          </p:nvPr>
        </p:nvSpPr>
        <p:spPr>
          <a:xfrm>
            <a:off x="276492" y="1138480"/>
            <a:ext cx="4219575" cy="47196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400"/>
              <a:buChar char="•"/>
            </a:pPr>
            <a:r>
              <a:rPr lang="en-US" sz="1400"/>
              <a:t>When you are giving the customer the price, make sure you are remembering to tell them the enrollment fee</a:t>
            </a:r>
            <a:endParaRPr/>
          </a:p>
          <a:p>
            <a:pPr marL="685800" lvl="1" indent="-228600" algn="l" rtl="0">
              <a:lnSpc>
                <a:spcPct val="90000"/>
              </a:lnSpc>
              <a:spcBef>
                <a:spcPts val="500"/>
              </a:spcBef>
              <a:spcAft>
                <a:spcPts val="0"/>
              </a:spcAft>
              <a:buClr>
                <a:schemeClr val="dk1"/>
              </a:buClr>
              <a:buSzPts val="1400"/>
              <a:buChar char="•"/>
            </a:pPr>
            <a:r>
              <a:rPr lang="en-US" sz="1400"/>
              <a:t>If you forget to tell them the enrollment fee up front it will cause an issue when you tell them later in the call or if they see it on the DocuSign.</a:t>
            </a:r>
            <a:endParaRPr/>
          </a:p>
          <a:p>
            <a:pPr marL="685800" lvl="1" indent="-139700" algn="l" rtl="0">
              <a:lnSpc>
                <a:spcPct val="90000"/>
              </a:lnSpc>
              <a:spcBef>
                <a:spcPts val="500"/>
              </a:spcBef>
              <a:spcAft>
                <a:spcPts val="0"/>
              </a:spcAft>
              <a:buClr>
                <a:schemeClr val="dk1"/>
              </a:buClr>
              <a:buSzPts val="1400"/>
              <a:buNone/>
            </a:pPr>
            <a:endParaRPr sz="1400"/>
          </a:p>
        </p:txBody>
      </p:sp>
      <p:pic>
        <p:nvPicPr>
          <p:cNvPr id="351" name="Google Shape;351;p16"/>
          <p:cNvPicPr preferRelativeResize="0"/>
          <p:nvPr/>
        </p:nvPicPr>
        <p:blipFill rotWithShape="1">
          <a:blip r:embed="rId3">
            <a:alphaModFix/>
          </a:blip>
          <a:srcRect/>
          <a:stretch/>
        </p:blipFill>
        <p:spPr>
          <a:xfrm>
            <a:off x="5180621" y="495427"/>
            <a:ext cx="6915150" cy="1190625"/>
          </a:xfrm>
          <a:prstGeom prst="rect">
            <a:avLst/>
          </a:prstGeom>
          <a:noFill/>
          <a:ln>
            <a:noFill/>
          </a:ln>
        </p:spPr>
      </p:pic>
      <p:sp>
        <p:nvSpPr>
          <p:cNvPr id="352" name="Google Shape;352;p16"/>
          <p:cNvSpPr txBox="1"/>
          <p:nvPr/>
        </p:nvSpPr>
        <p:spPr>
          <a:xfrm>
            <a:off x="5180621" y="1753601"/>
            <a:ext cx="6496050" cy="156966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FF0000"/>
              </a:buClr>
              <a:buSzPts val="1600"/>
              <a:buFont typeface="Arial"/>
              <a:buChar char="•"/>
            </a:pPr>
            <a:r>
              <a:rPr lang="en-US" sz="1600">
                <a:solidFill>
                  <a:srgbClr val="FF0000"/>
                </a:solidFill>
                <a:latin typeface="Calibri"/>
                <a:ea typeface="Calibri"/>
                <a:cs typeface="Calibri"/>
                <a:sym typeface="Calibri"/>
              </a:rPr>
              <a:t>When you tell them the price 1 of 5 things will happen:</a:t>
            </a:r>
            <a:endParaRPr/>
          </a:p>
          <a:p>
            <a:pPr marL="800100" marR="0" lvl="1" indent="-342900" algn="l" rtl="0">
              <a:spcBef>
                <a:spcPts val="0"/>
              </a:spcBef>
              <a:spcAft>
                <a:spcPts val="0"/>
              </a:spcAft>
              <a:buClr>
                <a:srgbClr val="FF0000"/>
              </a:buClr>
              <a:buSzPts val="1600"/>
              <a:buFont typeface="Calibri"/>
              <a:buAutoNum type="arabicPeriod"/>
            </a:pPr>
            <a:r>
              <a:rPr lang="en-US" sz="1600" b="0" i="0" u="none" strike="noStrike" cap="none">
                <a:solidFill>
                  <a:srgbClr val="FF0000"/>
                </a:solidFill>
                <a:latin typeface="Calibri"/>
                <a:ea typeface="Calibri"/>
                <a:cs typeface="Calibri"/>
                <a:sym typeface="Calibri"/>
              </a:rPr>
              <a:t>They will agree and say it is affordable</a:t>
            </a:r>
            <a:endParaRPr/>
          </a:p>
          <a:p>
            <a:pPr marL="800100" marR="0" lvl="1" indent="-342900" algn="l" rtl="0">
              <a:spcBef>
                <a:spcPts val="0"/>
              </a:spcBef>
              <a:spcAft>
                <a:spcPts val="0"/>
              </a:spcAft>
              <a:buClr>
                <a:srgbClr val="FF0000"/>
              </a:buClr>
              <a:buSzPts val="1600"/>
              <a:buFont typeface="Calibri"/>
              <a:buAutoNum type="arabicPeriod"/>
            </a:pPr>
            <a:r>
              <a:rPr lang="en-US" sz="1600" b="0" i="0" u="none" strike="noStrike" cap="none">
                <a:solidFill>
                  <a:srgbClr val="FF0000"/>
                </a:solidFill>
                <a:latin typeface="Calibri"/>
                <a:ea typeface="Calibri"/>
                <a:cs typeface="Calibri"/>
                <a:sym typeface="Calibri"/>
              </a:rPr>
              <a:t>They will say its not affordable</a:t>
            </a:r>
            <a:endParaRPr/>
          </a:p>
          <a:p>
            <a:pPr marL="800100" marR="0" lvl="1" indent="-342900" algn="l" rtl="0">
              <a:spcBef>
                <a:spcPts val="0"/>
              </a:spcBef>
              <a:spcAft>
                <a:spcPts val="0"/>
              </a:spcAft>
              <a:buClr>
                <a:srgbClr val="FF0000"/>
              </a:buClr>
              <a:buSzPts val="1600"/>
              <a:buFont typeface="Calibri"/>
              <a:buAutoNum type="arabicPeriod"/>
            </a:pPr>
            <a:r>
              <a:rPr lang="en-US" sz="1600" b="0" i="0" u="none" strike="noStrike" cap="none">
                <a:solidFill>
                  <a:srgbClr val="FF0000"/>
                </a:solidFill>
                <a:latin typeface="Calibri"/>
                <a:ea typeface="Calibri"/>
                <a:cs typeface="Calibri"/>
                <a:sym typeface="Calibri"/>
              </a:rPr>
              <a:t>They will say it sounds good, but I need to think about it</a:t>
            </a:r>
            <a:endParaRPr/>
          </a:p>
          <a:p>
            <a:pPr marL="800100" marR="0" lvl="1" indent="-342900" algn="l" rtl="0">
              <a:spcBef>
                <a:spcPts val="0"/>
              </a:spcBef>
              <a:spcAft>
                <a:spcPts val="0"/>
              </a:spcAft>
              <a:buClr>
                <a:srgbClr val="FF0000"/>
              </a:buClr>
              <a:buSzPts val="1600"/>
              <a:buFont typeface="Calibri"/>
              <a:buAutoNum type="arabicPeriod"/>
            </a:pPr>
            <a:r>
              <a:rPr lang="en-US" sz="1600" b="0" i="0" u="none" strike="noStrike" cap="none">
                <a:solidFill>
                  <a:srgbClr val="FF0000"/>
                </a:solidFill>
                <a:latin typeface="Calibri"/>
                <a:ea typeface="Calibri"/>
                <a:cs typeface="Calibri"/>
                <a:sym typeface="Calibri"/>
              </a:rPr>
              <a:t>They will say it sounds good, but I want to see it in writing</a:t>
            </a:r>
            <a:endParaRPr/>
          </a:p>
          <a:p>
            <a:pPr marL="800100" marR="0" lvl="1" indent="-342900" algn="l" rtl="0">
              <a:spcBef>
                <a:spcPts val="0"/>
              </a:spcBef>
              <a:spcAft>
                <a:spcPts val="0"/>
              </a:spcAft>
              <a:buClr>
                <a:srgbClr val="FF0000"/>
              </a:buClr>
              <a:buSzPts val="1600"/>
              <a:buFont typeface="Calibri"/>
              <a:buAutoNum type="arabicPeriod"/>
            </a:pPr>
            <a:r>
              <a:rPr lang="en-US" sz="1600" b="0" i="0" u="none" strike="noStrike" cap="none">
                <a:solidFill>
                  <a:srgbClr val="FF0000"/>
                </a:solidFill>
                <a:latin typeface="Calibri"/>
                <a:ea typeface="Calibri"/>
                <a:cs typeface="Calibri"/>
                <a:sym typeface="Calibri"/>
              </a:rPr>
              <a:t>They will say it sounds good, but I got to talk to my spouse </a:t>
            </a:r>
            <a:endParaRPr/>
          </a:p>
        </p:txBody>
      </p:sp>
      <p:sp>
        <p:nvSpPr>
          <p:cNvPr id="353" name="Google Shape;353;p16"/>
          <p:cNvSpPr txBox="1"/>
          <p:nvPr/>
        </p:nvSpPr>
        <p:spPr>
          <a:xfrm>
            <a:off x="521293" y="3390810"/>
            <a:ext cx="11223032" cy="1169551"/>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If they say </a:t>
            </a:r>
            <a:r>
              <a:rPr lang="en-US">
                <a:solidFill>
                  <a:schemeClr val="dk1"/>
                </a:solidFill>
                <a:latin typeface="Calibri"/>
                <a:ea typeface="Calibri"/>
                <a:cs typeface="Calibri"/>
                <a:sym typeface="Calibri"/>
              </a:rPr>
              <a:t>it's</a:t>
            </a:r>
            <a:r>
              <a:rPr lang="en-US" sz="1400">
                <a:solidFill>
                  <a:schemeClr val="dk1"/>
                </a:solidFill>
                <a:latin typeface="Calibri"/>
                <a:ea typeface="Calibri"/>
                <a:cs typeface="Calibri"/>
                <a:sym typeface="Calibri"/>
              </a:rPr>
              <a:t> affordable than continue.</a:t>
            </a:r>
            <a:endParaRPr/>
          </a:p>
          <a:p>
            <a:pPr marL="342900" marR="0" lvl="0" indent="-342900" algn="l" rtl="0">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If they say </a:t>
            </a:r>
            <a:r>
              <a:rPr lang="en-US">
                <a:solidFill>
                  <a:schemeClr val="dk1"/>
                </a:solidFill>
                <a:latin typeface="Calibri"/>
                <a:ea typeface="Calibri"/>
                <a:cs typeface="Calibri"/>
                <a:sym typeface="Calibri"/>
              </a:rPr>
              <a:t>it's</a:t>
            </a:r>
            <a:r>
              <a:rPr lang="en-US" sz="1400">
                <a:solidFill>
                  <a:schemeClr val="dk1"/>
                </a:solidFill>
                <a:latin typeface="Calibri"/>
                <a:ea typeface="Calibri"/>
                <a:cs typeface="Calibri"/>
                <a:sym typeface="Calibri"/>
              </a:rPr>
              <a:t> not affordable we need to find out if its just the first month that’s not affordable today, or if it is the monthly payment.</a:t>
            </a:r>
            <a:endParaRPr/>
          </a:p>
          <a:p>
            <a:pPr marL="800100" marR="0" lvl="1" indent="-342900" algn="l" rtl="0">
              <a:spcBef>
                <a:spcPts val="0"/>
              </a:spcBef>
              <a:spcAft>
                <a:spcPts val="0"/>
              </a:spcAft>
              <a:buClr>
                <a:schemeClr val="dk1"/>
              </a:buClr>
              <a:buSzPts val="1400"/>
              <a:buFont typeface="Arial"/>
              <a:buChar char="•"/>
            </a:pPr>
            <a:r>
              <a:rPr lang="en-US" sz="1400" b="0" i="0" u="none" strike="noStrike" cap="none">
                <a:solidFill>
                  <a:schemeClr val="dk1"/>
                </a:solidFill>
                <a:latin typeface="Calibri"/>
                <a:ea typeface="Calibri"/>
                <a:cs typeface="Calibri"/>
                <a:sym typeface="Calibri"/>
              </a:rPr>
              <a:t>If </a:t>
            </a:r>
            <a:r>
              <a:rPr lang="en-US">
                <a:solidFill>
                  <a:schemeClr val="dk1"/>
                </a:solidFill>
                <a:latin typeface="Calibri"/>
                <a:ea typeface="Calibri"/>
                <a:cs typeface="Calibri"/>
                <a:sym typeface="Calibri"/>
              </a:rPr>
              <a:t>it's</a:t>
            </a:r>
            <a:r>
              <a:rPr lang="en-US" sz="1400" b="0" i="0" u="none" strike="noStrike" cap="none">
                <a:solidFill>
                  <a:schemeClr val="dk1"/>
                </a:solidFill>
                <a:latin typeface="Calibri"/>
                <a:ea typeface="Calibri"/>
                <a:cs typeface="Calibri"/>
                <a:sym typeface="Calibri"/>
              </a:rPr>
              <a:t> just a matter of the enrollment fee we can apply for “hardship” to see if we can lower the enrollment fee. It is imperative you determine they have enough money TODAY, BEFORE you lower the enrollment fee.</a:t>
            </a:r>
            <a:endParaRPr/>
          </a:p>
          <a:p>
            <a:pPr marL="800100" marR="0" lvl="1" indent="-342900" algn="l" rtl="0">
              <a:spcBef>
                <a:spcPts val="0"/>
              </a:spcBef>
              <a:spcAft>
                <a:spcPts val="0"/>
              </a:spcAft>
              <a:buClr>
                <a:schemeClr val="dk1"/>
              </a:buClr>
              <a:buSzPts val="1400"/>
              <a:buFont typeface="Arial"/>
              <a:buChar char="•"/>
            </a:pPr>
            <a:r>
              <a:rPr lang="en-US" sz="1400" b="0" i="0" u="none" strike="noStrike" cap="none">
                <a:solidFill>
                  <a:schemeClr val="dk1"/>
                </a:solidFill>
                <a:latin typeface="Calibri"/>
                <a:ea typeface="Calibri"/>
                <a:cs typeface="Calibri"/>
                <a:sym typeface="Calibri"/>
              </a:rPr>
              <a:t>If they don’t have enough money today even if you were to lower the enrollment fee </a:t>
            </a:r>
            <a:r>
              <a:rPr lang="en-US">
                <a:solidFill>
                  <a:schemeClr val="dk1"/>
                </a:solidFill>
                <a:latin typeface="Calibri"/>
                <a:ea typeface="Calibri"/>
                <a:cs typeface="Calibri"/>
                <a:sym typeface="Calibri"/>
              </a:rPr>
              <a:t>then</a:t>
            </a:r>
            <a:r>
              <a:rPr lang="en-US" sz="1400" b="0" i="0" u="none" strike="noStrike" cap="none">
                <a:solidFill>
                  <a:schemeClr val="dk1"/>
                </a:solidFill>
                <a:latin typeface="Calibri"/>
                <a:ea typeface="Calibri"/>
                <a:cs typeface="Calibri"/>
                <a:sym typeface="Calibri"/>
              </a:rPr>
              <a:t> we will go for a Post Date.</a:t>
            </a:r>
            <a:endParaRPr/>
          </a:p>
        </p:txBody>
      </p:sp>
      <p:sp>
        <p:nvSpPr>
          <p:cNvPr id="354" name="Google Shape;354;p16"/>
          <p:cNvSpPr txBox="1"/>
          <p:nvPr/>
        </p:nvSpPr>
        <p:spPr>
          <a:xfrm>
            <a:off x="521293" y="4617088"/>
            <a:ext cx="11223000" cy="181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3. If they say </a:t>
            </a:r>
            <a:r>
              <a:rPr lang="en-US">
                <a:solidFill>
                  <a:schemeClr val="dk1"/>
                </a:solidFill>
                <a:latin typeface="Calibri"/>
                <a:ea typeface="Calibri"/>
                <a:cs typeface="Calibri"/>
                <a:sym typeface="Calibri"/>
              </a:rPr>
              <a:t>it's</a:t>
            </a:r>
            <a:r>
              <a:rPr lang="en-US" sz="1400">
                <a:solidFill>
                  <a:schemeClr val="dk1"/>
                </a:solidFill>
                <a:latin typeface="Calibri"/>
                <a:ea typeface="Calibri"/>
                <a:cs typeface="Calibri"/>
                <a:sym typeface="Calibri"/>
              </a:rPr>
              <a:t> sounds good but I need to think about it or talk to my spouse we are going to repeat their words back to them and pivot into the next paragraph:</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I understand you need to think about it but right now there is nothing to really think about yet because we didn’t go over how the plan works, and secondly, we don’t even know if you are approved yet, so what I normally do is…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I understand you want to talk to your husband/wife but right now there is nothing to talk about yet because we didn’t go over how the plan works, and secondly, we don’t even know if you are approved yet, so what I normally do is…</a:t>
            </a:r>
            <a:endParaRPr/>
          </a:p>
          <a:p>
            <a:pPr marL="285750" marR="0" lvl="0" indent="-285750" algn="l" rtl="0">
              <a:spcBef>
                <a:spcPts val="0"/>
              </a:spcBef>
              <a:spcAft>
                <a:spcPts val="0"/>
              </a:spcAft>
              <a:buClr>
                <a:schemeClr val="dk1"/>
              </a:buClr>
              <a:buSzPts val="1400"/>
              <a:buFont typeface="Arial"/>
              <a:buChar char="•"/>
            </a:pPr>
            <a:r>
              <a:rPr lang="en-US">
                <a:solidFill>
                  <a:schemeClr val="dk1"/>
                </a:solidFill>
                <a:latin typeface="Calibri"/>
                <a:ea typeface="Calibri"/>
                <a:cs typeface="Calibri"/>
                <a:sym typeface="Calibri"/>
              </a:rPr>
              <a:t> Y</a:t>
            </a:r>
            <a:r>
              <a:rPr lang="en-US" sz="1400">
                <a:solidFill>
                  <a:schemeClr val="dk1"/>
                </a:solidFill>
                <a:latin typeface="Calibri"/>
                <a:ea typeface="Calibri"/>
                <a:cs typeface="Calibri"/>
                <a:sym typeface="Calibri"/>
              </a:rPr>
              <a:t>ou are going </a:t>
            </a:r>
            <a:r>
              <a:rPr lang="en-US">
                <a:solidFill>
                  <a:schemeClr val="dk1"/>
                </a:solidFill>
                <a:latin typeface="Calibri"/>
                <a:ea typeface="Calibri"/>
                <a:cs typeface="Calibri"/>
                <a:sym typeface="Calibri"/>
              </a:rPr>
              <a:t>absolutely going to</a:t>
            </a:r>
            <a:r>
              <a:rPr lang="en-US" sz="1400">
                <a:solidFill>
                  <a:schemeClr val="dk1"/>
                </a:solidFill>
                <a:latin typeface="Calibri"/>
                <a:ea typeface="Calibri"/>
                <a:cs typeface="Calibri"/>
                <a:sym typeface="Calibri"/>
              </a:rPr>
              <a:t> to get it in writing, that’s going to be the next step</a:t>
            </a:r>
            <a:r>
              <a:rPr lang="en-US">
                <a:solidFill>
                  <a:schemeClr val="dk1"/>
                </a:solidFill>
                <a:latin typeface="Calibri"/>
                <a:ea typeface="Calibri"/>
                <a:cs typeface="Calibri"/>
                <a:sym typeface="Calibri"/>
              </a:rPr>
              <a:t> after we go over the benefits together</a:t>
            </a:r>
            <a:r>
              <a:rPr lang="en-US" sz="1400">
                <a:solidFill>
                  <a:schemeClr val="dk1"/>
                </a:solidFill>
                <a:latin typeface="Calibri"/>
                <a:ea typeface="Calibri"/>
                <a:cs typeface="Calibri"/>
                <a:sym typeface="Calibri"/>
              </a:rPr>
              <a:t> so what I normally do is…</a:t>
            </a:r>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28282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8"/>
          <p:cNvSpPr txBox="1">
            <a:spLocks noGrp="1"/>
          </p:cNvSpPr>
          <p:nvPr>
            <p:ph type="title"/>
          </p:nvPr>
        </p:nvSpPr>
        <p:spPr>
          <a:xfrm>
            <a:off x="857250" y="0"/>
            <a:ext cx="22479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Benefits</a:t>
            </a:r>
            <a:endParaRPr/>
          </a:p>
        </p:txBody>
      </p:sp>
      <p:sp>
        <p:nvSpPr>
          <p:cNvPr id="360" name="Google Shape;360;p18"/>
          <p:cNvSpPr txBox="1">
            <a:spLocks noGrp="1"/>
          </p:cNvSpPr>
          <p:nvPr>
            <p:ph type="body" idx="1"/>
          </p:nvPr>
        </p:nvSpPr>
        <p:spPr>
          <a:xfrm>
            <a:off x="219075" y="1038226"/>
            <a:ext cx="3886200" cy="5553074"/>
          </a:xfrm>
          <a:prstGeom prst="rect">
            <a:avLst/>
          </a:prstGeom>
          <a:noFill/>
          <a:ln>
            <a:noFill/>
          </a:ln>
        </p:spPr>
        <p:txBody>
          <a:bodyPr spcFirstLastPara="1" wrap="square" lIns="91425" tIns="45700" rIns="91425" bIns="45700" anchor="t" anchorCtr="0">
            <a:normAutofit fontScale="55000" lnSpcReduction="20000"/>
          </a:bodyPr>
          <a:lstStyle/>
          <a:p>
            <a:pPr marL="228600" lvl="0" indent="-228600" algn="l" rtl="0">
              <a:lnSpc>
                <a:spcPct val="90000"/>
              </a:lnSpc>
              <a:spcBef>
                <a:spcPts val="0"/>
              </a:spcBef>
              <a:spcAft>
                <a:spcPts val="0"/>
              </a:spcAft>
              <a:buClr>
                <a:schemeClr val="dk1"/>
              </a:buClr>
              <a:buSzPct val="100000"/>
              <a:buChar char="•"/>
            </a:pPr>
            <a:r>
              <a:rPr lang="en-US"/>
              <a:t>At this point the only time the customer should be speaking is when you prompt them to respond</a:t>
            </a:r>
            <a:endParaRPr/>
          </a:p>
          <a:p>
            <a:pPr marL="228600" lvl="0" indent="-228600" algn="l" rtl="0">
              <a:lnSpc>
                <a:spcPct val="90000"/>
              </a:lnSpc>
              <a:spcBef>
                <a:spcPts val="1000"/>
              </a:spcBef>
              <a:spcAft>
                <a:spcPts val="0"/>
              </a:spcAft>
              <a:buClr>
                <a:schemeClr val="dk1"/>
              </a:buClr>
              <a:buSzPct val="100000"/>
              <a:buChar char="•"/>
            </a:pPr>
            <a:r>
              <a:rPr lang="en-US"/>
              <a:t>If they are saying things like “oh that’s great” “wow that sounds good” you shouldn’t even acknowledge it</a:t>
            </a:r>
            <a:endParaRPr/>
          </a:p>
          <a:p>
            <a:pPr marL="228600" lvl="0" indent="-228600" algn="l" rtl="0">
              <a:lnSpc>
                <a:spcPct val="90000"/>
              </a:lnSpc>
              <a:spcBef>
                <a:spcPts val="1000"/>
              </a:spcBef>
              <a:spcAft>
                <a:spcPts val="0"/>
              </a:spcAft>
              <a:buClr>
                <a:schemeClr val="dk1"/>
              </a:buClr>
              <a:buSzPct val="100000"/>
              <a:buChar char="•"/>
            </a:pPr>
            <a:r>
              <a:rPr lang="en-US"/>
              <a:t>If the customer has a question about something haven’t gotten to yet, use ARC (we will go over later in presentation).</a:t>
            </a:r>
            <a:endParaRPr/>
          </a:p>
          <a:p>
            <a:pPr marL="228600" lvl="0" indent="-228600" algn="l" rtl="0">
              <a:lnSpc>
                <a:spcPct val="90000"/>
              </a:lnSpc>
              <a:spcBef>
                <a:spcPts val="1000"/>
              </a:spcBef>
              <a:spcAft>
                <a:spcPts val="0"/>
              </a:spcAft>
              <a:buClr>
                <a:schemeClr val="dk1"/>
              </a:buClr>
              <a:buSzPct val="100000"/>
              <a:buChar char="•"/>
            </a:pPr>
            <a:r>
              <a:rPr lang="en-US"/>
              <a:t>Reading the benefits VERBATIM will keep you compliant and make the sales process A LOT smoother.</a:t>
            </a:r>
            <a:endParaRPr/>
          </a:p>
          <a:p>
            <a:pPr marL="228600" lvl="0" indent="-228600" algn="l" rtl="0">
              <a:lnSpc>
                <a:spcPct val="90000"/>
              </a:lnSpc>
              <a:spcBef>
                <a:spcPts val="1000"/>
              </a:spcBef>
              <a:spcAft>
                <a:spcPts val="0"/>
              </a:spcAft>
              <a:buClr>
                <a:schemeClr val="dk1"/>
              </a:buClr>
              <a:buSzPct val="100000"/>
              <a:buChar char="•"/>
            </a:pPr>
            <a:r>
              <a:rPr lang="en-US"/>
              <a:t>DO NOT USE TOO MUCH ENERGY OR YOU WILL GET TOO GOOD TO BE TRUE/LEGITIMACY OBJECTIONS</a:t>
            </a:r>
            <a:endParaRPr/>
          </a:p>
          <a:p>
            <a:pPr marL="228600" lvl="0" indent="-228600" algn="l" rtl="0">
              <a:lnSpc>
                <a:spcPct val="90000"/>
              </a:lnSpc>
              <a:spcBef>
                <a:spcPts val="1000"/>
              </a:spcBef>
              <a:spcAft>
                <a:spcPts val="0"/>
              </a:spcAft>
              <a:buClr>
                <a:schemeClr val="dk1"/>
              </a:buClr>
              <a:buSzPct val="100000"/>
              <a:buChar char="•"/>
            </a:pPr>
            <a:r>
              <a:rPr lang="en-US"/>
              <a:t>You should sound like you are happy doing what you do but at the same time this is no big deal for you because you have done this a million times and you have the customers best interest at heart.</a:t>
            </a:r>
            <a:endParaRPr/>
          </a:p>
          <a:p>
            <a:pPr marL="228600" lvl="0" indent="-228600" algn="l" rtl="0">
              <a:lnSpc>
                <a:spcPct val="90000"/>
              </a:lnSpc>
              <a:spcBef>
                <a:spcPts val="1000"/>
              </a:spcBef>
              <a:spcAft>
                <a:spcPts val="0"/>
              </a:spcAft>
              <a:buClr>
                <a:schemeClr val="dk1"/>
              </a:buClr>
              <a:buSzPct val="100000"/>
              <a:buChar char="•"/>
            </a:pPr>
            <a:r>
              <a:rPr lang="en-US"/>
              <a:t>Do not add or leave out anything in the script everything is written the way it is for a reason. When you give the customer TOO much information you are shooting yourself in the foot – they’re going to need to think about it.</a:t>
            </a:r>
            <a:endParaRPr/>
          </a:p>
          <a:p>
            <a:pPr marL="228600" lvl="0" indent="-228600" algn="l" rtl="0">
              <a:lnSpc>
                <a:spcPct val="90000"/>
              </a:lnSpc>
              <a:spcBef>
                <a:spcPts val="1000"/>
              </a:spcBef>
              <a:spcAft>
                <a:spcPts val="0"/>
              </a:spcAft>
              <a:buClr>
                <a:schemeClr val="dk1"/>
              </a:buClr>
              <a:buSzPct val="100000"/>
              <a:buChar char="•"/>
            </a:pPr>
            <a:r>
              <a:rPr lang="en-US"/>
              <a:t>LESS IS MORE – DO NOT TELL THEM A REPRICING PERCENTAGE IF THEY DON’T ASK</a:t>
            </a:r>
            <a:endParaRPr/>
          </a:p>
          <a:p>
            <a:pPr marL="228600" lvl="0" indent="-130810" algn="l" rtl="0">
              <a:lnSpc>
                <a:spcPct val="90000"/>
              </a:lnSpc>
              <a:spcBef>
                <a:spcPts val="1000"/>
              </a:spcBef>
              <a:spcAft>
                <a:spcPts val="0"/>
              </a:spcAft>
              <a:buClr>
                <a:schemeClr val="dk1"/>
              </a:buClr>
              <a:buSzPct val="100000"/>
              <a:buNone/>
            </a:pPr>
            <a:endParaRPr/>
          </a:p>
        </p:txBody>
      </p:sp>
      <p:sp>
        <p:nvSpPr>
          <p:cNvPr id="2" name="TextBox 1">
            <a:extLst>
              <a:ext uri="{FF2B5EF4-FFF2-40B4-BE49-F238E27FC236}">
                <a16:creationId xmlns:a16="http://schemas.microsoft.com/office/drawing/2014/main" id="{55B544B6-D371-44AD-210C-D1973AAF7A4E}"/>
              </a:ext>
            </a:extLst>
          </p:cNvPr>
          <p:cNvSpPr txBox="1"/>
          <p:nvPr/>
        </p:nvSpPr>
        <p:spPr>
          <a:xfrm>
            <a:off x="4825999" y="719666"/>
            <a:ext cx="6995583" cy="49552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Roboto"/>
                <a:ea typeface="Roboto"/>
                <a:cs typeface="Roboto"/>
              </a:rPr>
              <a:t>You don’t need referrals to see a specialist. When you visit a doctor, the bill is first reduced to the network’s contracted rate, and then your doctor visit benefit is applied. So if a provider bills higher, the network adjusts it first, and your benefit helps cover the cost after that.</a:t>
            </a:r>
            <a:br>
              <a:rPr lang="en-US" sz="1200" dirty="0">
                <a:latin typeface="Roboto"/>
                <a:ea typeface="Roboto"/>
                <a:cs typeface="Roboto"/>
              </a:rPr>
            </a:br>
            <a:r>
              <a:rPr lang="en-US" sz="1200">
                <a:latin typeface="Roboto"/>
                <a:ea typeface="Roboto"/>
                <a:cs typeface="Roboto"/>
              </a:rPr>
              <a:t>▶ ( Wait for Answer ) </a:t>
            </a:r>
            <a:endParaRPr lang="en-US"/>
          </a:p>
          <a:p>
            <a:r>
              <a:rPr lang="en-US" sz="1200">
                <a:latin typeface="Roboto"/>
                <a:ea typeface="Roboto"/>
                <a:cs typeface="Roboto"/>
              </a:rPr>
              <a:t>People like this plan because it’s simple. Unlike traditional plans with deductibles and coinsurance, this plan has no deductible and pays defined benefit amounts toward covered services—so you know what the plan contributes and can plan your expenses more easily.</a:t>
            </a:r>
            <a:br>
              <a:rPr lang="en-US" sz="1200" dirty="0">
                <a:latin typeface="Roboto"/>
                <a:ea typeface="Roboto"/>
                <a:cs typeface="Roboto"/>
              </a:rPr>
            </a:br>
            <a:r>
              <a:rPr lang="en-US" sz="1200">
                <a:latin typeface="Roboto"/>
                <a:ea typeface="Roboto"/>
                <a:cs typeface="Roboto"/>
              </a:rPr>
              <a:t>✖ ( DO NOT WAIT - GO TO RX )</a:t>
            </a:r>
            <a:endParaRPr lang="en-US"/>
          </a:p>
          <a:p>
            <a:br>
              <a:rPr lang="en-US" dirty="0"/>
            </a:br>
            <a:endParaRPr lang="en-US" dirty="0"/>
          </a:p>
          <a:p>
            <a:r>
              <a:rPr lang="en-US" sz="1400" u="sng">
                <a:latin typeface="Roboto"/>
                <a:ea typeface="Roboto"/>
                <a:cs typeface="Roboto"/>
              </a:rPr>
              <a:t>RX</a:t>
            </a:r>
            <a:r>
              <a:rPr lang="en-US" sz="1400" i="1" u="sng">
                <a:latin typeface="Roboto"/>
                <a:ea typeface="Roboto"/>
                <a:cs typeface="Roboto"/>
              </a:rPr>
              <a:t>:</a:t>
            </a:r>
            <a:r>
              <a:rPr lang="en-US" sz="1400" i="1" dirty="0">
                <a:latin typeface="Roboto"/>
                <a:ea typeface="Roboto"/>
                <a:cs typeface="Roboto"/>
              </a:rPr>
              <a:t> </a:t>
            </a:r>
            <a:endParaRPr lang="en-US" dirty="0"/>
          </a:p>
          <a:p>
            <a:r>
              <a:rPr lang="en-US" sz="1200">
                <a:latin typeface="Roboto"/>
                <a:ea typeface="Roboto"/>
                <a:cs typeface="Roboto"/>
              </a:rPr>
              <a:t>You’ll also receive access to a prescription discount program you can use at major pharmacies. Discounts vary, but many members find it helpful. The plan does not include benefits for mental health, substance abuse, or pregnancy-related care. You won’t be needing coverage for those services, correct?”</a:t>
            </a:r>
            <a:br>
              <a:rPr lang="en-US" sz="1200" dirty="0">
                <a:latin typeface="Roboto"/>
                <a:ea typeface="Roboto"/>
                <a:cs typeface="Roboto"/>
              </a:rPr>
            </a:br>
            <a:r>
              <a:rPr lang="en-US" sz="1200">
                <a:latin typeface="Roboto"/>
                <a:ea typeface="Roboto"/>
                <a:cs typeface="Roboto"/>
              </a:rPr>
              <a:t> ✖ ( DO NOT WAIT GO RIGHT TO CLOSING STATEMENT ) </a:t>
            </a:r>
            <a:endParaRPr lang="en-US"/>
          </a:p>
          <a:p>
            <a:r>
              <a:rPr lang="en-US" sz="1400" u="sng">
                <a:latin typeface="Roboto"/>
                <a:ea typeface="Roboto"/>
                <a:cs typeface="Roboto"/>
              </a:rPr>
              <a:t>CLOSING STATEMENT </a:t>
            </a:r>
            <a:endParaRPr lang="en-US"/>
          </a:p>
          <a:p>
            <a:r>
              <a:rPr lang="en-US" sz="1200">
                <a:latin typeface="Roboto"/>
                <a:ea typeface="Roboto"/>
                <a:cs typeface="Roboto"/>
              </a:rPr>
              <a:t>Your coverage is scheduled to start on ______, pending enrollment and verification. You can see in-network providers with no referral required, and the plan includes day-to-day benefits and fixed hospital benefits, all with no deductible. Before we proceed, can you confirm that everything we’ve reviewed about the plan and its limitations has been explained and understood?</a:t>
            </a:r>
            <a:br>
              <a:rPr lang="en-US" sz="1200" dirty="0">
                <a:latin typeface="Roboto"/>
                <a:ea typeface="Roboto"/>
                <a:cs typeface="Roboto"/>
              </a:rPr>
            </a:br>
            <a:r>
              <a:rPr lang="en-US" sz="1200">
                <a:latin typeface="Roboto"/>
                <a:ea typeface="Roboto"/>
                <a:cs typeface="Roboto"/>
              </a:rPr>
              <a:t>▶ ( Wait for Answer ) </a:t>
            </a:r>
            <a:endParaRPr lang="en-US"/>
          </a:p>
          <a:p>
            <a:br>
              <a:rPr lang="en-US" dirty="0"/>
            </a:br>
            <a:endParaRPr lang="en-US" dirty="0"/>
          </a:p>
        </p:txBody>
      </p:sp>
    </p:spTree>
    <p:extLst>
      <p:ext uri="{BB962C8B-B14F-4D97-AF65-F5344CB8AC3E}">
        <p14:creationId xmlns:p14="http://schemas.microsoft.com/office/powerpoint/2010/main" val="3809407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0"/>
          <p:cNvSpPr txBox="1">
            <a:spLocks noGrp="1"/>
          </p:cNvSpPr>
          <p:nvPr>
            <p:ph type="title"/>
          </p:nvPr>
        </p:nvSpPr>
        <p:spPr>
          <a:xfrm>
            <a:off x="409575" y="984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Close</a:t>
            </a:r>
            <a:endParaRPr/>
          </a:p>
        </p:txBody>
      </p:sp>
      <p:sp>
        <p:nvSpPr>
          <p:cNvPr id="368" name="Google Shape;368;p20"/>
          <p:cNvSpPr txBox="1">
            <a:spLocks noGrp="1"/>
          </p:cNvSpPr>
          <p:nvPr>
            <p:ph type="body" idx="1"/>
          </p:nvPr>
        </p:nvSpPr>
        <p:spPr>
          <a:xfrm>
            <a:off x="180975" y="1104900"/>
            <a:ext cx="4762499" cy="5562600"/>
          </a:xfrm>
          <a:prstGeom prst="rect">
            <a:avLst/>
          </a:prstGeom>
          <a:noFill/>
          <a:ln>
            <a:noFill/>
          </a:ln>
        </p:spPr>
        <p:txBody>
          <a:bodyPr spcFirstLastPara="1" wrap="square" lIns="91425" tIns="45700" rIns="91425" bIns="45700" anchor="t" anchorCtr="0">
            <a:normAutofit fontScale="62500" lnSpcReduction="20000"/>
          </a:bodyPr>
          <a:lstStyle/>
          <a:p>
            <a:pPr marL="228600" lvl="0" indent="-228600" algn="l" rtl="0">
              <a:lnSpc>
                <a:spcPct val="90000"/>
              </a:lnSpc>
              <a:spcBef>
                <a:spcPts val="0"/>
              </a:spcBef>
              <a:spcAft>
                <a:spcPts val="0"/>
              </a:spcAft>
              <a:buClr>
                <a:schemeClr val="dk1"/>
              </a:buClr>
              <a:buSzPct val="100000"/>
              <a:buChar char="•"/>
            </a:pPr>
            <a:r>
              <a:rPr lang="en-US"/>
              <a:t>Read the closing statement, it provides a smooth transition into the application.</a:t>
            </a:r>
            <a:endParaRPr/>
          </a:p>
          <a:p>
            <a:pPr marL="228600" lvl="0" indent="-228600" algn="l" rtl="0">
              <a:lnSpc>
                <a:spcPct val="90000"/>
              </a:lnSpc>
              <a:spcBef>
                <a:spcPts val="1000"/>
              </a:spcBef>
              <a:spcAft>
                <a:spcPts val="0"/>
              </a:spcAft>
              <a:buClr>
                <a:schemeClr val="dk1"/>
              </a:buClr>
              <a:buSzPct val="100000"/>
              <a:buChar char="•"/>
            </a:pPr>
            <a:r>
              <a:rPr lang="en-US"/>
              <a:t>If the customer says yes its affordable JUST READ THE CLOSING STATEMENT AND ASK THE FIRST/LAST NAME MIDDLE INITIAL QUESTION</a:t>
            </a:r>
            <a:endParaRPr/>
          </a:p>
          <a:p>
            <a:pPr marL="228600" lvl="0" indent="-228600" algn="l" rtl="0">
              <a:lnSpc>
                <a:spcPct val="90000"/>
              </a:lnSpc>
              <a:spcBef>
                <a:spcPts val="1000"/>
              </a:spcBef>
              <a:spcAft>
                <a:spcPts val="0"/>
              </a:spcAft>
              <a:buClr>
                <a:schemeClr val="dk1"/>
              </a:buClr>
              <a:buSzPct val="100000"/>
              <a:buChar char="•"/>
            </a:pPr>
            <a:r>
              <a:rPr lang="en-US"/>
              <a:t>The first closing question is middle initial or first and last name. This is called a close ended question – which means we give them 2 options that both work for us. An OPEN-ended question gives away some control of the call. An example of an Open-ended question is, “How are you doing today?”… The difference is the degree of possible responses you can receive.</a:t>
            </a:r>
            <a:endParaRPr/>
          </a:p>
          <a:p>
            <a:pPr marL="228600" lvl="0" indent="-228600" algn="l" rtl="0">
              <a:lnSpc>
                <a:spcPct val="90000"/>
              </a:lnSpc>
              <a:spcBef>
                <a:spcPts val="1000"/>
              </a:spcBef>
              <a:spcAft>
                <a:spcPts val="0"/>
              </a:spcAft>
              <a:buClr>
                <a:schemeClr val="dk1"/>
              </a:buClr>
              <a:buSzPct val="100000"/>
              <a:buChar char="•"/>
            </a:pPr>
            <a:r>
              <a:rPr lang="en-US"/>
              <a:t>DO NOT PRE-EMPT ASKING FOR THE MONEY OR STARTING THE APPLICATION</a:t>
            </a:r>
            <a:endParaRPr/>
          </a:p>
          <a:p>
            <a:pPr marL="228600" lvl="0" indent="-228600" algn="l" rtl="0">
              <a:lnSpc>
                <a:spcPct val="90000"/>
              </a:lnSpc>
              <a:spcBef>
                <a:spcPts val="1000"/>
              </a:spcBef>
              <a:spcAft>
                <a:spcPts val="0"/>
              </a:spcAft>
              <a:buClr>
                <a:schemeClr val="dk1"/>
              </a:buClr>
              <a:buSzPct val="100000"/>
              <a:buChar char="•"/>
            </a:pPr>
            <a:r>
              <a:rPr lang="en-US"/>
              <a:t>THIS MEANS DO NOT SAY THINGS LIKE THE NEXT STEP IS TO DO AN APPLICATION I’M GOING TO SEND YOU AN DOCUSIGN ETC</a:t>
            </a:r>
            <a:endParaRPr/>
          </a:p>
          <a:p>
            <a:pPr marL="228600" lvl="0" indent="-228600" algn="l" rtl="0">
              <a:lnSpc>
                <a:spcPct val="90000"/>
              </a:lnSpc>
              <a:spcBef>
                <a:spcPts val="1000"/>
              </a:spcBef>
              <a:spcAft>
                <a:spcPts val="0"/>
              </a:spcAft>
              <a:buClr>
                <a:schemeClr val="dk1"/>
              </a:buClr>
              <a:buSzPct val="100000"/>
              <a:buChar char="•"/>
            </a:pPr>
            <a:r>
              <a:rPr lang="en-US"/>
              <a:t>THIS IS KILLING YOUR SALES AND KILLING EVERYTHING YOU DID FROM START TO FINISH OF THE CALL</a:t>
            </a:r>
            <a:endParaRPr/>
          </a:p>
          <a:p>
            <a:pPr marL="228600" lvl="0" indent="-228600" algn="l" rtl="0">
              <a:lnSpc>
                <a:spcPct val="90000"/>
              </a:lnSpc>
              <a:spcBef>
                <a:spcPts val="1000"/>
              </a:spcBef>
              <a:spcAft>
                <a:spcPts val="0"/>
              </a:spcAft>
              <a:buClr>
                <a:schemeClr val="dk1"/>
              </a:buClr>
              <a:buSzPct val="100000"/>
              <a:buChar char="•"/>
            </a:pPr>
            <a:r>
              <a:rPr lang="en-US"/>
              <a:t>ITS LITERALLY ONE OF THE WORST THINGS YOU CAN DO IN PHONE SALES</a:t>
            </a:r>
            <a:endParaRPr/>
          </a:p>
        </p:txBody>
      </p:sp>
      <p:sp>
        <p:nvSpPr>
          <p:cNvPr id="4" name="TextBox 3">
            <a:extLst>
              <a:ext uri="{FF2B5EF4-FFF2-40B4-BE49-F238E27FC236}">
                <a16:creationId xmlns:a16="http://schemas.microsoft.com/office/drawing/2014/main" id="{1992C032-0D90-4434-D836-38257DD63ED9}"/>
              </a:ext>
            </a:extLst>
          </p:cNvPr>
          <p:cNvSpPr txBox="1"/>
          <p:nvPr/>
        </p:nvSpPr>
        <p:spPr>
          <a:xfrm>
            <a:off x="4953000" y="306916"/>
            <a:ext cx="6921500" cy="52014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u="sng">
                <a:latin typeface="Roboto"/>
                <a:ea typeface="Roboto"/>
                <a:cs typeface="Roboto"/>
              </a:rPr>
              <a:t>CLOSING STATEMENT </a:t>
            </a:r>
            <a:endParaRPr lang="en-US"/>
          </a:p>
          <a:p>
            <a:r>
              <a:rPr lang="en-US" sz="1200" dirty="0">
                <a:latin typeface="Roboto"/>
                <a:ea typeface="Roboto"/>
                <a:cs typeface="Roboto"/>
              </a:rPr>
              <a:t>Your coverage is scheduled to start on ______, pending enrollment and verification. You can see in-network providers with no referral required, and the plan includes day-to-day benefits and fixed hospital benefits, all with no deductible. Before we proceed, can you confirm that everything we’ve reviewed about the plan and its limitations has been explained and understood?</a:t>
            </a:r>
            <a:br>
              <a:rPr lang="en-US" sz="1200" dirty="0">
                <a:latin typeface="Roboto"/>
                <a:ea typeface="Roboto"/>
                <a:cs typeface="Roboto"/>
              </a:rPr>
            </a:br>
            <a:r>
              <a:rPr lang="en-US" sz="1200" dirty="0">
                <a:latin typeface="Roboto"/>
                <a:ea typeface="Roboto"/>
                <a:cs typeface="Roboto"/>
              </a:rPr>
              <a:t>▶ ( Wait for Answer ) </a:t>
            </a:r>
            <a:endParaRPr lang="en-US" dirty="0"/>
          </a:p>
          <a:p>
            <a:r>
              <a:rPr lang="en-US" sz="1200">
                <a:latin typeface="Roboto"/>
                <a:ea typeface="Roboto"/>
                <a:cs typeface="Roboto"/>
              </a:rPr>
              <a:t>OK Perfect, what is a good email we can send all this over to? </a:t>
            </a:r>
            <a:endParaRPr lang="en-US"/>
          </a:p>
          <a:p>
            <a:r>
              <a:rPr lang="en-US" sz="1200">
                <a:latin typeface="Roboto"/>
                <a:ea typeface="Roboto"/>
                <a:cs typeface="Roboto"/>
              </a:rPr>
              <a:t>Would you like your insurance cards issued with a middle initial, or just your first and last name?</a:t>
            </a:r>
            <a:endParaRPr lang="en-US"/>
          </a:p>
          <a:p>
            <a:br>
              <a:rPr lang="en-US" dirty="0"/>
            </a:br>
            <a:endParaRPr lang="en-US" dirty="0"/>
          </a:p>
          <a:p>
            <a:r>
              <a:rPr lang="en-US" sz="1200">
                <a:latin typeface="Roboto"/>
                <a:ea typeface="Roboto"/>
                <a:cs typeface="Roboto"/>
              </a:rPr>
              <a:t>What is the physical mailing address where we should send your hard-copy documents to?</a:t>
            </a:r>
            <a:endParaRPr lang="en-US"/>
          </a:p>
          <a:p>
            <a:r>
              <a:rPr lang="en-US" sz="1200">
                <a:latin typeface="Roboto"/>
                <a:ea typeface="Roboto"/>
                <a:cs typeface="Roboto"/>
              </a:rPr>
              <a:t>Great. And just to confirm, is this phone number ________ the best number for the insurance company to reach you if they have any follow-up or verification questions? </a:t>
            </a:r>
            <a:endParaRPr lang="en-US"/>
          </a:p>
          <a:p>
            <a:r>
              <a:rPr lang="en-US" sz="1200" dirty="0">
                <a:latin typeface="Roboto"/>
                <a:ea typeface="Roboto"/>
                <a:cs typeface="Roboto"/>
              </a:rPr>
              <a:t>Before we complete the enrollment, I do need to verify a few items on this recorded line. Can you please confirm that you are a United States citizen or legal resident, and that all health information you provided today is accurate and complete to the best of your knowledge? Lastly, for identity verification purposes, please confirm your Social Security number?</a:t>
            </a:r>
            <a:br>
              <a:rPr lang="en-US" sz="1200" dirty="0">
                <a:latin typeface="Roboto"/>
                <a:ea typeface="Roboto"/>
                <a:cs typeface="Roboto"/>
              </a:rPr>
            </a:br>
            <a:r>
              <a:rPr lang="en-US" sz="1200" dirty="0">
                <a:latin typeface="Roboto"/>
                <a:ea typeface="Roboto"/>
                <a:cs typeface="Roboto"/>
              </a:rPr>
              <a:t>▶ ( Wait for Answer ) </a:t>
            </a:r>
            <a:endParaRPr lang="en-US" dirty="0"/>
          </a:p>
          <a:p>
            <a:r>
              <a:rPr lang="en-US" sz="1200" dirty="0">
                <a:latin typeface="Roboto"/>
                <a:ea typeface="Roboto"/>
                <a:cs typeface="Roboto"/>
              </a:rPr>
              <a:t>For the initial payment, which card type would you prefer you put on file? </a:t>
            </a:r>
            <a:br>
              <a:rPr lang="en-US" sz="1200" dirty="0">
                <a:latin typeface="Roboto"/>
                <a:ea typeface="Roboto"/>
                <a:cs typeface="Roboto"/>
              </a:rPr>
            </a:br>
            <a:r>
              <a:rPr lang="en-US" sz="1200" dirty="0">
                <a:latin typeface="Roboto"/>
                <a:ea typeface="Roboto"/>
                <a:cs typeface="Roboto"/>
              </a:rPr>
              <a:t>▶ ( Wait for Answer ) </a:t>
            </a:r>
            <a:endParaRPr lang="en-US" dirty="0"/>
          </a:p>
          <a:p>
            <a:r>
              <a:rPr lang="en-US" sz="1200" dirty="0">
                <a:latin typeface="Roboto"/>
                <a:ea typeface="Roboto"/>
                <a:cs typeface="Roboto"/>
              </a:rPr>
              <a:t>Ok go ahead with the card number. </a:t>
            </a:r>
            <a:r>
              <a:rPr lang="en-US" sz="1200" i="1" dirty="0">
                <a:solidFill>
                  <a:srgbClr val="FF9900"/>
                </a:solidFill>
                <a:latin typeface="Roboto"/>
                <a:ea typeface="Roboto"/>
                <a:cs typeface="Roboto"/>
              </a:rPr>
              <a:t>(OR)</a:t>
            </a:r>
            <a:r>
              <a:rPr lang="en-US" sz="1200" dirty="0">
                <a:latin typeface="Roboto"/>
                <a:ea typeface="Roboto"/>
                <a:cs typeface="Roboto"/>
              </a:rPr>
              <a:t> I’m ready for the card number when you’re ready. </a:t>
            </a:r>
            <a:br>
              <a:rPr lang="en-US" sz="1200" dirty="0">
                <a:latin typeface="Roboto"/>
                <a:ea typeface="Roboto"/>
                <a:cs typeface="Roboto"/>
              </a:rPr>
            </a:br>
            <a:r>
              <a:rPr lang="en-US" sz="1200" dirty="0">
                <a:latin typeface="Roboto"/>
                <a:ea typeface="Roboto"/>
                <a:cs typeface="Roboto"/>
              </a:rPr>
              <a:t>✖ ( DO NOT SPEAK WHOEVER TALKS FIRST LOSES )</a:t>
            </a:r>
            <a:endParaRPr lang="en-US" dirty="0"/>
          </a:p>
          <a:p>
            <a:br>
              <a:rPr lang="en-US" dirty="0"/>
            </a:br>
            <a:br>
              <a:rPr lang="en-US" dirty="0"/>
            </a:br>
            <a:endParaRPr lang="en-US" dirty="0"/>
          </a:p>
        </p:txBody>
      </p:sp>
    </p:spTree>
    <p:extLst>
      <p:ext uri="{BB962C8B-B14F-4D97-AF65-F5344CB8AC3E}">
        <p14:creationId xmlns:p14="http://schemas.microsoft.com/office/powerpoint/2010/main" val="3711849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1"/>
          <p:cNvSpPr txBox="1">
            <a:spLocks noGrp="1"/>
          </p:cNvSpPr>
          <p:nvPr>
            <p:ph type="title"/>
          </p:nvPr>
        </p:nvSpPr>
        <p:spPr>
          <a:xfrm>
            <a:off x="393582" y="335093"/>
            <a:ext cx="5025705" cy="69188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Close Continued….</a:t>
            </a:r>
            <a:endParaRPr/>
          </a:p>
        </p:txBody>
      </p:sp>
      <p:sp>
        <p:nvSpPr>
          <p:cNvPr id="375" name="Google Shape;375;p21"/>
          <p:cNvSpPr txBox="1">
            <a:spLocks noGrp="1"/>
          </p:cNvSpPr>
          <p:nvPr>
            <p:ph type="body" idx="1"/>
          </p:nvPr>
        </p:nvSpPr>
        <p:spPr>
          <a:xfrm>
            <a:off x="15970" y="1129338"/>
            <a:ext cx="5025705" cy="5728661"/>
          </a:xfrm>
          <a:prstGeom prst="rect">
            <a:avLst/>
          </a:prstGeom>
          <a:noFill/>
          <a:ln>
            <a:noFill/>
          </a:ln>
        </p:spPr>
        <p:txBody>
          <a:bodyPr spcFirstLastPara="1" wrap="square" lIns="91425" tIns="45700" rIns="91425" bIns="45700" anchor="t" anchorCtr="0">
            <a:normAutofit fontScale="55000" lnSpcReduction="20000"/>
          </a:bodyPr>
          <a:lstStyle/>
          <a:p>
            <a:pPr marL="228600" lvl="0" indent="-228600" algn="l" rtl="0">
              <a:lnSpc>
                <a:spcPct val="90000"/>
              </a:lnSpc>
              <a:spcBef>
                <a:spcPts val="0"/>
              </a:spcBef>
              <a:spcAft>
                <a:spcPts val="0"/>
              </a:spcAft>
              <a:buClr>
                <a:schemeClr val="dk1"/>
              </a:buClr>
              <a:buSzPct val="100000"/>
              <a:buChar char="•"/>
            </a:pPr>
            <a:r>
              <a:rPr lang="en-US"/>
              <a:t>The next closing questions are not just asked because we need them on for the application. We leverage this opportunity to use imagery to speak with the customers subconscious mind to make them feel comfortable giving us information. </a:t>
            </a:r>
            <a:endParaRPr/>
          </a:p>
          <a:p>
            <a:pPr marL="228600" lvl="0" indent="-228600" algn="l" rtl="0">
              <a:lnSpc>
                <a:spcPct val="90000"/>
              </a:lnSpc>
              <a:spcBef>
                <a:spcPts val="1000"/>
              </a:spcBef>
              <a:spcAft>
                <a:spcPts val="0"/>
              </a:spcAft>
              <a:buClr>
                <a:schemeClr val="dk1"/>
              </a:buClr>
              <a:buSzPct val="100000"/>
              <a:buChar char="•"/>
            </a:pPr>
            <a:r>
              <a:rPr lang="en-US"/>
              <a:t>The way that we ask for the information is important. Asking for the phone number and email like this talks to their subconscious mind. It makes them comfortable providing the information and it also takes away the need for them to receive something in writing because we reinforce they are going to receive something.</a:t>
            </a:r>
            <a:endParaRPr/>
          </a:p>
          <a:p>
            <a:pPr marL="228600" lvl="0" indent="-228600" algn="l" rtl="0">
              <a:lnSpc>
                <a:spcPct val="90000"/>
              </a:lnSpc>
              <a:spcBef>
                <a:spcPts val="1000"/>
              </a:spcBef>
              <a:spcAft>
                <a:spcPts val="0"/>
              </a:spcAft>
              <a:buClr>
                <a:schemeClr val="dk1"/>
              </a:buClr>
              <a:buSzPct val="100000"/>
              <a:buChar char="•"/>
            </a:pPr>
            <a:r>
              <a:rPr lang="en-US"/>
              <a:t>Without hesitation or discussing payment date we ask for the money. Do not beat around the bush.</a:t>
            </a:r>
            <a:endParaRPr/>
          </a:p>
          <a:p>
            <a:pPr marL="228600" lvl="0" indent="-228600" algn="l" rtl="0">
              <a:lnSpc>
                <a:spcPct val="90000"/>
              </a:lnSpc>
              <a:spcBef>
                <a:spcPts val="1000"/>
              </a:spcBef>
              <a:spcAft>
                <a:spcPts val="0"/>
              </a:spcAft>
              <a:buClr>
                <a:schemeClr val="dk1"/>
              </a:buClr>
              <a:buSzPct val="100000"/>
              <a:buChar char="•"/>
            </a:pPr>
            <a:r>
              <a:rPr lang="en-US"/>
              <a:t>Ask calmly because the customer feels what you feel. If it is no big deal to you, it will be no big deal to them.</a:t>
            </a:r>
            <a:endParaRPr/>
          </a:p>
          <a:p>
            <a:pPr marL="228600" lvl="0" indent="-228600" algn="l" rtl="0">
              <a:lnSpc>
                <a:spcPct val="90000"/>
              </a:lnSpc>
              <a:spcBef>
                <a:spcPts val="1000"/>
              </a:spcBef>
              <a:spcAft>
                <a:spcPts val="0"/>
              </a:spcAft>
              <a:buClr>
                <a:schemeClr val="dk1"/>
              </a:buClr>
              <a:buSzPct val="100000"/>
              <a:buChar char="•"/>
            </a:pPr>
            <a:r>
              <a:rPr lang="en-US"/>
              <a:t>We are going to assume every sale is a “pay today” unless the customer tells you otherwise. Remember, in the beginning of the call get them to commit to a realistic price and then after the hold we tell them its going to start tomorrow. They will either tell you on the 3 tie downs, or NOW whether or not they have the money today. If they do not have it then post date the sale. Otherwise we ALWAYS assume the customer is paying today. Doing it this way will not result in a large amount of postdates. However, you will have days where you write 3 fresh, 3 postdates, 5 fresh 1 postdate, 2 fresh 4 postdates. It is NOT encouraged to PUSH the postdate, however, if that’s when they get paid then that’s when it is ok to postdate. Whether or not your postdates go through will be based on how well you tied them down on the price in the beginning of the call. You should NEVER be getting this far with someone who can't afford this monthly.</a:t>
            </a:r>
            <a:endParaRPr/>
          </a:p>
          <a:p>
            <a:pPr marL="228600" lvl="0" indent="-130810" algn="l" rtl="0">
              <a:lnSpc>
                <a:spcPct val="90000"/>
              </a:lnSpc>
              <a:spcBef>
                <a:spcPts val="1000"/>
              </a:spcBef>
              <a:spcAft>
                <a:spcPts val="0"/>
              </a:spcAft>
              <a:buClr>
                <a:schemeClr val="dk1"/>
              </a:buClr>
              <a:buSzPct val="100000"/>
              <a:buNone/>
            </a:pPr>
            <a:endParaRPr/>
          </a:p>
        </p:txBody>
      </p:sp>
      <p:sp>
        <p:nvSpPr>
          <p:cNvPr id="2" name="TextBox 1">
            <a:extLst>
              <a:ext uri="{FF2B5EF4-FFF2-40B4-BE49-F238E27FC236}">
                <a16:creationId xmlns:a16="http://schemas.microsoft.com/office/drawing/2014/main" id="{2F9CD520-DDE9-0E71-E9E7-818DFE091D14}"/>
              </a:ext>
            </a:extLst>
          </p:cNvPr>
          <p:cNvSpPr txBox="1"/>
          <p:nvPr/>
        </p:nvSpPr>
        <p:spPr>
          <a:xfrm>
            <a:off x="5418666" y="254000"/>
            <a:ext cx="6582833" cy="55707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u="sng">
                <a:latin typeface="Roboto"/>
                <a:ea typeface="Roboto"/>
                <a:cs typeface="Roboto"/>
              </a:rPr>
              <a:t>CLOSING STATEMENT </a:t>
            </a:r>
            <a:endParaRPr lang="en-US"/>
          </a:p>
          <a:p>
            <a:r>
              <a:rPr lang="en-US" sz="1200">
                <a:latin typeface="Roboto"/>
                <a:ea typeface="Roboto"/>
                <a:cs typeface="Roboto"/>
              </a:rPr>
              <a:t>Your coverage is scheduled to start on ______, pending enrollment and verification. You can see in-network providers with no referral required, and the plan includes day-to-day benefits and fixed hospital benefits, all with no deductible. Before we proceed, can you confirm that everything we’ve reviewed about the plan and its limitations has been explained and understood?</a:t>
            </a:r>
            <a:br>
              <a:rPr lang="en-US" sz="1200" dirty="0">
                <a:latin typeface="Roboto"/>
                <a:ea typeface="Roboto"/>
                <a:cs typeface="Roboto"/>
              </a:rPr>
            </a:br>
            <a:r>
              <a:rPr lang="en-US" sz="1200">
                <a:latin typeface="Roboto"/>
                <a:ea typeface="Roboto"/>
                <a:cs typeface="Roboto"/>
              </a:rPr>
              <a:t>▶ ( Wait for Answer ) </a:t>
            </a:r>
            <a:endParaRPr lang="en-US"/>
          </a:p>
          <a:p>
            <a:r>
              <a:rPr lang="en-US" sz="1200">
                <a:latin typeface="Roboto"/>
                <a:ea typeface="Roboto"/>
                <a:cs typeface="Roboto"/>
              </a:rPr>
              <a:t>OK Perfect, what is a good email we can send all this over to? </a:t>
            </a:r>
            <a:endParaRPr lang="en-US"/>
          </a:p>
          <a:p>
            <a:r>
              <a:rPr lang="en-US" sz="1200">
                <a:latin typeface="Roboto"/>
                <a:ea typeface="Roboto"/>
                <a:cs typeface="Roboto"/>
              </a:rPr>
              <a:t>Would you like your insurance cards issued with a middle initial, or just your first and last name?</a:t>
            </a:r>
            <a:endParaRPr lang="en-US"/>
          </a:p>
          <a:p>
            <a:br>
              <a:rPr lang="en-US" dirty="0"/>
            </a:br>
            <a:endParaRPr lang="en-US" dirty="0"/>
          </a:p>
          <a:p>
            <a:r>
              <a:rPr lang="en-US" sz="1200">
                <a:latin typeface="Roboto"/>
                <a:ea typeface="Roboto"/>
                <a:cs typeface="Roboto"/>
              </a:rPr>
              <a:t>What is the physical mailing address where we should send your hard-copy documents to?</a:t>
            </a:r>
            <a:endParaRPr lang="en-US"/>
          </a:p>
          <a:p>
            <a:r>
              <a:rPr lang="en-US" sz="1200">
                <a:latin typeface="Roboto"/>
                <a:ea typeface="Roboto"/>
                <a:cs typeface="Roboto"/>
              </a:rPr>
              <a:t>Great. And just to confirm, is this phone number ________ the best number for the insurance company to reach you if they have any follow-up or verification questions? </a:t>
            </a:r>
            <a:endParaRPr lang="en-US"/>
          </a:p>
          <a:p>
            <a:r>
              <a:rPr lang="en-US" sz="1200">
                <a:latin typeface="Roboto"/>
                <a:ea typeface="Roboto"/>
                <a:cs typeface="Roboto"/>
              </a:rPr>
              <a:t>Before we complete the enrollment, I do need to verify a few items on this recorded line. Can you please confirm that you are a United States citizen or legal resident, and that all health information you provided today is accurate and complete to the best of your knowledge? Lastly, for identity verification purposes, please confirm your Social Security number?</a:t>
            </a:r>
            <a:br>
              <a:rPr lang="en-US" sz="1200" dirty="0">
                <a:latin typeface="Roboto"/>
                <a:ea typeface="Roboto"/>
                <a:cs typeface="Roboto"/>
              </a:rPr>
            </a:br>
            <a:r>
              <a:rPr lang="en-US" sz="1200">
                <a:latin typeface="Roboto"/>
                <a:ea typeface="Roboto"/>
                <a:cs typeface="Roboto"/>
              </a:rPr>
              <a:t>▶ ( Wait for Answer ) </a:t>
            </a:r>
            <a:endParaRPr lang="en-US"/>
          </a:p>
          <a:p>
            <a:r>
              <a:rPr lang="en-US" sz="1200">
                <a:latin typeface="Roboto"/>
                <a:ea typeface="Roboto"/>
                <a:cs typeface="Roboto"/>
              </a:rPr>
              <a:t>For the initial payment, which card type would you prefer you put on file? </a:t>
            </a:r>
            <a:br>
              <a:rPr lang="en-US" sz="1200" dirty="0">
                <a:latin typeface="Roboto"/>
                <a:ea typeface="Roboto"/>
                <a:cs typeface="Roboto"/>
              </a:rPr>
            </a:br>
            <a:r>
              <a:rPr lang="en-US" sz="1200">
                <a:latin typeface="Roboto"/>
                <a:ea typeface="Roboto"/>
                <a:cs typeface="Roboto"/>
              </a:rPr>
              <a:t>▶ ( Wait for Answer ) </a:t>
            </a:r>
            <a:endParaRPr lang="en-US"/>
          </a:p>
          <a:p>
            <a:r>
              <a:rPr lang="en-US" sz="1200">
                <a:latin typeface="Roboto"/>
                <a:ea typeface="Roboto"/>
                <a:cs typeface="Roboto"/>
              </a:rPr>
              <a:t>Ok go ahead with the card number. </a:t>
            </a:r>
            <a:r>
              <a:rPr lang="en-US" sz="1200" i="1">
                <a:solidFill>
                  <a:srgbClr val="FF9900"/>
                </a:solidFill>
                <a:latin typeface="Roboto"/>
                <a:ea typeface="Roboto"/>
                <a:cs typeface="Roboto"/>
              </a:rPr>
              <a:t>(OR)</a:t>
            </a:r>
            <a:r>
              <a:rPr lang="en-US" sz="1200">
                <a:latin typeface="Roboto"/>
                <a:ea typeface="Roboto"/>
                <a:cs typeface="Roboto"/>
              </a:rPr>
              <a:t> I’m ready for the card number when you’re ready. </a:t>
            </a:r>
            <a:br>
              <a:rPr lang="en-US" sz="1200" dirty="0">
                <a:latin typeface="Roboto"/>
                <a:ea typeface="Roboto"/>
                <a:cs typeface="Roboto"/>
              </a:rPr>
            </a:br>
            <a:r>
              <a:rPr lang="en-US" sz="1200">
                <a:latin typeface="Roboto"/>
                <a:ea typeface="Roboto"/>
                <a:cs typeface="Roboto"/>
              </a:rPr>
              <a:t>✖ ( DO NOT SPEAK WHOEVER TALKS FIRST LOSES )</a:t>
            </a:r>
            <a:endParaRPr lang="en-US"/>
          </a:p>
          <a:p>
            <a:br>
              <a:rPr lang="en-US" dirty="0"/>
            </a:br>
            <a:br>
              <a:rPr lang="en-US" dirty="0"/>
            </a:br>
            <a:endParaRPr lang="en-US" dirty="0"/>
          </a:p>
        </p:txBody>
      </p:sp>
    </p:spTree>
    <p:extLst>
      <p:ext uri="{BB962C8B-B14F-4D97-AF65-F5344CB8AC3E}">
        <p14:creationId xmlns:p14="http://schemas.microsoft.com/office/powerpoint/2010/main" val="7758143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22"/>
          <p:cNvSpPr txBox="1">
            <a:spLocks noGrp="1"/>
          </p:cNvSpPr>
          <p:nvPr>
            <p:ph type="title"/>
          </p:nvPr>
        </p:nvSpPr>
        <p:spPr>
          <a:xfrm>
            <a:off x="371474" y="231776"/>
            <a:ext cx="8380640" cy="65405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Verification Signature and Post Close</a:t>
            </a:r>
            <a:endParaRPr/>
          </a:p>
        </p:txBody>
      </p:sp>
      <p:sp>
        <p:nvSpPr>
          <p:cNvPr id="382" name="Google Shape;382;p22"/>
          <p:cNvSpPr txBox="1">
            <a:spLocks noGrp="1"/>
          </p:cNvSpPr>
          <p:nvPr>
            <p:ph type="body" idx="1"/>
          </p:nvPr>
        </p:nvSpPr>
        <p:spPr>
          <a:xfrm>
            <a:off x="133350" y="1489166"/>
            <a:ext cx="3552825" cy="513705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Read the Verification page</a:t>
            </a:r>
            <a:endParaRPr/>
          </a:p>
          <a:p>
            <a:pPr marL="228600" lvl="0" indent="-228600" algn="l" rtl="0">
              <a:lnSpc>
                <a:spcPct val="90000"/>
              </a:lnSpc>
              <a:spcBef>
                <a:spcPts val="1000"/>
              </a:spcBef>
              <a:spcAft>
                <a:spcPts val="0"/>
              </a:spcAft>
              <a:buClr>
                <a:schemeClr val="dk1"/>
              </a:buClr>
              <a:buSzPts val="2800"/>
              <a:buChar char="•"/>
            </a:pPr>
            <a:r>
              <a:rPr lang="en-US"/>
              <a:t>Get them to sign</a:t>
            </a:r>
            <a:endParaRPr/>
          </a:p>
          <a:p>
            <a:pPr marL="228600" lvl="0" indent="-228600" algn="l" rtl="0">
              <a:lnSpc>
                <a:spcPct val="90000"/>
              </a:lnSpc>
              <a:spcBef>
                <a:spcPts val="1000"/>
              </a:spcBef>
              <a:spcAft>
                <a:spcPts val="0"/>
              </a:spcAft>
              <a:buClr>
                <a:schemeClr val="dk1"/>
              </a:buClr>
              <a:buSzPts val="2800"/>
              <a:buChar char="•"/>
            </a:pPr>
            <a:r>
              <a:rPr lang="en-US"/>
              <a:t>Read the Post Close – it will help your sales stick</a:t>
            </a:r>
            <a:endParaRPr/>
          </a:p>
        </p:txBody>
      </p:sp>
      <p:sp>
        <p:nvSpPr>
          <p:cNvPr id="2" name="TextBox 1">
            <a:extLst>
              <a:ext uri="{FF2B5EF4-FFF2-40B4-BE49-F238E27FC236}">
                <a16:creationId xmlns:a16="http://schemas.microsoft.com/office/drawing/2014/main" id="{583F8C82-0F48-9956-D11C-9DA2D47FB13E}"/>
              </a:ext>
            </a:extLst>
          </p:cNvPr>
          <p:cNvSpPr txBox="1"/>
          <p:nvPr/>
        </p:nvSpPr>
        <p:spPr>
          <a:xfrm>
            <a:off x="4064000" y="1164167"/>
            <a:ext cx="7641166"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b="0" u="sng">
                <a:latin typeface="Roboto"/>
                <a:ea typeface="Roboto"/>
                <a:cs typeface="Roboto"/>
              </a:rPr>
              <a:t>Verification</a:t>
            </a:r>
            <a:r>
              <a:rPr lang="en-US" sz="1200">
                <a:latin typeface="Roboto"/>
                <a:ea typeface="Roboto"/>
                <a:cs typeface="Roboto"/>
              </a:rPr>
              <a:t>This is the final step. I’m sending you a text now from a 732 number labeled ‘ONE ENROLLMENT.’ Please click the link once you receive it. Let me know when you see it.</a:t>
            </a:r>
            <a:br>
              <a:rPr lang="en-US" sz="1200">
                <a:latin typeface="Roboto"/>
                <a:ea typeface="Roboto"/>
                <a:cs typeface="Roboto"/>
              </a:rPr>
            </a:br>
            <a:r>
              <a:rPr lang="en-US" sz="1200" i="1">
                <a:solidFill>
                  <a:srgbClr val="FF9900"/>
                </a:solidFill>
                <a:latin typeface="Roboto"/>
                <a:ea typeface="Roboto"/>
                <a:cs typeface="Roboto"/>
              </a:rPr>
              <a:t>▶ ( Wait for Answer ) </a:t>
            </a:r>
            <a:r>
              <a:rPr lang="en-US" sz="1200">
                <a:latin typeface="Roboto"/>
                <a:ea typeface="Roboto"/>
                <a:cs typeface="Roboto"/>
              </a:rPr>
              <a:t>Great. Please open the link and, if possible, place your phone on speaker so I can walk you through the document. Your role here is simply to confirm that everything has been entered correctly. I’ll have you verify the spelling of your first and last name, your home address, email address, and phone number, as well as confirm that your date of birth and gender are accurate. I’ll also ask you to confirm the payment method on file and the billing address associated with the application. Once you’ve reviewed everything, let me know—does it all look correct?” </a:t>
            </a:r>
            <a:br>
              <a:rPr lang="en-US" sz="1200">
                <a:latin typeface="Roboto"/>
                <a:ea typeface="Roboto"/>
                <a:cs typeface="Roboto"/>
              </a:rPr>
            </a:br>
            <a:r>
              <a:rPr lang="en-US" sz="1200" i="1">
                <a:solidFill>
                  <a:srgbClr val="FF9900"/>
                </a:solidFill>
                <a:latin typeface="Roboto"/>
                <a:ea typeface="Roboto"/>
                <a:cs typeface="Roboto"/>
              </a:rPr>
              <a:t>▶ ( Wait for Answer) </a:t>
            </a:r>
            <a:r>
              <a:rPr lang="en-US" sz="1200">
                <a:latin typeface="Roboto"/>
                <a:ea typeface="Roboto"/>
                <a:cs typeface="Roboto"/>
              </a:rPr>
              <a:t>As you scroll down, you’ll see what’s called a bill-by-benefit breakdown. It’s just a transparent summary showing how the policy is set up and how the cost is allocated across the benefits. (</a:t>
            </a:r>
            <a:r>
              <a:rPr lang="en-US" sz="1200" i="1">
                <a:solidFill>
                  <a:srgbClr val="4A86E8"/>
                </a:solidFill>
                <a:latin typeface="Roboto"/>
                <a:ea typeface="Roboto"/>
                <a:cs typeface="Roboto"/>
              </a:rPr>
              <a:t>Everest has 1 check box asking consent for email in the middle of the verification.) </a:t>
            </a:r>
            <a:r>
              <a:rPr lang="en-US" sz="1200">
                <a:latin typeface="Roboto"/>
                <a:ea typeface="Roboto"/>
                <a:cs typeface="Roboto"/>
              </a:rPr>
              <a:t>At the bottom, enter your first and last name—please capitalize both. Then sign electronically with your finger. You can leave the last checkbox unchecked unless you’re applying for your child only. Click ‘Accept’ and tell me what you see. (You've successfully signed your document)</a:t>
            </a:r>
            <a:r>
              <a:rPr lang="en-US" sz="1200">
                <a:solidFill>
                  <a:srgbClr val="4A86E8"/>
                </a:solidFill>
                <a:latin typeface="Roboto"/>
                <a:ea typeface="Roboto"/>
                <a:cs typeface="Roboto"/>
              </a:rPr>
              <a:t>Notes:</a:t>
            </a:r>
            <a:br>
              <a:rPr lang="en-US" sz="1200">
                <a:latin typeface="Roboto"/>
                <a:ea typeface="Roboto"/>
                <a:cs typeface="Roboto"/>
              </a:rPr>
            </a:br>
            <a:r>
              <a:rPr lang="en-US" sz="1200" i="1">
                <a:solidFill>
                  <a:srgbClr val="4A86E8"/>
                </a:solidFill>
                <a:latin typeface="Roboto"/>
                <a:ea typeface="Roboto"/>
                <a:cs typeface="Roboto"/>
              </a:rPr>
              <a:t>▶ If needed: Don't forget to enroll customer GoodRX Account.</a:t>
            </a:r>
            <a:br>
              <a:rPr lang="en-US" sz="1200" i="1">
                <a:solidFill>
                  <a:srgbClr val="4A86E8"/>
                </a:solidFill>
                <a:latin typeface="Roboto"/>
                <a:ea typeface="Roboto"/>
                <a:cs typeface="Roboto"/>
              </a:rPr>
            </a:br>
            <a:r>
              <a:rPr lang="en-US" sz="1200" i="1">
                <a:solidFill>
                  <a:srgbClr val="4A86E8"/>
                </a:solidFill>
                <a:latin typeface="Roboto"/>
                <a:ea typeface="Roboto"/>
                <a:cs typeface="Roboto"/>
              </a:rPr>
              <a:t>▶</a:t>
            </a:r>
            <a:r>
              <a:rPr lang="en-US" sz="1200" i="1">
                <a:solidFill>
                  <a:srgbClr val="FF9900"/>
                </a:solidFill>
                <a:latin typeface="Roboto"/>
                <a:ea typeface="Roboto"/>
                <a:cs typeface="Roboto"/>
              </a:rPr>
              <a:t> </a:t>
            </a:r>
            <a:r>
              <a:rPr lang="en-US" sz="1200" i="1">
                <a:solidFill>
                  <a:srgbClr val="4A86E8"/>
                </a:solidFill>
                <a:latin typeface="Roboto"/>
                <a:ea typeface="Roboto"/>
                <a:cs typeface="Roboto"/>
              </a:rPr>
              <a:t>You will need a verification code from the customer. Via TEXT.</a:t>
            </a:r>
            <a:br>
              <a:rPr lang="en-US" sz="1200" i="1">
                <a:solidFill>
                  <a:srgbClr val="4A86E8"/>
                </a:solidFill>
                <a:latin typeface="Roboto"/>
                <a:ea typeface="Roboto"/>
                <a:cs typeface="Roboto"/>
              </a:rPr>
            </a:br>
            <a:r>
              <a:rPr lang="en-US" sz="1200" i="1">
                <a:solidFill>
                  <a:srgbClr val="4A86E8"/>
                </a:solidFill>
                <a:latin typeface="Roboto"/>
                <a:ea typeface="Roboto"/>
                <a:cs typeface="Roboto"/>
              </a:rPr>
              <a:t>▶</a:t>
            </a:r>
            <a:r>
              <a:rPr lang="en-US" sz="1200" i="1">
                <a:solidFill>
                  <a:srgbClr val="FF9900"/>
                </a:solidFill>
                <a:latin typeface="Roboto"/>
                <a:ea typeface="Roboto"/>
                <a:cs typeface="Roboto"/>
              </a:rPr>
              <a:t> </a:t>
            </a:r>
            <a:r>
              <a:rPr lang="en-US" sz="1200" i="1">
                <a:solidFill>
                  <a:srgbClr val="4A86E8"/>
                </a:solidFill>
                <a:latin typeface="Roboto"/>
                <a:ea typeface="Roboto"/>
                <a:cs typeface="Roboto"/>
              </a:rPr>
              <a:t>Remind customer to use GoodRX and not their insurance card at the pharmacy. Customer provides pharmacist of their GoodRX Account.</a:t>
            </a:r>
            <a:endParaRPr lang="en-US"/>
          </a:p>
        </p:txBody>
      </p:sp>
    </p:spTree>
    <p:extLst>
      <p:ext uri="{BB962C8B-B14F-4D97-AF65-F5344CB8AC3E}">
        <p14:creationId xmlns:p14="http://schemas.microsoft.com/office/powerpoint/2010/main" val="3854456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23"/>
          <p:cNvSpPr txBox="1">
            <a:spLocks noGrp="1"/>
          </p:cNvSpPr>
          <p:nvPr>
            <p:ph type="title"/>
          </p:nvPr>
        </p:nvSpPr>
        <p:spPr>
          <a:xfrm>
            <a:off x="556200" y="357128"/>
            <a:ext cx="4139700" cy="5358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Post Close – Limited Medical</a:t>
            </a:r>
            <a:endParaRPr/>
          </a:p>
        </p:txBody>
      </p:sp>
      <p:sp>
        <p:nvSpPr>
          <p:cNvPr id="2" name="TextBox 1">
            <a:extLst>
              <a:ext uri="{FF2B5EF4-FFF2-40B4-BE49-F238E27FC236}">
                <a16:creationId xmlns:a16="http://schemas.microsoft.com/office/drawing/2014/main" id="{AA5A2534-E305-A721-BB1C-269CC2810D5E}"/>
              </a:ext>
            </a:extLst>
          </p:cNvPr>
          <p:cNvSpPr txBox="1"/>
          <p:nvPr/>
        </p:nvSpPr>
        <p:spPr>
          <a:xfrm>
            <a:off x="4614332" y="444500"/>
            <a:ext cx="7334250" cy="54784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b="0" u="sng">
                <a:latin typeface="Roboto"/>
                <a:ea typeface="Roboto"/>
                <a:cs typeface="Roboto"/>
              </a:rPr>
              <a:t>Post Close </a:t>
            </a:r>
            <a:r>
              <a:rPr lang="en-US" sz="1200">
                <a:latin typeface="Roboto"/>
                <a:ea typeface="Roboto"/>
                <a:cs typeface="Roboto"/>
              </a:rPr>
              <a:t>Perfect—I’ve received your signature on my end. I’m going to go ahead and submit your application to the insurance carrier now.</a:t>
            </a:r>
            <a:br>
              <a:rPr lang="en-US" sz="1200">
                <a:latin typeface="Roboto"/>
                <a:ea typeface="Roboto"/>
                <a:cs typeface="Roboto"/>
              </a:rPr>
            </a:br>
            <a:r>
              <a:rPr lang="en-US" sz="1200" i="1">
                <a:solidFill>
                  <a:srgbClr val="38761D"/>
                </a:solidFill>
                <a:latin typeface="Roboto"/>
                <a:ea typeface="Roboto"/>
                <a:cs typeface="Roboto"/>
              </a:rPr>
              <a:t>✔ ( If it goes through ) </a:t>
            </a:r>
            <a:r>
              <a:rPr lang="en-US" sz="1200">
                <a:latin typeface="Roboto"/>
                <a:ea typeface="Roboto"/>
                <a:cs typeface="Roboto"/>
              </a:rPr>
              <a:t>Congratulations [Customer Name], your application is complete. Do you have a pen and paper? Our customer service number is 855-736-1590, available Monday through Friday, 9:00 a.m. to 9:00 p.m. Eastern. I’ll also provide you with my direct extension for future reference.Your confirmation number is CHA561337—please keep that for your records. If anyone calls claiming to be from our agency and can’t provide that number, they’re not affiliated with us.Now go ahead and write down </a:t>
            </a:r>
            <a:r>
              <a:rPr lang="en-US" sz="1200">
                <a:solidFill>
                  <a:srgbClr val="5B8EDE"/>
                </a:solidFill>
                <a:latin typeface="Roboto"/>
                <a:ea typeface="Roboto"/>
                <a:cs typeface="Roboto"/>
              </a:rPr>
              <a:t>MULTIPLAN NETWORK</a:t>
            </a:r>
            <a:r>
              <a:rPr lang="en-US" sz="1200">
                <a:solidFill>
                  <a:srgbClr val="0000FF"/>
                </a:solidFill>
                <a:latin typeface="Roboto"/>
                <a:ea typeface="Roboto"/>
                <a:cs typeface="Roboto"/>
              </a:rPr>
              <a:t> </a:t>
            </a:r>
            <a:r>
              <a:rPr lang="en-US" sz="1200">
                <a:latin typeface="Roboto"/>
                <a:ea typeface="Roboto"/>
                <a:cs typeface="Roboto"/>
              </a:rPr>
              <a:t>- </a:t>
            </a:r>
            <a:r>
              <a:rPr lang="en-US" sz="1200">
                <a:solidFill>
                  <a:srgbClr val="6AA84F"/>
                </a:solidFill>
                <a:latin typeface="Roboto"/>
                <a:ea typeface="Roboto"/>
                <a:cs typeface="Roboto"/>
              </a:rPr>
              <a:t>FIRST HEALTH NETWORK.</a:t>
            </a:r>
            <a:r>
              <a:rPr lang="en-US" sz="1200">
                <a:latin typeface="Roboto"/>
                <a:ea typeface="Roboto"/>
                <a:cs typeface="Roboto"/>
              </a:rPr>
              <a:t>The website you can visit to search providers is:</a:t>
            </a:r>
            <a:r>
              <a:rPr lang="en-US" sz="1200" u="none" strike="noStrike">
                <a:solidFill>
                  <a:srgbClr val="5B8EDE"/>
                </a:solidFill>
                <a:latin typeface="Roboto"/>
                <a:ea typeface="Roboto"/>
                <a:cs typeface="Roboto"/>
                <a:hlinkClick r:id="rId3"/>
              </a:rPr>
              <a:t>providersearch.multiplan.com</a:t>
            </a:r>
            <a:r>
              <a:rPr lang="en-US" sz="1200">
                <a:solidFill>
                  <a:srgbClr val="6AA84F"/>
                </a:solidFill>
                <a:latin typeface="Roboto"/>
                <a:ea typeface="Roboto"/>
                <a:cs typeface="Roboto"/>
              </a:rPr>
              <a:t> - providerlocator.firsthealth.com</a:t>
            </a:r>
            <a:r>
              <a:rPr lang="en-US" sz="1200">
                <a:latin typeface="Roboto"/>
                <a:ea typeface="Roboto"/>
                <a:cs typeface="Roboto"/>
              </a:rPr>
              <a:t>With today’s payment, your policy will become effective on _______. Your second payment will then be due 30 days from that effective date.</a:t>
            </a:r>
            <a:br>
              <a:rPr lang="en-US" sz="1200">
                <a:latin typeface="Roboto"/>
                <a:ea typeface="Roboto"/>
                <a:cs typeface="Roboto"/>
              </a:rPr>
            </a:br>
            <a:r>
              <a:rPr lang="en-US" sz="1200" i="1">
                <a:solidFill>
                  <a:srgbClr val="FF9900"/>
                </a:solidFill>
                <a:latin typeface="Roboto"/>
                <a:ea typeface="Roboto"/>
                <a:cs typeface="Roboto"/>
              </a:rPr>
              <a:t>( If it’s a postdate, make sure you state the dates correctly for the first billing date and the effective date )</a:t>
            </a:r>
            <a:r>
              <a:rPr lang="en-US" sz="1200">
                <a:latin typeface="Roboto"/>
                <a:ea typeface="Roboto"/>
                <a:cs typeface="Roboto"/>
              </a:rPr>
              <a:t>You’ll receive two ID cards by mail about 7 to 10 business days after your effective date. One is a discount card for prescriptions and other added benefits like dental and vision. The second card is your actual insurance ID card and will clearly show </a:t>
            </a:r>
            <a:r>
              <a:rPr lang="en-US" sz="1200">
                <a:solidFill>
                  <a:srgbClr val="5B8EDE"/>
                </a:solidFill>
                <a:latin typeface="Roboto"/>
                <a:ea typeface="Roboto"/>
                <a:cs typeface="Roboto"/>
              </a:rPr>
              <a:t>MULTIPLAN NETWORK</a:t>
            </a:r>
            <a:r>
              <a:rPr lang="en-US" sz="1200">
                <a:solidFill>
                  <a:srgbClr val="0000FF"/>
                </a:solidFill>
                <a:latin typeface="Roboto"/>
                <a:ea typeface="Roboto"/>
                <a:cs typeface="Roboto"/>
              </a:rPr>
              <a:t> </a:t>
            </a:r>
            <a:r>
              <a:rPr lang="en-US" sz="1200">
                <a:latin typeface="Roboto"/>
                <a:ea typeface="Roboto"/>
                <a:cs typeface="Roboto"/>
              </a:rPr>
              <a:t>- </a:t>
            </a:r>
            <a:r>
              <a:rPr lang="en-US" sz="1200">
                <a:solidFill>
                  <a:srgbClr val="6AA84F"/>
                </a:solidFill>
                <a:latin typeface="Roboto"/>
                <a:ea typeface="Roboto"/>
                <a:cs typeface="Roboto"/>
              </a:rPr>
              <a:t>FIRST HEALTH NETWORK.</a:t>
            </a:r>
            <a:r>
              <a:rPr lang="en-US" sz="1200">
                <a:latin typeface="Roboto"/>
                <a:ea typeface="Roboto"/>
                <a:cs typeface="Roboto"/>
              </a:rPr>
              <a:t> Just for your records, I want to quickly recap the main details you’ll see in your paperwork. Your plan uses the </a:t>
            </a:r>
            <a:r>
              <a:rPr lang="en-US" sz="1200">
                <a:solidFill>
                  <a:srgbClr val="5B8EDE"/>
                </a:solidFill>
                <a:latin typeface="Roboto"/>
                <a:ea typeface="Roboto"/>
                <a:cs typeface="Roboto"/>
              </a:rPr>
              <a:t>Multiplan Network</a:t>
            </a:r>
            <a:r>
              <a:rPr lang="en-US" sz="1200" i="1">
                <a:solidFill>
                  <a:srgbClr val="4A86E8"/>
                </a:solidFill>
                <a:latin typeface="Roboto"/>
                <a:ea typeface="Roboto"/>
                <a:cs typeface="Roboto"/>
              </a:rPr>
              <a:t>/ </a:t>
            </a:r>
            <a:r>
              <a:rPr lang="en-US" sz="1200" i="1">
                <a:solidFill>
                  <a:srgbClr val="6AA84F"/>
                </a:solidFill>
                <a:latin typeface="Roboto"/>
                <a:ea typeface="Roboto"/>
                <a:cs typeface="Roboto"/>
              </a:rPr>
              <a:t>FirstHealth Network</a:t>
            </a:r>
            <a:r>
              <a:rPr lang="en-US" sz="1200" i="1">
                <a:solidFill>
                  <a:srgbClr val="FF0000"/>
                </a:solidFill>
                <a:latin typeface="Roboto"/>
                <a:ea typeface="Roboto"/>
                <a:cs typeface="Roboto"/>
              </a:rPr>
              <a:t> </a:t>
            </a:r>
            <a:r>
              <a:rPr lang="en-US" sz="1200">
                <a:latin typeface="Roboto"/>
                <a:ea typeface="Roboto"/>
                <a:cs typeface="Roboto"/>
              </a:rPr>
              <a:t>for doctors and hospitals. The insurance benefits are underwritten by</a:t>
            </a:r>
            <a:r>
              <a:rPr lang="en-US" sz="1200">
                <a:solidFill>
                  <a:srgbClr val="5B8EDE"/>
                </a:solidFill>
                <a:latin typeface="Roboto"/>
                <a:ea typeface="Roboto"/>
                <a:cs typeface="Roboto"/>
              </a:rPr>
              <a:t> Everest Reinsurance Company</a:t>
            </a:r>
            <a:r>
              <a:rPr lang="en-US" sz="1200">
                <a:solidFill>
                  <a:srgbClr val="0000FF"/>
                </a:solidFill>
                <a:latin typeface="Roboto"/>
                <a:ea typeface="Roboto"/>
                <a:cs typeface="Roboto"/>
              </a:rPr>
              <a:t> </a:t>
            </a:r>
            <a:r>
              <a:rPr lang="en-US" sz="1200">
                <a:latin typeface="Roboto"/>
                <a:ea typeface="Roboto"/>
                <a:cs typeface="Roboto"/>
              </a:rPr>
              <a:t>/</a:t>
            </a:r>
            <a:r>
              <a:rPr lang="en-US" sz="1200">
                <a:solidFill>
                  <a:srgbClr val="93C47D"/>
                </a:solidFill>
                <a:latin typeface="Roboto"/>
                <a:ea typeface="Roboto"/>
                <a:cs typeface="Roboto"/>
              </a:rPr>
              <a:t> </a:t>
            </a:r>
            <a:r>
              <a:rPr lang="en-US" sz="1200">
                <a:solidFill>
                  <a:srgbClr val="6AA84F"/>
                </a:solidFill>
                <a:latin typeface="Roboto"/>
                <a:ea typeface="Roboto"/>
                <a:cs typeface="Roboto"/>
              </a:rPr>
              <a:t>American Financial Security Life Insurance Company</a:t>
            </a:r>
            <a:r>
              <a:rPr lang="en-US" sz="1200">
                <a:solidFill>
                  <a:srgbClr val="FF0000"/>
                </a:solidFill>
                <a:latin typeface="Roboto"/>
                <a:ea typeface="Roboto"/>
                <a:cs typeface="Roboto"/>
              </a:rPr>
              <a:t> </a:t>
            </a:r>
            <a:r>
              <a:rPr lang="en-US" sz="1200">
                <a:latin typeface="Roboto"/>
                <a:ea typeface="Roboto"/>
                <a:cs typeface="Roboto"/>
              </a:rPr>
              <a:t>and offered through the National Congress of Employers (NCE). Your monthly billing is handled through FirstEnroll, which is the name you’ll see on your statements. All of this will be clearly outlined in your policy documents. I do want to clarify that this is a private, limited-benefit plan, not an ACA or major medical plan, and it does not provide coverage for maternity, substance abuse, or psychiatric services.- I also want to explain the 12 and 12 pre-existing condition clause, which states anything diagnosed in the last 12 months would have a 12-month waiting period. There is a standard 30-day waiting period for any hospital,sickness and scheduled doctor visits.If you have any friends or family members that need quality coverage, please give them my information, it would be greatly appreciated. We will find them the right plan just as we did for you. Alright [Customer Name], you've been an absolute pleasure. Now do you have any questions before we disconnect?</a:t>
            </a:r>
            <a:r>
              <a:rPr lang="en-US" sz="1200" i="1">
                <a:solidFill>
                  <a:srgbClr val="CC0000"/>
                </a:solidFill>
                <a:latin typeface="Roboto"/>
                <a:ea typeface="Roboto"/>
                <a:cs typeface="Roboto"/>
              </a:rPr>
              <a:t>✖ ( DO NOT ASK IF THEY ARE STILL THERE ) </a:t>
            </a:r>
            <a:br>
              <a:rPr lang="en-US"/>
            </a:br>
            <a:endParaRPr lang="en-US"/>
          </a:p>
        </p:txBody>
      </p:sp>
    </p:spTree>
    <p:extLst>
      <p:ext uri="{BB962C8B-B14F-4D97-AF65-F5344CB8AC3E}">
        <p14:creationId xmlns:p14="http://schemas.microsoft.com/office/powerpoint/2010/main" val="1637263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24"/>
          <p:cNvSpPr txBox="1">
            <a:spLocks noGrp="1"/>
          </p:cNvSpPr>
          <p:nvPr>
            <p:ph type="title"/>
          </p:nvPr>
        </p:nvSpPr>
        <p:spPr>
          <a:xfrm>
            <a:off x="191558" y="322792"/>
            <a:ext cx="3458100" cy="525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200"/>
              <a:t>Post Close – Access STM</a:t>
            </a:r>
          </a:p>
        </p:txBody>
      </p:sp>
      <p:sp>
        <p:nvSpPr>
          <p:cNvPr id="2" name="TextBox 1">
            <a:extLst>
              <a:ext uri="{FF2B5EF4-FFF2-40B4-BE49-F238E27FC236}">
                <a16:creationId xmlns:a16="http://schemas.microsoft.com/office/drawing/2014/main" id="{54FADD41-0656-2DBC-1E36-4AC90FE07E61}"/>
              </a:ext>
            </a:extLst>
          </p:cNvPr>
          <p:cNvSpPr txBox="1"/>
          <p:nvPr/>
        </p:nvSpPr>
        <p:spPr>
          <a:xfrm>
            <a:off x="2444750" y="232833"/>
            <a:ext cx="9747249" cy="62170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latin typeface="Roboto"/>
                <a:ea typeface="Roboto"/>
                <a:cs typeface="Roboto"/>
              </a:rPr>
              <a:t>Post Close</a:t>
            </a:r>
            <a:r>
              <a:rPr lang="en-US" sz="2000" u="sng" dirty="0">
                <a:solidFill>
                  <a:srgbClr val="00FFFF"/>
                </a:solidFill>
                <a:latin typeface="Roboto"/>
                <a:ea typeface="Roboto"/>
                <a:cs typeface="Roboto"/>
              </a:rPr>
              <a:t> </a:t>
            </a:r>
            <a:endParaRPr lang="en-US" dirty="0"/>
          </a:p>
          <a:p>
            <a:r>
              <a:rPr lang="en-US" sz="1200" dirty="0">
                <a:latin typeface="Roboto"/>
                <a:ea typeface="Roboto"/>
                <a:cs typeface="Roboto"/>
              </a:rPr>
              <a:t>Perfect—I’ve received your signature on my end. I’m going to go ahead and submit your application to the insurance carrier now. </a:t>
            </a:r>
            <a:br>
              <a:rPr lang="en-US" sz="1200" dirty="0">
                <a:latin typeface="Roboto"/>
                <a:ea typeface="Roboto"/>
                <a:cs typeface="Roboto"/>
              </a:rPr>
            </a:br>
            <a:r>
              <a:rPr lang="en-US" sz="1200" dirty="0">
                <a:latin typeface="Roboto"/>
                <a:ea typeface="Roboto"/>
                <a:cs typeface="Roboto"/>
              </a:rPr>
              <a:t>✔ ( If it goes through ) </a:t>
            </a:r>
            <a:endParaRPr lang="en-US" dirty="0"/>
          </a:p>
          <a:p>
            <a:r>
              <a:rPr lang="en-US" sz="1200" dirty="0">
                <a:latin typeface="Roboto"/>
                <a:ea typeface="Roboto"/>
                <a:cs typeface="Roboto"/>
              </a:rPr>
              <a:t>Congratulations [Customer Name], your application is complete. Do you have a pen and paper? Our customer service number is 855-736-1590, available Monday through Friday, 9:00 a.m. to 9:00 p.m. Eastern. I’ll also provide you with my direct extension for future reference.</a:t>
            </a:r>
            <a:endParaRPr lang="en-US" dirty="0"/>
          </a:p>
          <a:p>
            <a:r>
              <a:rPr lang="en-US" sz="1200" dirty="0">
                <a:latin typeface="Roboto"/>
                <a:ea typeface="Roboto"/>
                <a:cs typeface="Roboto"/>
              </a:rPr>
              <a:t>Your confirmation number is CHA561337—please keep that for your records. If anyone calls claiming to be from our agency and can’t provide that number, they’re not affiliated with us.</a:t>
            </a:r>
            <a:endParaRPr lang="en-US" dirty="0"/>
          </a:p>
          <a:p>
            <a:r>
              <a:rPr lang="en-US" sz="1200">
                <a:latin typeface="Roboto"/>
                <a:ea typeface="Roboto"/>
                <a:cs typeface="Roboto"/>
              </a:rPr>
              <a:t>Now go ahead and write down</a:t>
            </a:r>
            <a:r>
              <a:rPr lang="en-US" sz="1200">
                <a:solidFill>
                  <a:srgbClr val="4A86E8"/>
                </a:solidFill>
                <a:latin typeface="Roboto"/>
                <a:ea typeface="Roboto"/>
                <a:cs typeface="Roboto"/>
              </a:rPr>
              <a:t> MULTIPLAN PHCS NETWORK.</a:t>
            </a:r>
            <a:endParaRPr lang="en-US"/>
          </a:p>
          <a:p>
            <a:r>
              <a:rPr lang="en-US" sz="1200">
                <a:latin typeface="Roboto"/>
                <a:ea typeface="Roboto"/>
                <a:cs typeface="Roboto"/>
              </a:rPr>
              <a:t>The website you can visit to search providers is: </a:t>
            </a:r>
            <a:r>
              <a:rPr lang="en-US" sz="1200" dirty="0">
                <a:solidFill>
                  <a:srgbClr val="1155CC"/>
                </a:solidFill>
                <a:latin typeface="Roboto"/>
                <a:ea typeface="Roboto"/>
                <a:cs typeface="Roboto"/>
                <a:hlinkClick r:id="rId3"/>
              </a:rPr>
              <a:t>providersearch.multiplan.com</a:t>
            </a:r>
            <a:endParaRPr lang="en-US"/>
          </a:p>
          <a:p>
            <a:r>
              <a:rPr lang="en-US" sz="1200" dirty="0">
                <a:latin typeface="Roboto"/>
                <a:ea typeface="Roboto"/>
                <a:cs typeface="Roboto"/>
              </a:rPr>
              <a:t>With today’s payment, your policy will become effective on _______. Your second payment will then be due 30 days from that effective date. </a:t>
            </a:r>
            <a:br>
              <a:rPr lang="en-US" sz="1200" dirty="0">
                <a:latin typeface="Roboto"/>
                <a:ea typeface="Roboto"/>
                <a:cs typeface="Roboto"/>
              </a:rPr>
            </a:br>
            <a:r>
              <a:rPr lang="en-US" sz="1200" dirty="0">
                <a:latin typeface="Roboto"/>
                <a:ea typeface="Roboto"/>
                <a:cs typeface="Roboto"/>
              </a:rPr>
              <a:t>( If it’s a postdate, make sure you state the dates correctly for the first billing date and the effective date )</a:t>
            </a:r>
            <a:endParaRPr lang="en-US" dirty="0"/>
          </a:p>
          <a:p>
            <a:r>
              <a:rPr lang="en-US" sz="1200" dirty="0">
                <a:latin typeface="Roboto"/>
                <a:ea typeface="Roboto"/>
                <a:cs typeface="Roboto"/>
              </a:rPr>
              <a:t>You’ll receive two ID cards by mail about 7 to 10 business days after your effective date. One is a discount card for prescriptions and other added benefits like dental and vision. The second card is your actual insurance ID card and will clearly show </a:t>
            </a:r>
            <a:r>
              <a:rPr lang="en-US" sz="1200" dirty="0">
                <a:solidFill>
                  <a:srgbClr val="4A86E8"/>
                </a:solidFill>
                <a:latin typeface="Roboto"/>
                <a:ea typeface="Roboto"/>
                <a:cs typeface="Roboto"/>
              </a:rPr>
              <a:t>MULTIPLAN PHCS NETWORK.</a:t>
            </a:r>
            <a:endParaRPr lang="en-US" dirty="0"/>
          </a:p>
          <a:p>
            <a:r>
              <a:rPr lang="en-US" sz="1200" dirty="0">
                <a:latin typeface="Roboto"/>
                <a:ea typeface="Roboto"/>
                <a:cs typeface="Roboto"/>
              </a:rPr>
              <a:t>Just for your records, I want to quickly recap the main details you’ll see in your paperwork. Your plan uses the </a:t>
            </a:r>
            <a:r>
              <a:rPr lang="en-US" sz="1200" i="1" dirty="0">
                <a:solidFill>
                  <a:srgbClr val="4A86E8"/>
                </a:solidFill>
                <a:latin typeface="Roboto"/>
                <a:ea typeface="Roboto"/>
                <a:cs typeface="Roboto"/>
              </a:rPr>
              <a:t>Multiplan PHCS Network</a:t>
            </a:r>
            <a:r>
              <a:rPr lang="en-US" sz="1200" i="1" dirty="0">
                <a:solidFill>
                  <a:srgbClr val="FF0000"/>
                </a:solidFill>
                <a:latin typeface="Roboto"/>
                <a:ea typeface="Roboto"/>
                <a:cs typeface="Roboto"/>
              </a:rPr>
              <a:t> </a:t>
            </a:r>
            <a:r>
              <a:rPr lang="en-US" sz="1200" dirty="0">
                <a:latin typeface="Roboto"/>
                <a:ea typeface="Roboto"/>
                <a:cs typeface="Roboto"/>
              </a:rPr>
              <a:t>for doctors and hospitals. </a:t>
            </a:r>
            <a:endParaRPr lang="en-US" dirty="0"/>
          </a:p>
          <a:p>
            <a:r>
              <a:rPr lang="en-US" sz="1200">
                <a:latin typeface="Roboto"/>
                <a:ea typeface="Roboto"/>
                <a:cs typeface="Roboto"/>
              </a:rPr>
              <a:t>The insurance benefits are underwritten by </a:t>
            </a:r>
            <a:r>
              <a:rPr lang="en-US" sz="1200">
                <a:solidFill>
                  <a:srgbClr val="CC0000"/>
                </a:solidFill>
                <a:latin typeface="Roboto"/>
                <a:ea typeface="Roboto"/>
                <a:cs typeface="Roboto"/>
              </a:rPr>
              <a:t>American Financial Security Life Insurance Company</a:t>
            </a:r>
            <a:r>
              <a:rPr lang="en-US" sz="1200" dirty="0">
                <a:solidFill>
                  <a:srgbClr val="FF0000"/>
                </a:solidFill>
                <a:latin typeface="Roboto"/>
                <a:ea typeface="Roboto"/>
                <a:cs typeface="Roboto"/>
              </a:rPr>
              <a:t> </a:t>
            </a:r>
            <a:r>
              <a:rPr lang="en-US" sz="1200">
                <a:latin typeface="Roboto"/>
                <a:ea typeface="Roboto"/>
                <a:cs typeface="Roboto"/>
              </a:rPr>
              <a:t>and offered through the National Congress of Employers (NCE). </a:t>
            </a:r>
            <a:endParaRPr lang="en-US"/>
          </a:p>
          <a:p>
            <a:r>
              <a:rPr lang="en-US" sz="1200" dirty="0">
                <a:latin typeface="Roboto"/>
                <a:ea typeface="Roboto"/>
                <a:cs typeface="Roboto"/>
              </a:rPr>
              <a:t>Your monthly billing is handled through </a:t>
            </a:r>
            <a:r>
              <a:rPr lang="en-US" sz="1200" dirty="0" err="1">
                <a:latin typeface="Roboto"/>
                <a:ea typeface="Roboto"/>
                <a:cs typeface="Roboto"/>
              </a:rPr>
              <a:t>FirstEnroll</a:t>
            </a:r>
            <a:r>
              <a:rPr lang="en-US" sz="1200" dirty="0">
                <a:latin typeface="Roboto"/>
                <a:ea typeface="Roboto"/>
                <a:cs typeface="Roboto"/>
              </a:rPr>
              <a:t>, which is the name you’ll see on your statements. All of this will be clearly outlined in your policy documents. </a:t>
            </a:r>
            <a:endParaRPr lang="en-US" dirty="0"/>
          </a:p>
          <a:p>
            <a:r>
              <a:rPr lang="en-US" sz="1200">
                <a:latin typeface="Roboto"/>
                <a:ea typeface="Roboto"/>
                <a:cs typeface="Roboto"/>
              </a:rPr>
              <a:t>I do want to clarify that this is a private, short term health plan, not an ACA or major medical plan, and it does not provide coverage for maternity, substance abuse, or psychiatric services.</a:t>
            </a:r>
            <a:endParaRPr lang="en-US"/>
          </a:p>
          <a:p>
            <a:r>
              <a:rPr lang="en-US" sz="1200" dirty="0">
                <a:latin typeface="Roboto"/>
                <a:ea typeface="Roboto"/>
                <a:cs typeface="Roboto"/>
              </a:rPr>
              <a:t>- I also want to explain the 12 and 12 pre-existing condition clause, which states anything diagnosed in the last 12 months would have a 12-month waiting period. There is a standard 30-day waiting period for any </a:t>
            </a:r>
            <a:r>
              <a:rPr lang="en-US" sz="1200" dirty="0" err="1">
                <a:latin typeface="Roboto"/>
                <a:ea typeface="Roboto"/>
                <a:cs typeface="Roboto"/>
              </a:rPr>
              <a:t>hospital,sickness</a:t>
            </a:r>
            <a:r>
              <a:rPr lang="en-US" sz="1200" dirty="0">
                <a:latin typeface="Roboto"/>
                <a:ea typeface="Roboto"/>
                <a:cs typeface="Roboto"/>
              </a:rPr>
              <a:t> and scheduled doctor visits.</a:t>
            </a:r>
            <a:endParaRPr lang="en-US" dirty="0"/>
          </a:p>
          <a:p>
            <a:endParaRPr lang="en-US" dirty="0"/>
          </a:p>
          <a:p>
            <a:r>
              <a:rPr lang="en-US" sz="1200">
                <a:latin typeface="Roboto"/>
                <a:ea typeface="Roboto"/>
                <a:cs typeface="Roboto"/>
              </a:rPr>
              <a:t>If you need to add or change dependents in the future, that can be done on the plan’s annual anniversary, without having to cancel your coverage. </a:t>
            </a:r>
            <a:endParaRPr lang="en-US"/>
          </a:p>
          <a:p>
            <a:r>
              <a:rPr lang="en-US" sz="1200" dirty="0">
                <a:latin typeface="Roboto"/>
                <a:ea typeface="Roboto"/>
                <a:cs typeface="Roboto"/>
              </a:rPr>
              <a:t>If you have any friends or family members that need quality coverage, please give them my information, it would be greatly appreciated. We will find them the right plan just as we did for you. </a:t>
            </a:r>
            <a:endParaRPr lang="en-US" dirty="0"/>
          </a:p>
          <a:p>
            <a:r>
              <a:rPr lang="en-US" sz="1200" dirty="0">
                <a:latin typeface="Roboto"/>
                <a:ea typeface="Roboto"/>
                <a:cs typeface="Roboto"/>
              </a:rPr>
              <a:t>Alright [Customer Name], you've been an absolute pleasure. Now do you have any questions before we disconnect?</a:t>
            </a:r>
            <a:endParaRPr lang="en-US" dirty="0"/>
          </a:p>
          <a:p>
            <a:br>
              <a:rPr lang="en-US" dirty="0"/>
            </a:br>
            <a:endParaRPr lang="en-US" dirty="0"/>
          </a:p>
        </p:txBody>
      </p:sp>
    </p:spTree>
    <p:extLst>
      <p:ext uri="{BB962C8B-B14F-4D97-AF65-F5344CB8AC3E}">
        <p14:creationId xmlns:p14="http://schemas.microsoft.com/office/powerpoint/2010/main" val="466739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25"/>
          <p:cNvSpPr txBox="1">
            <a:spLocks noGrp="1"/>
          </p:cNvSpPr>
          <p:nvPr>
            <p:ph type="title"/>
          </p:nvPr>
        </p:nvSpPr>
        <p:spPr>
          <a:xfrm>
            <a:off x="333375" y="498475"/>
            <a:ext cx="3292800" cy="5177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000"/>
              <a:t>Post Close - MEC</a:t>
            </a:r>
          </a:p>
        </p:txBody>
      </p:sp>
      <p:sp>
        <p:nvSpPr>
          <p:cNvPr id="2" name="TextBox 1">
            <a:extLst>
              <a:ext uri="{FF2B5EF4-FFF2-40B4-BE49-F238E27FC236}">
                <a16:creationId xmlns:a16="http://schemas.microsoft.com/office/drawing/2014/main" id="{952EA82C-3D8E-F402-9300-86DCF793DC7E}"/>
              </a:ext>
            </a:extLst>
          </p:cNvPr>
          <p:cNvSpPr txBox="1"/>
          <p:nvPr/>
        </p:nvSpPr>
        <p:spPr>
          <a:xfrm>
            <a:off x="3090333" y="359833"/>
            <a:ext cx="8741833" cy="61247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latin typeface="Roboto"/>
                <a:ea typeface="Roboto"/>
                <a:cs typeface="Roboto"/>
              </a:rPr>
              <a:t>Post Close </a:t>
            </a:r>
            <a:endParaRPr lang="en-US"/>
          </a:p>
          <a:p>
            <a:r>
              <a:rPr lang="en-US" sz="1200" dirty="0">
                <a:latin typeface="Roboto"/>
                <a:ea typeface="Roboto"/>
                <a:cs typeface="Roboto"/>
              </a:rPr>
              <a:t>Perfect—I’ve received your signature on my end. I’m going to go ahead and submit your application to the insurance carrier now. </a:t>
            </a:r>
            <a:br>
              <a:rPr lang="en-US" sz="1200" dirty="0">
                <a:latin typeface="Roboto"/>
                <a:ea typeface="Roboto"/>
                <a:cs typeface="Roboto"/>
              </a:rPr>
            </a:br>
            <a:r>
              <a:rPr lang="en-US" sz="1200" dirty="0">
                <a:latin typeface="Roboto"/>
                <a:ea typeface="Roboto"/>
                <a:cs typeface="Roboto"/>
              </a:rPr>
              <a:t>✔ ( If it goes through ) </a:t>
            </a:r>
            <a:endParaRPr lang="en-US" dirty="0"/>
          </a:p>
          <a:p>
            <a:r>
              <a:rPr lang="en-US" sz="1200" dirty="0">
                <a:latin typeface="Roboto"/>
                <a:ea typeface="Roboto"/>
                <a:cs typeface="Roboto"/>
              </a:rPr>
              <a:t>Congratulations [Customer Name], your application is complete. Do you have a pen and paper? Our customer service number is 855-736-1590, available Monday through Friday, 9:00 a.m. to 9:00 p.m. Eastern. I’ll also provide you with my direct extension for future reference.</a:t>
            </a:r>
            <a:endParaRPr lang="en-US" dirty="0"/>
          </a:p>
          <a:p>
            <a:r>
              <a:rPr lang="en-US" sz="1200" dirty="0">
                <a:latin typeface="Roboto"/>
                <a:ea typeface="Roboto"/>
                <a:cs typeface="Roboto"/>
              </a:rPr>
              <a:t>Your confirmation number is CHA561337—please keep that for your records. If anyone calls claiming to be from our agency and can’t provide that number, they’re not affiliated with us.</a:t>
            </a:r>
            <a:endParaRPr lang="en-US" dirty="0"/>
          </a:p>
          <a:p>
            <a:r>
              <a:rPr lang="en-US" sz="1200">
                <a:latin typeface="Roboto"/>
                <a:ea typeface="Roboto"/>
                <a:cs typeface="Roboto"/>
              </a:rPr>
              <a:t>Now go ahead and write down </a:t>
            </a:r>
            <a:r>
              <a:rPr lang="en-US" sz="1200">
                <a:solidFill>
                  <a:srgbClr val="6AA84F"/>
                </a:solidFill>
                <a:latin typeface="Roboto"/>
                <a:ea typeface="Roboto"/>
                <a:cs typeface="Roboto"/>
              </a:rPr>
              <a:t>FIRST HEALTH NETWORK.</a:t>
            </a:r>
            <a:endParaRPr lang="en-US"/>
          </a:p>
          <a:p>
            <a:r>
              <a:rPr lang="en-US" sz="1200">
                <a:latin typeface="Roboto"/>
                <a:ea typeface="Roboto"/>
                <a:cs typeface="Roboto"/>
              </a:rPr>
              <a:t>The website you can visit to search providers is: </a:t>
            </a:r>
            <a:r>
              <a:rPr lang="en-US" sz="1200">
                <a:solidFill>
                  <a:srgbClr val="6AA84F"/>
                </a:solidFill>
                <a:latin typeface="Roboto"/>
                <a:ea typeface="Roboto"/>
                <a:cs typeface="Roboto"/>
              </a:rPr>
              <a:t>providerlocator.firsthealth.com</a:t>
            </a:r>
            <a:endParaRPr lang="en-US"/>
          </a:p>
          <a:p>
            <a:r>
              <a:rPr lang="en-US" sz="1200" dirty="0">
                <a:latin typeface="Roboto"/>
                <a:ea typeface="Roboto"/>
                <a:cs typeface="Roboto"/>
              </a:rPr>
              <a:t>With today’s payment, your policy will become effective on _______. Your second payment will then be due 30 days from that effective date.</a:t>
            </a:r>
            <a:r>
              <a:rPr lang="en-US" sz="1200" i="1" dirty="0">
                <a:solidFill>
                  <a:srgbClr val="FF9900"/>
                </a:solidFill>
                <a:latin typeface="Roboto"/>
                <a:ea typeface="Roboto"/>
                <a:cs typeface="Roboto"/>
              </a:rPr>
              <a:t> ( If it’s a postdate, make sure you state the dates correctly for the first billing date and the effective date )</a:t>
            </a:r>
            <a:endParaRPr lang="en-US" dirty="0"/>
          </a:p>
          <a:p>
            <a:r>
              <a:rPr lang="en-US" sz="1200" dirty="0">
                <a:latin typeface="Roboto"/>
                <a:ea typeface="Roboto"/>
                <a:cs typeface="Roboto"/>
              </a:rPr>
              <a:t>You’ll receive two ID cards by mail about 7 to 10 business days after your effective date. One is a discount card for prescriptions and other added benefits like dental and vision. The second card is your actual insurance ID card and will clearly show </a:t>
            </a:r>
            <a:r>
              <a:rPr lang="en-US" sz="1200" dirty="0">
                <a:solidFill>
                  <a:srgbClr val="6AA84F"/>
                </a:solidFill>
                <a:latin typeface="Roboto"/>
                <a:ea typeface="Roboto"/>
                <a:cs typeface="Roboto"/>
              </a:rPr>
              <a:t>FIRST HEALTH NETWORK. </a:t>
            </a:r>
            <a:endParaRPr lang="en-US" dirty="0"/>
          </a:p>
          <a:p>
            <a:r>
              <a:rPr lang="en-US" sz="1200" dirty="0">
                <a:latin typeface="Roboto"/>
                <a:ea typeface="Roboto"/>
                <a:cs typeface="Roboto"/>
              </a:rPr>
              <a:t>Just for your records, I want to quickly recap the main details you’ll see in your paperwork. Your plan uses the </a:t>
            </a:r>
            <a:r>
              <a:rPr lang="en-US" sz="1200" i="1" dirty="0" err="1">
                <a:solidFill>
                  <a:srgbClr val="6AA84F"/>
                </a:solidFill>
                <a:latin typeface="Roboto"/>
                <a:ea typeface="Roboto"/>
                <a:cs typeface="Roboto"/>
              </a:rPr>
              <a:t>FirstHealth</a:t>
            </a:r>
            <a:r>
              <a:rPr lang="en-US" sz="1200" i="1" dirty="0">
                <a:solidFill>
                  <a:srgbClr val="6AA84F"/>
                </a:solidFill>
                <a:latin typeface="Roboto"/>
                <a:ea typeface="Roboto"/>
                <a:cs typeface="Roboto"/>
              </a:rPr>
              <a:t> Network</a:t>
            </a:r>
            <a:r>
              <a:rPr lang="en-US" sz="1200" i="1" dirty="0">
                <a:solidFill>
                  <a:srgbClr val="FF0000"/>
                </a:solidFill>
                <a:latin typeface="Roboto"/>
                <a:ea typeface="Roboto"/>
                <a:cs typeface="Roboto"/>
              </a:rPr>
              <a:t> </a:t>
            </a:r>
            <a:r>
              <a:rPr lang="en-US" sz="1200" dirty="0">
                <a:latin typeface="Roboto"/>
                <a:ea typeface="Roboto"/>
                <a:cs typeface="Roboto"/>
              </a:rPr>
              <a:t>for doctors and hospitals. </a:t>
            </a:r>
            <a:endParaRPr lang="en-US" dirty="0"/>
          </a:p>
          <a:p>
            <a:r>
              <a:rPr lang="en-US" sz="1200">
                <a:latin typeface="Roboto"/>
                <a:ea typeface="Roboto"/>
                <a:cs typeface="Roboto"/>
              </a:rPr>
              <a:t>The Plan Administrator / Claims Administrator: </a:t>
            </a:r>
            <a:r>
              <a:rPr lang="en-US" sz="1200">
                <a:solidFill>
                  <a:srgbClr val="CC0000"/>
                </a:solidFill>
                <a:latin typeface="Roboto"/>
                <a:ea typeface="Roboto"/>
                <a:cs typeface="Roboto"/>
              </a:rPr>
              <a:t>Merchants Benefit Administration (MBA) </a:t>
            </a:r>
            <a:endParaRPr lang="en-US"/>
          </a:p>
          <a:p>
            <a:r>
              <a:rPr lang="en-US" sz="1200" dirty="0">
                <a:latin typeface="Roboto"/>
                <a:ea typeface="Roboto"/>
                <a:cs typeface="Roboto"/>
              </a:rPr>
              <a:t>Your monthly billing is handled through </a:t>
            </a:r>
            <a:r>
              <a:rPr lang="en-US" sz="1200" dirty="0" err="1">
                <a:latin typeface="Roboto"/>
                <a:ea typeface="Roboto"/>
                <a:cs typeface="Roboto"/>
              </a:rPr>
              <a:t>FirstEnroll</a:t>
            </a:r>
            <a:r>
              <a:rPr lang="en-US" sz="1200" dirty="0">
                <a:latin typeface="Roboto"/>
                <a:ea typeface="Roboto"/>
                <a:cs typeface="Roboto"/>
              </a:rPr>
              <a:t>, which is the name you’ll see on your statements. All of this will be clearly outlined in your policy documents. </a:t>
            </a:r>
            <a:endParaRPr lang="en-US" dirty="0"/>
          </a:p>
          <a:p>
            <a:r>
              <a:rPr lang="en-US" sz="1200">
                <a:latin typeface="Roboto"/>
                <a:ea typeface="Roboto"/>
                <a:cs typeface="Roboto"/>
              </a:rPr>
              <a:t>I do want to clarify that this is a private, limited-benefit plan, not an ACA or major medical plan, and it does not provide coverage for maternity, substance abuse, or psychiatric services.</a:t>
            </a:r>
            <a:endParaRPr lang="en-US"/>
          </a:p>
          <a:p>
            <a:r>
              <a:rPr lang="en-US" sz="1200" dirty="0">
                <a:latin typeface="Roboto"/>
                <a:ea typeface="Roboto"/>
                <a:cs typeface="Roboto"/>
              </a:rPr>
              <a:t>- I also want to explain the 12 and 12 pre-existing condition clause, which states anything diagnosed in the last 12 months would have a 12-month waiting period. There is a standard 30-day waiting period for any </a:t>
            </a:r>
            <a:r>
              <a:rPr lang="en-US" sz="1200" dirty="0" err="1">
                <a:latin typeface="Roboto"/>
                <a:ea typeface="Roboto"/>
                <a:cs typeface="Roboto"/>
              </a:rPr>
              <a:t>hospital,sickness</a:t>
            </a:r>
            <a:r>
              <a:rPr lang="en-US" sz="1200" dirty="0">
                <a:latin typeface="Roboto"/>
                <a:ea typeface="Roboto"/>
                <a:cs typeface="Roboto"/>
              </a:rPr>
              <a:t> and scheduled doctor visits.</a:t>
            </a:r>
            <a:endParaRPr lang="en-US" dirty="0"/>
          </a:p>
          <a:p>
            <a:r>
              <a:rPr lang="en-US" sz="1200" dirty="0">
                <a:latin typeface="Roboto"/>
                <a:ea typeface="Roboto"/>
                <a:cs typeface="Roboto"/>
              </a:rPr>
              <a:t>If you have any friends or family members that need quality coverage, please give them my information, it would be greatly appreciated. We will find them the right plan just as we did for you. </a:t>
            </a:r>
            <a:endParaRPr lang="en-US" dirty="0"/>
          </a:p>
          <a:p>
            <a:r>
              <a:rPr lang="en-US" sz="1200" dirty="0">
                <a:latin typeface="Roboto"/>
                <a:ea typeface="Roboto"/>
                <a:cs typeface="Roboto"/>
              </a:rPr>
              <a:t>Alright [Customer Name], you've been an absolute pleasure. Now do you have any questions before we disconnect?</a:t>
            </a:r>
            <a:endParaRPr lang="en-US" dirty="0"/>
          </a:p>
          <a:p>
            <a:br>
              <a:rPr lang="en-US" dirty="0"/>
            </a:br>
            <a:endParaRPr lang="en-US" dirty="0"/>
          </a:p>
        </p:txBody>
      </p:sp>
    </p:spTree>
    <p:extLst>
      <p:ext uri="{BB962C8B-B14F-4D97-AF65-F5344CB8AC3E}">
        <p14:creationId xmlns:p14="http://schemas.microsoft.com/office/powerpoint/2010/main" val="10829467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26"/>
          <p:cNvSpPr txBox="1">
            <a:spLocks noGrp="1"/>
          </p:cNvSpPr>
          <p:nvPr>
            <p:ph type="title"/>
          </p:nvPr>
        </p:nvSpPr>
        <p:spPr>
          <a:xfrm>
            <a:off x="361950" y="209550"/>
            <a:ext cx="10515600" cy="68103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Sales Tactics - ARC</a:t>
            </a:r>
            <a:endParaRPr/>
          </a:p>
        </p:txBody>
      </p:sp>
      <p:sp>
        <p:nvSpPr>
          <p:cNvPr id="407" name="Google Shape;407;p26"/>
          <p:cNvSpPr txBox="1">
            <a:spLocks noGrp="1"/>
          </p:cNvSpPr>
          <p:nvPr>
            <p:ph type="body" idx="1"/>
          </p:nvPr>
        </p:nvSpPr>
        <p:spPr>
          <a:xfrm>
            <a:off x="552450" y="890588"/>
            <a:ext cx="10515600" cy="5491162"/>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ct val="100000"/>
              <a:buChar char="•"/>
            </a:pPr>
            <a:r>
              <a:rPr lang="en-US"/>
              <a:t>ARC is a sales technique used to redirect a conversation back into your control.</a:t>
            </a:r>
            <a:endParaRPr/>
          </a:p>
          <a:p>
            <a:pPr marL="228600" lvl="0" indent="-228600" algn="l" rtl="0">
              <a:lnSpc>
                <a:spcPct val="90000"/>
              </a:lnSpc>
              <a:spcBef>
                <a:spcPts val="1000"/>
              </a:spcBef>
              <a:spcAft>
                <a:spcPts val="0"/>
              </a:spcAft>
              <a:buClr>
                <a:srgbClr val="FF0000"/>
              </a:buClr>
              <a:buSzPct val="100000"/>
              <a:buChar char="•"/>
            </a:pPr>
            <a:r>
              <a:rPr lang="en-US">
                <a:solidFill>
                  <a:srgbClr val="FF0000"/>
                </a:solidFill>
              </a:rPr>
              <a:t>A – Acknowledge: </a:t>
            </a:r>
            <a:r>
              <a:rPr lang="en-US"/>
              <a:t>Acknowledge what they said so it seems like you care about them</a:t>
            </a:r>
            <a:endParaRPr/>
          </a:p>
          <a:p>
            <a:pPr marL="228600" lvl="0" indent="-228600" algn="l" rtl="0">
              <a:lnSpc>
                <a:spcPct val="90000"/>
              </a:lnSpc>
              <a:spcBef>
                <a:spcPts val="1000"/>
              </a:spcBef>
              <a:spcAft>
                <a:spcPts val="0"/>
              </a:spcAft>
              <a:buClr>
                <a:srgbClr val="FF0000"/>
              </a:buClr>
              <a:buSzPct val="100000"/>
              <a:buChar char="•"/>
            </a:pPr>
            <a:r>
              <a:rPr lang="en-US">
                <a:solidFill>
                  <a:srgbClr val="FF0000"/>
                </a:solidFill>
              </a:rPr>
              <a:t>R – Respond: </a:t>
            </a:r>
            <a:r>
              <a:rPr lang="en-US"/>
              <a:t>Respond in a relevant manner to redirecting back to pitch</a:t>
            </a:r>
            <a:endParaRPr/>
          </a:p>
          <a:p>
            <a:pPr marL="228600" lvl="0" indent="-228600" algn="l" rtl="0">
              <a:lnSpc>
                <a:spcPct val="90000"/>
              </a:lnSpc>
              <a:spcBef>
                <a:spcPts val="1000"/>
              </a:spcBef>
              <a:spcAft>
                <a:spcPts val="0"/>
              </a:spcAft>
              <a:buClr>
                <a:srgbClr val="FF0000"/>
              </a:buClr>
              <a:buSzPct val="100000"/>
              <a:buChar char="•"/>
            </a:pPr>
            <a:r>
              <a:rPr lang="en-US">
                <a:solidFill>
                  <a:srgbClr val="FF0000"/>
                </a:solidFill>
              </a:rPr>
              <a:t>C – Continue: </a:t>
            </a:r>
            <a:r>
              <a:rPr lang="en-US"/>
              <a:t>Ask the next question, repeat current question, or continue in script.</a:t>
            </a:r>
            <a:endParaRPr/>
          </a:p>
          <a:p>
            <a:pPr marL="0" lvl="0" indent="0" algn="l" rtl="0">
              <a:lnSpc>
                <a:spcPct val="90000"/>
              </a:lnSpc>
              <a:spcBef>
                <a:spcPts val="1000"/>
              </a:spcBef>
              <a:spcAft>
                <a:spcPts val="0"/>
              </a:spcAft>
              <a:buClr>
                <a:schemeClr val="dk1"/>
              </a:buClr>
              <a:buSzPct val="100000"/>
              <a:buNone/>
            </a:pPr>
            <a:r>
              <a:rPr lang="en-US"/>
              <a:t>Examples:</a:t>
            </a:r>
            <a:endParaRPr/>
          </a:p>
          <a:p>
            <a:pPr marL="228600" lvl="0" indent="-228600" algn="l" rtl="0">
              <a:lnSpc>
                <a:spcPct val="90000"/>
              </a:lnSpc>
              <a:spcBef>
                <a:spcPts val="1000"/>
              </a:spcBef>
              <a:spcAft>
                <a:spcPts val="0"/>
              </a:spcAft>
              <a:buClr>
                <a:schemeClr val="dk1"/>
              </a:buClr>
              <a:buSzPct val="100000"/>
              <a:buChar char="•"/>
            </a:pPr>
            <a:r>
              <a:rPr lang="en-US"/>
              <a:t>“That’s a great question Joe, I’m going to go over that with you in just a minute but I need to know a little more about your situation first, what is your date of birth?”</a:t>
            </a:r>
            <a:endParaRPr/>
          </a:p>
          <a:p>
            <a:pPr marL="228600" lvl="0" indent="-228600" algn="l" rtl="0">
              <a:lnSpc>
                <a:spcPct val="90000"/>
              </a:lnSpc>
              <a:spcBef>
                <a:spcPts val="1000"/>
              </a:spcBef>
              <a:spcAft>
                <a:spcPts val="0"/>
              </a:spcAft>
              <a:buClr>
                <a:schemeClr val="dk1"/>
              </a:buClr>
              <a:buSzPct val="100000"/>
              <a:buChar char="•"/>
            </a:pPr>
            <a:r>
              <a:rPr lang="en-US"/>
              <a:t>“I understand Mary, I’ll make sure I explain all of that in a minute, do you have any sort of pre-existing medical conditions or take any prescriptions?”</a:t>
            </a:r>
            <a:endParaRPr/>
          </a:p>
          <a:p>
            <a:pPr marL="228600" lvl="0" indent="-228600" algn="l" rtl="0">
              <a:lnSpc>
                <a:spcPct val="90000"/>
              </a:lnSpc>
              <a:spcBef>
                <a:spcPts val="1000"/>
              </a:spcBef>
              <a:spcAft>
                <a:spcPts val="0"/>
              </a:spcAft>
              <a:buClr>
                <a:schemeClr val="dk1"/>
              </a:buClr>
              <a:buSzPct val="100000"/>
              <a:buChar char="•"/>
            </a:pPr>
            <a:r>
              <a:rPr lang="en-US"/>
              <a:t>“Thanks for sharing that with me, I think I can help you, What is your zip code?”</a:t>
            </a:r>
            <a:endParaRPr/>
          </a:p>
          <a:p>
            <a:pPr marL="228600" lvl="0" indent="-228600" algn="l" rtl="0">
              <a:lnSpc>
                <a:spcPct val="90000"/>
              </a:lnSpc>
              <a:spcBef>
                <a:spcPts val="1000"/>
              </a:spcBef>
              <a:spcAft>
                <a:spcPts val="0"/>
              </a:spcAft>
              <a:buClr>
                <a:schemeClr val="dk1"/>
              </a:buClr>
              <a:buSzPct val="100000"/>
              <a:buChar char="•"/>
            </a:pPr>
            <a:r>
              <a:rPr lang="en-US"/>
              <a:t>“We’re going to find out how much it costs in just a minute I just have a couple more quick questions so we can get an accurate quote”</a:t>
            </a:r>
            <a:endParaRPr/>
          </a:p>
          <a:p>
            <a:pPr marL="228600" lvl="0" indent="-77470" algn="l" rtl="0">
              <a:lnSpc>
                <a:spcPct val="90000"/>
              </a:lnSpc>
              <a:spcBef>
                <a:spcPts val="1000"/>
              </a:spcBef>
              <a:spcAft>
                <a:spcPts val="0"/>
              </a:spcAft>
              <a:buClr>
                <a:schemeClr val="dk1"/>
              </a:buClr>
              <a:buSzPct val="100000"/>
              <a:buNone/>
            </a:pPr>
            <a:endParaRPr/>
          </a:p>
        </p:txBody>
      </p:sp>
    </p:spTree>
    <p:extLst>
      <p:ext uri="{BB962C8B-B14F-4D97-AF65-F5344CB8AC3E}">
        <p14:creationId xmlns:p14="http://schemas.microsoft.com/office/powerpoint/2010/main" val="30178887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Sales Tactics - MISC</a:t>
            </a:r>
            <a:endParaRPr/>
          </a:p>
        </p:txBody>
      </p:sp>
      <p:sp>
        <p:nvSpPr>
          <p:cNvPr id="413" name="Google Shape;413;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ct val="100000"/>
              <a:buChar char="•"/>
            </a:pPr>
            <a:r>
              <a:rPr lang="en-US"/>
              <a:t>Stop OVERTALKING – less is more</a:t>
            </a:r>
            <a:endParaRPr/>
          </a:p>
          <a:p>
            <a:pPr marL="228600" lvl="0" indent="-228600" algn="l" rtl="0">
              <a:lnSpc>
                <a:spcPct val="90000"/>
              </a:lnSpc>
              <a:spcBef>
                <a:spcPts val="1000"/>
              </a:spcBef>
              <a:spcAft>
                <a:spcPts val="0"/>
              </a:spcAft>
              <a:buClr>
                <a:schemeClr val="dk1"/>
              </a:buClr>
              <a:buSzPct val="100000"/>
              <a:buChar char="•"/>
            </a:pPr>
            <a:r>
              <a:rPr lang="en-US"/>
              <a:t>Don’t say words like basically or actually</a:t>
            </a:r>
            <a:endParaRPr/>
          </a:p>
          <a:p>
            <a:pPr marL="228600" lvl="0" indent="-228600" algn="l" rtl="0">
              <a:lnSpc>
                <a:spcPct val="90000"/>
              </a:lnSpc>
              <a:spcBef>
                <a:spcPts val="1000"/>
              </a:spcBef>
              <a:spcAft>
                <a:spcPts val="0"/>
              </a:spcAft>
              <a:buClr>
                <a:schemeClr val="dk1"/>
              </a:buClr>
              <a:buSzPct val="100000"/>
              <a:buChar char="•"/>
            </a:pPr>
            <a:r>
              <a:rPr lang="en-US"/>
              <a:t>Don’t say things like honestly, I’m going to be honest with you</a:t>
            </a:r>
            <a:endParaRPr/>
          </a:p>
          <a:p>
            <a:pPr marL="228600" lvl="0" indent="-228600" algn="l" rtl="0">
              <a:lnSpc>
                <a:spcPct val="90000"/>
              </a:lnSpc>
              <a:spcBef>
                <a:spcPts val="1000"/>
              </a:spcBef>
              <a:spcAft>
                <a:spcPts val="0"/>
              </a:spcAft>
              <a:buClr>
                <a:schemeClr val="dk1"/>
              </a:buClr>
              <a:buSzPct val="100000"/>
              <a:buChar char="•"/>
            </a:pPr>
            <a:r>
              <a:rPr lang="en-US"/>
              <a:t>Don’t say UM OR UH – it makes you sound like you don’t know what you’re talking about</a:t>
            </a:r>
            <a:endParaRPr/>
          </a:p>
          <a:p>
            <a:pPr marL="228600" lvl="0" indent="-228600" algn="l" rtl="0">
              <a:lnSpc>
                <a:spcPct val="90000"/>
              </a:lnSpc>
              <a:spcBef>
                <a:spcPts val="1000"/>
              </a:spcBef>
              <a:spcAft>
                <a:spcPts val="0"/>
              </a:spcAft>
              <a:buClr>
                <a:schemeClr val="dk1"/>
              </a:buClr>
              <a:buSzPct val="100000"/>
              <a:buChar char="•"/>
            </a:pPr>
            <a:r>
              <a:rPr lang="en-US"/>
              <a:t>I’ll say it again DO NOT ADD THINGS TO THE SCRIPT THAT YOU THINK SOUND GOOD, IT DOESN’T AND ITS KILLING YOUR SALES</a:t>
            </a:r>
            <a:endParaRPr/>
          </a:p>
          <a:p>
            <a:pPr marL="228600" lvl="0" indent="-228600" algn="l" rtl="0">
              <a:lnSpc>
                <a:spcPct val="90000"/>
              </a:lnSpc>
              <a:spcBef>
                <a:spcPts val="1000"/>
              </a:spcBef>
              <a:spcAft>
                <a:spcPts val="0"/>
              </a:spcAft>
              <a:buClr>
                <a:schemeClr val="dk1"/>
              </a:buClr>
              <a:buSzPct val="100000"/>
              <a:buChar char="•"/>
            </a:pPr>
            <a:r>
              <a:rPr lang="en-US"/>
              <a:t>If you just read the script word for word without adding anything or skipping anything this will make it SO EASY for you.</a:t>
            </a:r>
            <a:endParaRPr/>
          </a:p>
          <a:p>
            <a:pPr marL="228600" lvl="0" indent="-228600" algn="l" rtl="0">
              <a:lnSpc>
                <a:spcPct val="90000"/>
              </a:lnSpc>
              <a:spcBef>
                <a:spcPts val="1000"/>
              </a:spcBef>
              <a:spcAft>
                <a:spcPts val="0"/>
              </a:spcAft>
              <a:buClr>
                <a:schemeClr val="dk1"/>
              </a:buClr>
              <a:buSzPct val="100000"/>
              <a:buChar char="•"/>
            </a:pPr>
            <a:r>
              <a:rPr lang="en-US"/>
              <a:t>When you are doing the application flip to the rebuttals section and BE READY for objections</a:t>
            </a:r>
            <a:endParaRPr/>
          </a:p>
          <a:p>
            <a:pPr marL="228600" lvl="0" indent="-228600" algn="l" rtl="0">
              <a:lnSpc>
                <a:spcPct val="90000"/>
              </a:lnSpc>
              <a:spcBef>
                <a:spcPts val="1000"/>
              </a:spcBef>
              <a:spcAft>
                <a:spcPts val="0"/>
              </a:spcAft>
              <a:buClr>
                <a:schemeClr val="dk1"/>
              </a:buClr>
              <a:buSzPct val="100000"/>
              <a:buChar char="•"/>
            </a:pPr>
            <a:r>
              <a:rPr lang="en-US"/>
              <a:t>There are ONLY 2 reasons why someone doesn’t buy, NO MATTER WHAT THE OBJECTION IS. Money or Legitimacy </a:t>
            </a:r>
            <a:endParaRPr/>
          </a:p>
        </p:txBody>
      </p:sp>
    </p:spTree>
    <p:extLst>
      <p:ext uri="{BB962C8B-B14F-4D97-AF65-F5344CB8AC3E}">
        <p14:creationId xmlns:p14="http://schemas.microsoft.com/office/powerpoint/2010/main" val="583605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7"/>
        <p:cNvGrpSpPr/>
        <p:nvPr/>
      </p:nvGrpSpPr>
      <p:grpSpPr>
        <a:xfrm>
          <a:off x="0" y="0"/>
          <a:ext cx="0" cy="0"/>
          <a:chOff x="0" y="0"/>
          <a:chExt cx="0" cy="0"/>
        </a:xfrm>
      </p:grpSpPr>
      <p:sp>
        <p:nvSpPr>
          <p:cNvPr id="418" name="Google Shape;418;p28"/>
          <p:cNvSpPr/>
          <p:nvPr/>
        </p:nvSpPr>
        <p:spPr>
          <a:xfrm>
            <a:off x="336884" y="311449"/>
            <a:ext cx="4332307" cy="6179552"/>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9" name="Google Shape;419;p28"/>
          <p:cNvSpPr txBox="1">
            <a:spLocks noGrp="1"/>
          </p:cNvSpPr>
          <p:nvPr>
            <p:ph type="title"/>
          </p:nvPr>
        </p:nvSpPr>
        <p:spPr>
          <a:xfrm>
            <a:off x="742950" y="742951"/>
            <a:ext cx="3476625" cy="496252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800"/>
              <a:buFont typeface="Calibri"/>
              <a:buNone/>
            </a:pPr>
            <a:r>
              <a:rPr lang="en-US" sz="4800">
                <a:solidFill>
                  <a:srgbClr val="FFFFFF"/>
                </a:solidFill>
                <a:latin typeface="Calibri"/>
                <a:ea typeface="Calibri"/>
                <a:cs typeface="Calibri"/>
                <a:sym typeface="Calibri"/>
              </a:rPr>
              <a:t>Objections and Rebuttals:</a:t>
            </a:r>
            <a:endParaRPr/>
          </a:p>
        </p:txBody>
      </p:sp>
      <p:pic>
        <p:nvPicPr>
          <p:cNvPr id="420" name="Google Shape;420;p28"/>
          <p:cNvPicPr preferRelativeResize="0"/>
          <p:nvPr/>
        </p:nvPicPr>
        <p:blipFill rotWithShape="1">
          <a:blip r:embed="rId3">
            <a:alphaModFix/>
          </a:blip>
          <a:srcRect/>
          <a:stretch/>
        </p:blipFill>
        <p:spPr>
          <a:xfrm>
            <a:off x="5153822" y="1114655"/>
            <a:ext cx="6553545" cy="4636632"/>
          </a:xfrm>
          <a:prstGeom prst="rect">
            <a:avLst/>
          </a:prstGeom>
          <a:noFill/>
          <a:ln>
            <a:noFill/>
          </a:ln>
        </p:spPr>
      </p:pic>
    </p:spTree>
    <p:extLst>
      <p:ext uri="{BB962C8B-B14F-4D97-AF65-F5344CB8AC3E}">
        <p14:creationId xmlns:p14="http://schemas.microsoft.com/office/powerpoint/2010/main" val="693729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4"/>
        <p:cNvGrpSpPr/>
        <p:nvPr/>
      </p:nvGrpSpPr>
      <p:grpSpPr>
        <a:xfrm>
          <a:off x="0" y="0"/>
          <a:ext cx="0" cy="0"/>
          <a:chOff x="0" y="0"/>
          <a:chExt cx="0" cy="0"/>
        </a:xfrm>
      </p:grpSpPr>
      <p:sp>
        <p:nvSpPr>
          <p:cNvPr id="425" name="Google Shape;425;p29"/>
          <p:cNvSpPr/>
          <p:nvPr/>
        </p:nvSpPr>
        <p:spPr>
          <a:xfrm>
            <a:off x="638175" y="0"/>
            <a:ext cx="3248025" cy="3400426"/>
          </a:xfrm>
          <a:prstGeom prst="flowChartDocument">
            <a:avLst/>
          </a:prstGeom>
          <a:solidFill>
            <a:srgbClr val="706C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6" name="Google Shape;426;p29"/>
          <p:cNvSpPr txBox="1">
            <a:spLocks noGrp="1"/>
          </p:cNvSpPr>
          <p:nvPr>
            <p:ph type="title"/>
          </p:nvPr>
        </p:nvSpPr>
        <p:spPr>
          <a:xfrm>
            <a:off x="838200" y="171162"/>
            <a:ext cx="2840182" cy="237114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200"/>
              <a:buFont typeface="Calibri"/>
              <a:buNone/>
            </a:pPr>
            <a:r>
              <a:rPr lang="en-US" sz="3200">
                <a:solidFill>
                  <a:srgbClr val="FFFFFF"/>
                </a:solidFill>
                <a:latin typeface="Calibri"/>
                <a:ea typeface="Calibri"/>
                <a:cs typeface="Calibri"/>
                <a:sym typeface="Calibri"/>
              </a:rPr>
              <a:t>Objections and Rebuttals Continued:</a:t>
            </a:r>
            <a:endParaRPr/>
          </a:p>
        </p:txBody>
      </p:sp>
      <p:pic>
        <p:nvPicPr>
          <p:cNvPr id="427" name="Google Shape;427;p29"/>
          <p:cNvPicPr preferRelativeResize="0"/>
          <p:nvPr/>
        </p:nvPicPr>
        <p:blipFill rotWithShape="1">
          <a:blip r:embed="rId3">
            <a:alphaModFix/>
          </a:blip>
          <a:srcRect/>
          <a:stretch/>
        </p:blipFill>
        <p:spPr>
          <a:xfrm>
            <a:off x="4275138" y="681038"/>
            <a:ext cx="7212013" cy="2268538"/>
          </a:xfrm>
          <a:prstGeom prst="rect">
            <a:avLst/>
          </a:prstGeom>
          <a:noFill/>
          <a:ln>
            <a:noFill/>
          </a:ln>
        </p:spPr>
      </p:pic>
      <p:pic>
        <p:nvPicPr>
          <p:cNvPr id="428" name="Google Shape;428;p29"/>
          <p:cNvPicPr preferRelativeResize="0"/>
          <p:nvPr/>
        </p:nvPicPr>
        <p:blipFill rotWithShape="1">
          <a:blip r:embed="rId4">
            <a:alphaModFix/>
          </a:blip>
          <a:srcRect/>
          <a:stretch/>
        </p:blipFill>
        <p:spPr>
          <a:xfrm>
            <a:off x="4275138" y="3032125"/>
            <a:ext cx="7212013" cy="3144838"/>
          </a:xfrm>
          <a:prstGeom prst="rect">
            <a:avLst/>
          </a:prstGeom>
          <a:noFill/>
          <a:ln>
            <a:noFill/>
          </a:ln>
        </p:spPr>
      </p:pic>
    </p:spTree>
    <p:extLst>
      <p:ext uri="{BB962C8B-B14F-4D97-AF65-F5344CB8AC3E}">
        <p14:creationId xmlns:p14="http://schemas.microsoft.com/office/powerpoint/2010/main" val="216067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2"/>
        <p:cNvGrpSpPr/>
        <p:nvPr/>
      </p:nvGrpSpPr>
      <p:grpSpPr>
        <a:xfrm>
          <a:off x="0" y="0"/>
          <a:ext cx="0" cy="0"/>
          <a:chOff x="0" y="0"/>
          <a:chExt cx="0" cy="0"/>
        </a:xfrm>
      </p:grpSpPr>
      <p:sp>
        <p:nvSpPr>
          <p:cNvPr id="433" name="Google Shape;433;p30"/>
          <p:cNvSpPr/>
          <p:nvPr/>
        </p:nvSpPr>
        <p:spPr>
          <a:xfrm>
            <a:off x="336884" y="311449"/>
            <a:ext cx="4332307" cy="6179552"/>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4" name="Google Shape;434;p30"/>
          <p:cNvSpPr txBox="1">
            <a:spLocks noGrp="1"/>
          </p:cNvSpPr>
          <p:nvPr>
            <p:ph type="title"/>
          </p:nvPr>
        </p:nvSpPr>
        <p:spPr>
          <a:xfrm>
            <a:off x="742950" y="742951"/>
            <a:ext cx="3476625" cy="496252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800"/>
              <a:buFont typeface="Calibri"/>
              <a:buNone/>
            </a:pPr>
            <a:r>
              <a:rPr lang="en-US" sz="4800">
                <a:solidFill>
                  <a:srgbClr val="FFFFFF"/>
                </a:solidFill>
                <a:latin typeface="Calibri"/>
                <a:ea typeface="Calibri"/>
                <a:cs typeface="Calibri"/>
                <a:sym typeface="Calibri"/>
              </a:rPr>
              <a:t>Objections and Rebuttals Continued:</a:t>
            </a:r>
            <a:endParaRPr/>
          </a:p>
        </p:txBody>
      </p:sp>
      <p:pic>
        <p:nvPicPr>
          <p:cNvPr id="435" name="Google Shape;435;p30"/>
          <p:cNvPicPr preferRelativeResize="0"/>
          <p:nvPr/>
        </p:nvPicPr>
        <p:blipFill rotWithShape="1">
          <a:blip r:embed="rId3">
            <a:alphaModFix/>
          </a:blip>
          <a:srcRect/>
          <a:stretch/>
        </p:blipFill>
        <p:spPr>
          <a:xfrm>
            <a:off x="4942388" y="1600200"/>
            <a:ext cx="6912728" cy="2868782"/>
          </a:xfrm>
          <a:prstGeom prst="rect">
            <a:avLst/>
          </a:prstGeom>
          <a:noFill/>
          <a:ln>
            <a:noFill/>
          </a:ln>
        </p:spPr>
      </p:pic>
    </p:spTree>
    <p:extLst>
      <p:ext uri="{BB962C8B-B14F-4D97-AF65-F5344CB8AC3E}">
        <p14:creationId xmlns:p14="http://schemas.microsoft.com/office/powerpoint/2010/main" val="4088030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9"/>
        <p:cNvGrpSpPr/>
        <p:nvPr/>
      </p:nvGrpSpPr>
      <p:grpSpPr>
        <a:xfrm>
          <a:off x="0" y="0"/>
          <a:ext cx="0" cy="0"/>
          <a:chOff x="0" y="0"/>
          <a:chExt cx="0" cy="0"/>
        </a:xfrm>
      </p:grpSpPr>
      <p:sp>
        <p:nvSpPr>
          <p:cNvPr id="440" name="Google Shape;440;p31"/>
          <p:cNvSpPr/>
          <p:nvPr/>
        </p:nvSpPr>
        <p:spPr>
          <a:xfrm rot="-5400000">
            <a:off x="1288521" y="381403"/>
            <a:ext cx="2200313" cy="3342508"/>
          </a:xfrm>
          <a:prstGeom prst="downArrow">
            <a:avLst>
              <a:gd name="adj1" fmla="val 100000"/>
              <a:gd name="adj2" fmla="val 15788"/>
            </a:avLst>
          </a:pr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41" name="Google Shape;441;p31"/>
          <p:cNvSpPr txBox="1">
            <a:spLocks noGrp="1"/>
          </p:cNvSpPr>
          <p:nvPr>
            <p:ph type="title"/>
          </p:nvPr>
        </p:nvSpPr>
        <p:spPr>
          <a:xfrm>
            <a:off x="966952" y="1204108"/>
            <a:ext cx="2669406" cy="1781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200"/>
              <a:buFont typeface="Calibri"/>
              <a:buNone/>
            </a:pPr>
            <a:r>
              <a:rPr lang="en-US" sz="3200">
                <a:solidFill>
                  <a:srgbClr val="FFFFFF"/>
                </a:solidFill>
              </a:rPr>
              <a:t>Objections and Rebuttals Continued:</a:t>
            </a:r>
            <a:endParaRPr/>
          </a:p>
        </p:txBody>
      </p:sp>
      <p:pic>
        <p:nvPicPr>
          <p:cNvPr id="442" name="Google Shape;442;p31"/>
          <p:cNvPicPr preferRelativeResize="0"/>
          <p:nvPr/>
        </p:nvPicPr>
        <p:blipFill rotWithShape="1">
          <a:blip r:embed="rId3">
            <a:alphaModFix/>
          </a:blip>
          <a:srcRect/>
          <a:stretch/>
        </p:blipFill>
        <p:spPr>
          <a:xfrm>
            <a:off x="4740275" y="993775"/>
            <a:ext cx="6750050" cy="2654300"/>
          </a:xfrm>
          <a:prstGeom prst="rect">
            <a:avLst/>
          </a:prstGeom>
          <a:noFill/>
          <a:ln>
            <a:noFill/>
          </a:ln>
        </p:spPr>
      </p:pic>
      <p:pic>
        <p:nvPicPr>
          <p:cNvPr id="443" name="Google Shape;443;p31"/>
          <p:cNvPicPr preferRelativeResize="0"/>
          <p:nvPr/>
        </p:nvPicPr>
        <p:blipFill rotWithShape="1">
          <a:blip r:embed="rId4">
            <a:alphaModFix/>
          </a:blip>
          <a:srcRect/>
          <a:stretch/>
        </p:blipFill>
        <p:spPr>
          <a:xfrm>
            <a:off x="4740275" y="3730625"/>
            <a:ext cx="6750050" cy="2009775"/>
          </a:xfrm>
          <a:prstGeom prst="rect">
            <a:avLst/>
          </a:prstGeom>
          <a:noFill/>
          <a:ln>
            <a:noFill/>
          </a:ln>
        </p:spPr>
      </p:pic>
    </p:spTree>
    <p:extLst>
      <p:ext uri="{BB962C8B-B14F-4D97-AF65-F5344CB8AC3E}">
        <p14:creationId xmlns:p14="http://schemas.microsoft.com/office/powerpoint/2010/main" val="42310107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7"/>
        <p:cNvGrpSpPr/>
        <p:nvPr/>
      </p:nvGrpSpPr>
      <p:grpSpPr>
        <a:xfrm>
          <a:off x="0" y="0"/>
          <a:ext cx="0" cy="0"/>
          <a:chOff x="0" y="0"/>
          <a:chExt cx="0" cy="0"/>
        </a:xfrm>
      </p:grpSpPr>
      <p:sp>
        <p:nvSpPr>
          <p:cNvPr id="448" name="Google Shape;448;p32"/>
          <p:cNvSpPr/>
          <p:nvPr/>
        </p:nvSpPr>
        <p:spPr>
          <a:xfrm>
            <a:off x="336884" y="311449"/>
            <a:ext cx="4332307" cy="6179552"/>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9" name="Google Shape;449;p32"/>
          <p:cNvSpPr txBox="1">
            <a:spLocks noGrp="1"/>
          </p:cNvSpPr>
          <p:nvPr>
            <p:ph type="title"/>
          </p:nvPr>
        </p:nvSpPr>
        <p:spPr>
          <a:xfrm>
            <a:off x="742950" y="742951"/>
            <a:ext cx="3476625" cy="496252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800"/>
              <a:buFont typeface="Calibri"/>
              <a:buNone/>
            </a:pPr>
            <a:r>
              <a:rPr lang="en-US" sz="4800">
                <a:solidFill>
                  <a:srgbClr val="FFFFFF"/>
                </a:solidFill>
                <a:latin typeface="Calibri"/>
                <a:ea typeface="Calibri"/>
                <a:cs typeface="Calibri"/>
                <a:sym typeface="Calibri"/>
              </a:rPr>
              <a:t>Objections and Rebuttals Continued:</a:t>
            </a:r>
            <a:endParaRPr/>
          </a:p>
        </p:txBody>
      </p:sp>
      <p:pic>
        <p:nvPicPr>
          <p:cNvPr id="450" name="Google Shape;450;p32"/>
          <p:cNvPicPr preferRelativeResize="0"/>
          <p:nvPr/>
        </p:nvPicPr>
        <p:blipFill rotWithShape="1">
          <a:blip r:embed="rId3">
            <a:alphaModFix/>
          </a:blip>
          <a:srcRect/>
          <a:stretch/>
        </p:blipFill>
        <p:spPr>
          <a:xfrm>
            <a:off x="5153822" y="680482"/>
            <a:ext cx="6553545" cy="5504978"/>
          </a:xfrm>
          <a:prstGeom prst="rect">
            <a:avLst/>
          </a:prstGeom>
          <a:noFill/>
          <a:ln>
            <a:noFill/>
          </a:ln>
        </p:spPr>
      </p:pic>
    </p:spTree>
    <p:extLst>
      <p:ext uri="{BB962C8B-B14F-4D97-AF65-F5344CB8AC3E}">
        <p14:creationId xmlns:p14="http://schemas.microsoft.com/office/powerpoint/2010/main" val="18606398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4"/>
        <p:cNvGrpSpPr/>
        <p:nvPr/>
      </p:nvGrpSpPr>
      <p:grpSpPr>
        <a:xfrm>
          <a:off x="0" y="0"/>
          <a:ext cx="0" cy="0"/>
          <a:chOff x="0" y="0"/>
          <a:chExt cx="0" cy="0"/>
        </a:xfrm>
      </p:grpSpPr>
      <p:sp>
        <p:nvSpPr>
          <p:cNvPr id="455" name="Google Shape;455;p33"/>
          <p:cNvSpPr/>
          <p:nvPr/>
        </p:nvSpPr>
        <p:spPr>
          <a:xfrm rot="-5400000">
            <a:off x="1288521" y="381403"/>
            <a:ext cx="2200313" cy="3342508"/>
          </a:xfrm>
          <a:prstGeom prst="downArrow">
            <a:avLst>
              <a:gd name="adj1" fmla="val 100000"/>
              <a:gd name="adj2" fmla="val 15788"/>
            </a:avLst>
          </a:pr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56" name="Google Shape;456;p33"/>
          <p:cNvSpPr txBox="1">
            <a:spLocks noGrp="1"/>
          </p:cNvSpPr>
          <p:nvPr>
            <p:ph type="title"/>
          </p:nvPr>
        </p:nvSpPr>
        <p:spPr>
          <a:xfrm>
            <a:off x="966952" y="1204108"/>
            <a:ext cx="2669406" cy="1781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200"/>
              <a:buFont typeface="Calibri"/>
              <a:buNone/>
            </a:pPr>
            <a:r>
              <a:rPr lang="en-US" sz="3200">
                <a:solidFill>
                  <a:srgbClr val="FFFFFF"/>
                </a:solidFill>
              </a:rPr>
              <a:t>Objections and Rebuttals Continued:</a:t>
            </a:r>
            <a:endParaRPr/>
          </a:p>
        </p:txBody>
      </p:sp>
      <p:pic>
        <p:nvPicPr>
          <p:cNvPr id="457" name="Google Shape;457;p33"/>
          <p:cNvPicPr preferRelativeResize="0"/>
          <p:nvPr/>
        </p:nvPicPr>
        <p:blipFill rotWithShape="1">
          <a:blip r:embed="rId3">
            <a:alphaModFix/>
          </a:blip>
          <a:srcRect/>
          <a:stretch/>
        </p:blipFill>
        <p:spPr>
          <a:xfrm>
            <a:off x="4853152" y="1195407"/>
            <a:ext cx="6788150" cy="857250"/>
          </a:xfrm>
          <a:prstGeom prst="rect">
            <a:avLst/>
          </a:prstGeom>
          <a:noFill/>
          <a:ln>
            <a:noFill/>
          </a:ln>
        </p:spPr>
      </p:pic>
      <p:pic>
        <p:nvPicPr>
          <p:cNvPr id="458" name="Google Shape;458;p33"/>
          <p:cNvPicPr preferRelativeResize="0"/>
          <p:nvPr/>
        </p:nvPicPr>
        <p:blipFill rotWithShape="1">
          <a:blip r:embed="rId4">
            <a:alphaModFix/>
          </a:blip>
          <a:srcRect/>
          <a:stretch/>
        </p:blipFill>
        <p:spPr>
          <a:xfrm>
            <a:off x="4793722" y="2096282"/>
            <a:ext cx="6788150" cy="3806825"/>
          </a:xfrm>
          <a:prstGeom prst="rect">
            <a:avLst/>
          </a:prstGeom>
          <a:noFill/>
          <a:ln>
            <a:noFill/>
          </a:ln>
        </p:spPr>
      </p:pic>
    </p:spTree>
    <p:extLst>
      <p:ext uri="{BB962C8B-B14F-4D97-AF65-F5344CB8AC3E}">
        <p14:creationId xmlns:p14="http://schemas.microsoft.com/office/powerpoint/2010/main" val="19319340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2"/>
        <p:cNvGrpSpPr/>
        <p:nvPr/>
      </p:nvGrpSpPr>
      <p:grpSpPr>
        <a:xfrm>
          <a:off x="0" y="0"/>
          <a:ext cx="0" cy="0"/>
          <a:chOff x="0" y="0"/>
          <a:chExt cx="0" cy="0"/>
        </a:xfrm>
      </p:grpSpPr>
      <p:sp>
        <p:nvSpPr>
          <p:cNvPr id="463" name="Google Shape;463;p34"/>
          <p:cNvSpPr/>
          <p:nvPr/>
        </p:nvSpPr>
        <p:spPr>
          <a:xfrm rot="-5400000">
            <a:off x="800100" y="1491343"/>
            <a:ext cx="3333749" cy="3499103"/>
          </a:xfrm>
          <a:prstGeom prst="downArrow">
            <a:avLst>
              <a:gd name="adj1" fmla="val 100000"/>
              <a:gd name="adj2" fmla="val 15788"/>
            </a:avLst>
          </a:pr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4" name="Google Shape;464;p34"/>
          <p:cNvSpPr txBox="1">
            <a:spLocks noGrp="1"/>
          </p:cNvSpPr>
          <p:nvPr>
            <p:ph type="title"/>
          </p:nvPr>
        </p:nvSpPr>
        <p:spPr>
          <a:xfrm>
            <a:off x="1028700" y="1967266"/>
            <a:ext cx="2628900" cy="254725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3600"/>
              <a:buFont typeface="Calibri"/>
              <a:buNone/>
            </a:pPr>
            <a:r>
              <a:rPr lang="en-US" sz="3600">
                <a:solidFill>
                  <a:srgbClr val="FFFFFF"/>
                </a:solidFill>
                <a:latin typeface="Calibri"/>
                <a:ea typeface="Calibri"/>
                <a:cs typeface="Calibri"/>
                <a:sym typeface="Calibri"/>
              </a:rPr>
              <a:t>Objections and Rebuttals Continued:</a:t>
            </a:r>
            <a:endParaRPr/>
          </a:p>
        </p:txBody>
      </p:sp>
      <p:pic>
        <p:nvPicPr>
          <p:cNvPr id="465" name="Google Shape;465;p34"/>
          <p:cNvPicPr preferRelativeResize="0"/>
          <p:nvPr/>
        </p:nvPicPr>
        <p:blipFill rotWithShape="1">
          <a:blip r:embed="rId3">
            <a:alphaModFix/>
          </a:blip>
          <a:srcRect/>
          <a:stretch/>
        </p:blipFill>
        <p:spPr>
          <a:xfrm>
            <a:off x="4777316" y="1283440"/>
            <a:ext cx="6780700" cy="4288791"/>
          </a:xfrm>
          <a:prstGeom prst="rect">
            <a:avLst/>
          </a:prstGeom>
          <a:noFill/>
          <a:ln>
            <a:noFill/>
          </a:ln>
        </p:spPr>
      </p:pic>
    </p:spTree>
    <p:extLst>
      <p:ext uri="{BB962C8B-B14F-4D97-AF65-F5344CB8AC3E}">
        <p14:creationId xmlns:p14="http://schemas.microsoft.com/office/powerpoint/2010/main" val="19556544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414141"/>
        </a:solidFill>
        <a:effectLst/>
      </p:bgPr>
    </p:bg>
    <p:spTree>
      <p:nvGrpSpPr>
        <p:cNvPr id="1" name="Shape 469"/>
        <p:cNvGrpSpPr/>
        <p:nvPr/>
      </p:nvGrpSpPr>
      <p:grpSpPr>
        <a:xfrm>
          <a:off x="0" y="0"/>
          <a:ext cx="0" cy="0"/>
          <a:chOff x="0" y="0"/>
          <a:chExt cx="0" cy="0"/>
        </a:xfrm>
      </p:grpSpPr>
      <p:sp>
        <p:nvSpPr>
          <p:cNvPr id="470" name="Google Shape;470;p35"/>
          <p:cNvSpPr/>
          <p:nvPr/>
        </p:nvSpPr>
        <p:spPr>
          <a:xfrm>
            <a:off x="1953768" y="0"/>
            <a:ext cx="8284464" cy="6858000"/>
          </a:xfrm>
          <a:custGeom>
            <a:avLst/>
            <a:gdLst/>
            <a:ahLst/>
            <a:cxnLst/>
            <a:rect l="l" t="t" r="r" b="b"/>
            <a:pathLst>
              <a:path w="8284464" h="6858000" extrusionOk="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1" name="Google Shape;471;p35"/>
          <p:cNvSpPr/>
          <p:nvPr/>
        </p:nvSpPr>
        <p:spPr>
          <a:xfrm>
            <a:off x="2118360" y="0"/>
            <a:ext cx="7955280" cy="6858000"/>
          </a:xfrm>
          <a:custGeom>
            <a:avLst/>
            <a:gdLst/>
            <a:ahLst/>
            <a:cxnLst/>
            <a:rect l="l" t="t" r="r" b="b"/>
            <a:pathLst>
              <a:path w="7955280" h="6858000" extrusionOk="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72" name="Google Shape;472;p35"/>
          <p:cNvPicPr preferRelativeResize="0"/>
          <p:nvPr/>
        </p:nvPicPr>
        <p:blipFill rotWithShape="1">
          <a:blip r:embed="rId3">
            <a:alphaModFix/>
          </a:blip>
          <a:srcRect/>
          <a:stretch/>
        </p:blipFill>
        <p:spPr>
          <a:xfrm>
            <a:off x="2671762" y="1395412"/>
            <a:ext cx="6848475" cy="4067175"/>
          </a:xfrm>
          <a:prstGeom prst="rect">
            <a:avLst/>
          </a:prstGeom>
          <a:noFill/>
          <a:ln>
            <a:noFill/>
          </a:ln>
        </p:spPr>
      </p:pic>
    </p:spTree>
    <p:extLst>
      <p:ext uri="{BB962C8B-B14F-4D97-AF65-F5344CB8AC3E}">
        <p14:creationId xmlns:p14="http://schemas.microsoft.com/office/powerpoint/2010/main" val="29751186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6"/>
        <p:cNvGrpSpPr/>
        <p:nvPr/>
      </p:nvGrpSpPr>
      <p:grpSpPr>
        <a:xfrm>
          <a:off x="0" y="0"/>
          <a:ext cx="0" cy="0"/>
          <a:chOff x="0" y="0"/>
          <a:chExt cx="0" cy="0"/>
        </a:xfrm>
      </p:grpSpPr>
      <p:sp>
        <p:nvSpPr>
          <p:cNvPr id="477" name="Google Shape;477;p36"/>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8" name="Google Shape;478;p36"/>
          <p:cNvSpPr/>
          <p:nvPr/>
        </p:nvSpPr>
        <p:spPr>
          <a:xfrm>
            <a:off x="1" y="0"/>
            <a:ext cx="4167271" cy="6858000"/>
          </a:xfrm>
          <a:custGeom>
            <a:avLst/>
            <a:gdLst/>
            <a:ahLst/>
            <a:cxnLst/>
            <a:rect l="l" t="t" r="r" b="b"/>
            <a:pathLst>
              <a:path w="4167271" h="6858000" extrusionOk="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9" name="Google Shape;479;p36"/>
          <p:cNvSpPr txBox="1">
            <a:spLocks noGrp="1"/>
          </p:cNvSpPr>
          <p:nvPr>
            <p:ph type="title"/>
          </p:nvPr>
        </p:nvSpPr>
        <p:spPr>
          <a:xfrm>
            <a:off x="686834" y="1153572"/>
            <a:ext cx="3200400" cy="44611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a:solidFill>
                  <a:srgbClr val="FFFFFF"/>
                </a:solidFill>
              </a:rPr>
              <a:t>Other key factors to success:</a:t>
            </a:r>
            <a:endParaRPr/>
          </a:p>
        </p:txBody>
      </p:sp>
      <p:sp>
        <p:nvSpPr>
          <p:cNvPr id="480" name="Google Shape;480;p36"/>
          <p:cNvSpPr/>
          <p:nvPr/>
        </p:nvSpPr>
        <p:spPr>
          <a:xfrm rot="10800000" flipH="1">
            <a:off x="7550402" y="2455479"/>
            <a:ext cx="4083433" cy="4083433"/>
          </a:xfrm>
          <a:prstGeom prst="arc">
            <a:avLst>
              <a:gd name="adj1" fmla="val 16200000"/>
              <a:gd name="adj2" fmla="val 0"/>
            </a:avLst>
          </a:prstGeom>
          <a:noFill/>
          <a:ln w="127000" cap="rnd" cmpd="sng">
            <a:solidFill>
              <a:schemeClr val="accent4"/>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81" name="Google Shape;481;p36"/>
          <p:cNvSpPr txBox="1">
            <a:spLocks noGrp="1"/>
          </p:cNvSpPr>
          <p:nvPr>
            <p:ph type="body" idx="1"/>
          </p:nvPr>
        </p:nvSpPr>
        <p:spPr>
          <a:xfrm>
            <a:off x="4447308" y="591344"/>
            <a:ext cx="6906491" cy="5585619"/>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400"/>
              <a:buChar char="•"/>
            </a:pPr>
            <a:r>
              <a:rPr lang="en-US" sz="2400"/>
              <a:t>Do not waste time with prospects that are not interested. Get rid of jokers, rude people, jerks, ballbusters. We are here to sell insurance.</a:t>
            </a:r>
            <a:endParaRPr/>
          </a:p>
          <a:p>
            <a:pPr marL="228600" lvl="0" indent="-228600" algn="l" rtl="0">
              <a:lnSpc>
                <a:spcPct val="90000"/>
              </a:lnSpc>
              <a:spcBef>
                <a:spcPts val="1000"/>
              </a:spcBef>
              <a:spcAft>
                <a:spcPts val="0"/>
              </a:spcAft>
              <a:buClr>
                <a:schemeClr val="dk1"/>
              </a:buClr>
              <a:buSzPts val="2400"/>
              <a:buChar char="•"/>
            </a:pPr>
            <a:r>
              <a:rPr lang="en-US" sz="2400"/>
              <a:t>If you want to make serious money then take your business serious.</a:t>
            </a:r>
            <a:endParaRPr/>
          </a:p>
          <a:p>
            <a:pPr marL="228600" lvl="0" indent="-228600" algn="l" rtl="0">
              <a:lnSpc>
                <a:spcPct val="90000"/>
              </a:lnSpc>
              <a:spcBef>
                <a:spcPts val="1000"/>
              </a:spcBef>
              <a:spcAft>
                <a:spcPts val="0"/>
              </a:spcAft>
              <a:buClr>
                <a:schemeClr val="dk1"/>
              </a:buClr>
              <a:buSzPts val="2400"/>
              <a:buChar char="•"/>
            </a:pPr>
            <a:r>
              <a:rPr lang="en-US" sz="2400"/>
              <a:t>Your goal should be to pitch as many people as you can… If one sale takes 20 minutes average and pays $121+ per sale on average you know for a fact that it takes a minimum of 2 hours of pitching to write 5 sales which pays $600 in a day, or $3000 a week.</a:t>
            </a:r>
            <a:endParaRPr/>
          </a:p>
          <a:p>
            <a:pPr marL="228600" lvl="0" indent="-228600" algn="l" rtl="0">
              <a:lnSpc>
                <a:spcPct val="90000"/>
              </a:lnSpc>
              <a:spcBef>
                <a:spcPts val="1000"/>
              </a:spcBef>
              <a:spcAft>
                <a:spcPts val="0"/>
              </a:spcAft>
              <a:buClr>
                <a:schemeClr val="dk1"/>
              </a:buClr>
              <a:buSzPts val="2400"/>
              <a:buChar char="•"/>
            </a:pPr>
            <a:r>
              <a:rPr lang="en-US" sz="2400"/>
              <a:t>But it takes 5-6 hours of available time a day to get off 5 sales because of the time it takes to connect with a customer that fits our product either due to budget or qualification.</a:t>
            </a:r>
            <a:endParaRPr/>
          </a:p>
        </p:txBody>
      </p:sp>
    </p:spTree>
    <p:extLst>
      <p:ext uri="{BB962C8B-B14F-4D97-AF65-F5344CB8AC3E}">
        <p14:creationId xmlns:p14="http://schemas.microsoft.com/office/powerpoint/2010/main" val="24178175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33</Slides>
  <Notes>33</Notes>
  <HiddenSlides>0</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Sales Training</vt:lpstr>
      <vt:lpstr>Tonality</vt:lpstr>
      <vt:lpstr>Opening</vt:lpstr>
      <vt:lpstr>Outbound Opening Objections</vt:lpstr>
      <vt:lpstr>Prequalify</vt:lpstr>
      <vt:lpstr>Tie Down Price</vt:lpstr>
      <vt:lpstr>PowerPoint Presentation</vt:lpstr>
      <vt:lpstr>Selecting the right plan</vt:lpstr>
      <vt:lpstr>Type of plans we offer</vt:lpstr>
      <vt:lpstr>Limited Medical Indemnity Plans</vt:lpstr>
      <vt:lpstr>Mec Plans</vt:lpstr>
      <vt:lpstr>STM Plans</vt:lpstr>
      <vt:lpstr>Ancillaries</vt:lpstr>
      <vt:lpstr>Teaser</vt:lpstr>
      <vt:lpstr>Tying Down Price</vt:lpstr>
      <vt:lpstr>Benefits</vt:lpstr>
      <vt:lpstr>Close</vt:lpstr>
      <vt:lpstr>Close Continued….</vt:lpstr>
      <vt:lpstr>Verification Signature and Post Close</vt:lpstr>
      <vt:lpstr>Post Close – Limited Medical</vt:lpstr>
      <vt:lpstr>Post Close – Access STM</vt:lpstr>
      <vt:lpstr>Post Close - MEC</vt:lpstr>
      <vt:lpstr>Sales Tactics - ARC</vt:lpstr>
      <vt:lpstr>Sales Tactics - MISC</vt:lpstr>
      <vt:lpstr>Objections and Rebuttals:</vt:lpstr>
      <vt:lpstr>Objections and Rebuttals Continued:</vt:lpstr>
      <vt:lpstr>Objections and Rebuttals Continued:</vt:lpstr>
      <vt:lpstr>Objections and Rebuttals Continued:</vt:lpstr>
      <vt:lpstr>Objections and Rebuttals Continued:</vt:lpstr>
      <vt:lpstr>Objections and Rebuttals Continued:</vt:lpstr>
      <vt:lpstr>Objections and Rebuttals Continued:</vt:lpstr>
      <vt:lpstr>PowerPoint Presentation</vt:lpstr>
      <vt:lpstr>Other key factors to success: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43</cp:revision>
  <dcterms:created xsi:type="dcterms:W3CDTF">2026-04-10T19:11:03Z</dcterms:created>
  <dcterms:modified xsi:type="dcterms:W3CDTF">2026-04-10T21:32:50Z</dcterms:modified>
</cp:coreProperties>
</file>